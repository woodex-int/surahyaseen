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Relationship Id="rId10" Type="http://schemas.openxmlformats.org/officeDocument/2006/relationships/image" Target="../media/image9.jp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Relationship Id="rId18" Type="http://schemas.openxmlformats.org/officeDocument/2006/relationships/image" Target="../media/image17.jpg"/><Relationship Id="rId19" Type="http://schemas.openxmlformats.org/officeDocument/2006/relationships/image" Target="../media/image18.jpg"/><Relationship Id="rId20" Type="http://schemas.openxmlformats.org/officeDocument/2006/relationships/image" Target="../media/image19.jpg"/><Relationship Id="rId21" Type="http://schemas.openxmlformats.org/officeDocument/2006/relationships/image" Target="../media/image20.jpg"/><Relationship Id="rId22" Type="http://schemas.openxmlformats.org/officeDocument/2006/relationships/image" Target="../media/image21.jpg"/><Relationship Id="rId23" Type="http://schemas.openxmlformats.org/officeDocument/2006/relationships/image" Target="../media/image22.jpg"/><Relationship Id="rId24" Type="http://schemas.openxmlformats.org/officeDocument/2006/relationships/image" Target="../media/image23.jpg"/><Relationship Id="rId25" Type="http://schemas.openxmlformats.org/officeDocument/2006/relationships/image" Target="../media/image24.jpg"/><Relationship Id="rId26" Type="http://schemas.openxmlformats.org/officeDocument/2006/relationships/image" Target="../media/image25.jpg"/><Relationship Id="rId27" Type="http://schemas.openxmlformats.org/officeDocument/2006/relationships/image" Target="../media/image26.jpg"/><Relationship Id="rId28" Type="http://schemas.openxmlformats.org/officeDocument/2006/relationships/image" Target="../media/image27.jpg"/><Relationship Id="rId29" Type="http://schemas.openxmlformats.org/officeDocument/2006/relationships/image" Target="../media/image28.jpg"/><Relationship Id="rId30" Type="http://schemas.openxmlformats.org/officeDocument/2006/relationships/image" Target="../media/image29.jpg"/><Relationship Id="rId31" Type="http://schemas.openxmlformats.org/officeDocument/2006/relationships/image" Target="../media/image30.jpg"/><Relationship Id="rId32" Type="http://schemas.openxmlformats.org/officeDocument/2006/relationships/image" Target="../media/image31.jpg"/><Relationship Id="rId33" Type="http://schemas.openxmlformats.org/officeDocument/2006/relationships/image" Target="../media/image32.jpg"/><Relationship Id="rId34" Type="http://schemas.openxmlformats.org/officeDocument/2006/relationships/image" Target="../media/image33.jpg"/><Relationship Id="rId35" Type="http://schemas.openxmlformats.org/officeDocument/2006/relationships/image" Target="../media/image34.jpg"/><Relationship Id="rId36" Type="http://schemas.openxmlformats.org/officeDocument/2006/relationships/image" Target="../media/image35.jpg"/><Relationship Id="rId37" Type="http://schemas.openxmlformats.org/officeDocument/2006/relationships/image" Target="../media/image36.jpg"/><Relationship Id="rId38" Type="http://schemas.openxmlformats.org/officeDocument/2006/relationships/image" Target="../media/image37.jpg"/><Relationship Id="rId39" Type="http://schemas.openxmlformats.org/officeDocument/2006/relationships/image" Target="../media/image38.jpg"/><Relationship Id="rId40" Type="http://schemas.openxmlformats.org/officeDocument/2006/relationships/image" Target="../media/image39.jpg"/><Relationship Id="rId41" Type="http://schemas.openxmlformats.org/officeDocument/2006/relationships/image" Target="../media/image40.jpg"/><Relationship Id="rId42" Type="http://schemas.openxmlformats.org/officeDocument/2006/relationships/image" Target="../media/image41.jpg"/><Relationship Id="rId43" Type="http://schemas.openxmlformats.org/officeDocument/2006/relationships/image" Target="../media/image42.jpg"/><Relationship Id="rId44" Type="http://schemas.openxmlformats.org/officeDocument/2006/relationships/image" Target="../media/image43.jpg"/><Relationship Id="rId45" Type="http://schemas.openxmlformats.org/officeDocument/2006/relationships/image" Target="../media/image44.jpg"/><Relationship Id="rId46" Type="http://schemas.openxmlformats.org/officeDocument/2006/relationships/image" Target="../media/image45.jpg"/><Relationship Id="rId47" Type="http://schemas.openxmlformats.org/officeDocument/2006/relationships/image" Target="../media/image46.jpg"/><Relationship Id="rId48" Type="http://schemas.openxmlformats.org/officeDocument/2006/relationships/image" Target="../media/image47.jpg"/><Relationship Id="rId49" Type="http://schemas.openxmlformats.org/officeDocument/2006/relationships/image" Target="../media/image48.jpg"/><Relationship Id="rId50" Type="http://schemas.openxmlformats.org/officeDocument/2006/relationships/image" Target="../media/image49.jpg"/><Relationship Id="rId51" Type="http://schemas.openxmlformats.org/officeDocument/2006/relationships/image" Target="../media/image50.jpg"/><Relationship Id="rId52" Type="http://schemas.openxmlformats.org/officeDocument/2006/relationships/image" Target="../media/image51.jpg"/><Relationship Id="rId53" Type="http://schemas.openxmlformats.org/officeDocument/2006/relationships/image" Target="../media/image52.jpg"/><Relationship Id="rId54" Type="http://schemas.openxmlformats.org/officeDocument/2006/relationships/image" Target="../media/image53.jpg"/><Relationship Id="rId55" Type="http://schemas.openxmlformats.org/officeDocument/2006/relationships/image" Target="../media/image54.jpg"/><Relationship Id="rId56" Type="http://schemas.openxmlformats.org/officeDocument/2006/relationships/image" Target="../media/image55.jpg"/><Relationship Id="rId57" Type="http://schemas.openxmlformats.org/officeDocument/2006/relationships/image" Target="../media/image56.jpg"/><Relationship Id="rId58" Type="http://schemas.openxmlformats.org/officeDocument/2006/relationships/image" Target="../media/image57.jpg"/><Relationship Id="rId59" Type="http://schemas.openxmlformats.org/officeDocument/2006/relationships/image" Target="../media/image58.jpg"/><Relationship Id="rId60" Type="http://schemas.openxmlformats.org/officeDocument/2006/relationships/image" Target="../media/image59.jpg"/><Relationship Id="rId61" Type="http://schemas.openxmlformats.org/officeDocument/2006/relationships/image" Target="../media/image60.jpg"/><Relationship Id="rId62" Type="http://schemas.openxmlformats.org/officeDocument/2006/relationships/image" Target="../media/image61.jpg"/><Relationship Id="rId63" Type="http://schemas.openxmlformats.org/officeDocument/2006/relationships/image" Target="../media/image62.jpg"/><Relationship Id="rId64" Type="http://schemas.openxmlformats.org/officeDocument/2006/relationships/image" Target="../media/image63.jpg"/><Relationship Id="rId65" Type="http://schemas.openxmlformats.org/officeDocument/2006/relationships/image" Target="../media/image64.jpg"/><Relationship Id="rId66" Type="http://schemas.openxmlformats.org/officeDocument/2006/relationships/image" Target="../media/image65.jpg"/><Relationship Id="rId67" Type="http://schemas.openxmlformats.org/officeDocument/2006/relationships/image" Target="../media/image66.jpg"/><Relationship Id="rId68" Type="http://schemas.openxmlformats.org/officeDocument/2006/relationships/image" Target="../media/image67.jpg"/><Relationship Id="rId69" Type="http://schemas.openxmlformats.org/officeDocument/2006/relationships/image" Target="../media/image68.jpg"/><Relationship Id="rId70" Type="http://schemas.openxmlformats.org/officeDocument/2006/relationships/image" Target="../media/image69.jpg"/><Relationship Id="rId71" Type="http://schemas.openxmlformats.org/officeDocument/2006/relationships/image" Target="../media/image70.jpg"/><Relationship Id="rId72" Type="http://schemas.openxmlformats.org/officeDocument/2006/relationships/image" Target="../media/image71.jpg"/><Relationship Id="rId73" Type="http://schemas.openxmlformats.org/officeDocument/2006/relationships/image" Target="../media/image72.jpg"/><Relationship Id="rId74" Type="http://schemas.openxmlformats.org/officeDocument/2006/relationships/image" Target="../media/image73.jpg"/><Relationship Id="rId75" Type="http://schemas.openxmlformats.org/officeDocument/2006/relationships/image" Target="../media/image74.jpg"/><Relationship Id="rId76" Type="http://schemas.openxmlformats.org/officeDocument/2006/relationships/image" Target="../media/image75.jpg"/><Relationship Id="rId77" Type="http://schemas.openxmlformats.org/officeDocument/2006/relationships/image" Target="../media/image76.jpg"/><Relationship Id="rId78" Type="http://schemas.openxmlformats.org/officeDocument/2006/relationships/image" Target="../media/image77.jpg"/><Relationship Id="rId79" Type="http://schemas.openxmlformats.org/officeDocument/2006/relationships/image" Target="../media/image78.jpg"/><Relationship Id="rId80" Type="http://schemas.openxmlformats.org/officeDocument/2006/relationships/image" Target="../media/image79.jpg"/><Relationship Id="rId81" Type="http://schemas.openxmlformats.org/officeDocument/2006/relationships/image" Target="../media/image80.jpg"/><Relationship Id="rId82" Type="http://schemas.openxmlformats.org/officeDocument/2006/relationships/image" Target="../media/image81.jpg"/><Relationship Id="rId83" Type="http://schemas.openxmlformats.org/officeDocument/2006/relationships/image" Target="../media/image82.jpg"/><Relationship Id="rId84" Type="http://schemas.openxmlformats.org/officeDocument/2006/relationships/image" Target="../media/image8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jp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jp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jp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524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2336" y="402336"/>
            <a:ext cx="11387023" cy="6053328"/>
          </a:xfrm>
          <a:prstGeom prst="rect">
            <a:avLst/>
          </a:prstGeom>
          <a:noFill/>
          <a:ln w="635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spc="300">
                <a:solidFill>
                  <a:srgbClr val="D4AF5E"/>
                </a:solidFill>
                <a:latin typeface="Jost"/>
              </a:rPr>
              <a:t>BIYA GALLERY  ·  THE THIRD 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3628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0" b="0" i="0" lang="ar" rtl="1">
                <a:solidFill>
                  <a:srgbClr val="D4AF5E"/>
                </a:solidFill>
                <a:latin typeface="Simplified Arabic"/>
                <a:cs typeface="Simplified Arabic"/>
              </a:rPr>
              <a:t>يس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628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600" b="0" i="0">
                <a:solidFill>
                  <a:srgbClr val="F4EFE3"/>
                </a:solidFill>
                <a:latin typeface="Playfair Display"/>
              </a:rPr>
              <a:t>Ya Sin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41648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 spc="250">
                <a:solidFill>
                  <a:srgbClr val="D4AF5E"/>
                </a:solidFill>
                <a:latin typeface="Jost"/>
              </a:rPr>
              <a:t>T H E   S A C R E D   L E T T E R 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10047" y="457200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73168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 spc="200">
                <a:solidFill>
                  <a:srgbClr val="9AA79B"/>
                </a:solidFill>
                <a:latin typeface="Jost"/>
              </a:rPr>
              <a:t>SURAH YASEEN (36)  ·  EIGHTY-THREE VERSES  ·  MECCAN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20640"/>
            <a:ext cx="103628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9AA79B"/>
                </a:solidFill>
                <a:latin typeface="Georgia"/>
              </a:rPr>
              <a:t>A commissioned folio cycle - framed verse by verse, one verse one artwork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98932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200">
                <a:solidFill>
                  <a:srgbClr val="6F6A5C"/>
                </a:solidFill>
                <a:latin typeface="Jost"/>
              </a:rPr>
              <a:t>THE SACRED LETTERS EDITION  ·  2026  ·  IN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566160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0" y="0"/>
            <a:ext cx="20116" cy="68580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0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50">
                <a:solidFill>
                  <a:srgbClr val="D4AF5E"/>
                </a:solidFill>
                <a:latin typeface="Jost"/>
              </a:rPr>
              <a:t>BIYA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2834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0" i="0">
                <a:solidFill>
                  <a:srgbClr val="F4EFE3"/>
                </a:solidFill>
                <a:latin typeface="Playfair Display"/>
              </a:rPr>
              <a:t>Contents</a:t>
            </a:r>
          </a:p>
          <a:p>
            <a:pPr algn="l">
              <a:spcBef>
                <a:spcPts val="600"/>
              </a:spcBef>
            </a:pPr>
            <a:r>
              <a:rPr sz="1700" b="0" i="1">
                <a:solidFill>
                  <a:srgbClr val="D4AF5E"/>
                </a:solidFill>
                <a:latin typeface="Playfair Display"/>
              </a:rPr>
              <a:t>The Sacred Letters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926080"/>
            <a:ext cx="28346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One surah. Eighty-three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verses. Eighty-three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frames - verse by verse,</a:t>
            </a:r>
          </a:p>
          <a:p>
            <a:pPr algn="l">
              <a:lnSpc>
                <a:spcPct val="130000"/>
              </a:lnSpc>
            </a:pPr>
            <a:r>
              <a:rPr sz="1100" b="0" i="1">
                <a:solidFill>
                  <a:srgbClr val="9AA79B"/>
                </a:solidFill>
                <a:latin typeface="Georgia"/>
              </a:rPr>
              <a:t>movement by movement.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57784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6F6A5C"/>
                </a:solidFill>
                <a:latin typeface="Jost"/>
              </a:rPr>
              <a:t>BIYA GALLERY · ART &amp; CRAFT · LAHORE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685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B98A2E"/>
                </a:solidFill>
                <a:latin typeface="Jost"/>
              </a:rPr>
              <a:t>PART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94183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41B12"/>
                </a:solidFill>
                <a:latin typeface="Playfair Display"/>
              </a:rPr>
              <a:t>The Chapter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435607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The sacred letters, facts of the surah, ten movements, anchor verses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941832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00" b="0" i="1">
                <a:solidFill>
                  <a:srgbClr val="D4AF5E"/>
                </a:solidFill>
                <a:latin typeface="Playfair Display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2075688"/>
            <a:ext cx="754380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21671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B98A2E"/>
                </a:solidFill>
                <a:latin typeface="Jost"/>
              </a:rPr>
              <a:t>PART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42316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41B12"/>
                </a:solidFill>
                <a:latin typeface="Playfair Display"/>
              </a:rPr>
              <a:t>The Commission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2916936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Concept, design system, production pipeline, status of 83 frames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242316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00" b="0" i="1">
                <a:solidFill>
                  <a:srgbClr val="D4AF5E"/>
                </a:solidFill>
                <a:latin typeface="Playfair Display"/>
              </a:rPr>
              <a:t>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60520" y="3557016"/>
            <a:ext cx="754380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60520" y="3648456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B98A2E"/>
                </a:solidFill>
                <a:latin typeface="Jost"/>
              </a:rPr>
              <a:t>PART 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60520" y="3904488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41B12"/>
                </a:solidFill>
                <a:latin typeface="Playfair Display"/>
              </a:rPr>
              <a:t>The Verses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398264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The full collection - 83 folio plates, one verse each, verified against the codex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0" y="3904488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00" b="0" i="1">
                <a:solidFill>
                  <a:srgbClr val="D4AF5E"/>
                </a:solidFill>
                <a:latin typeface="Playfair Display"/>
              </a:rPr>
              <a:t>13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60520" y="5038344"/>
            <a:ext cx="754380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5129784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B98A2E"/>
                </a:solidFill>
                <a:latin typeface="Jost"/>
              </a:rPr>
              <a:t>PART 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5385816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100" b="0" i="0">
                <a:solidFill>
                  <a:srgbClr val="241B12"/>
                </a:solidFill>
                <a:latin typeface="Playfair Display"/>
              </a:rPr>
              <a:t>The 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5879592"/>
            <a:ext cx="4754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6F6A5C"/>
                </a:solidFill>
                <a:latin typeface="Georgia"/>
              </a:rPr>
              <a:t>Timeline, acquisition, exhibition, 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5385816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100" b="0" i="1">
                <a:solidFill>
                  <a:srgbClr val="D4AF5E"/>
                </a:solidFill>
                <a:latin typeface="Playfair Display"/>
              </a:rPr>
              <a:t>97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874519"/>
            <a:ext cx="25603" cy="25146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3852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300">
                <a:solidFill>
                  <a:srgbClr val="D4AF5E"/>
                </a:solidFill>
                <a:latin typeface="Jost"/>
              </a:rPr>
              <a:t>PART 01  ·  03 / 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F4EFE3"/>
                </a:solidFill>
                <a:latin typeface="Playfair Display"/>
              </a:rPr>
              <a:t>The Chapter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9AA79B"/>
                </a:solidFill>
                <a:latin typeface="Georgia"/>
              </a:rPr>
              <a:t>Yaseen - the heart of the Qur'an: its letters, its structure, its ten movements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CHAPTER  ·  I.1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Sacred Letters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78308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58521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The chapter opens with two letters: Ya Sin. As with the other lettered openings of the Qur'an, they are an address - a sign before the message, the oath that follows (“By the wise Qur'an”) hanging on them.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Readers have called them the alphabet of the book itself: a reminder that the very letters we read are a created sign, and that the words they carry came down from the Mighty, the Merciful.</a:t>
            </a:r>
          </a:p>
          <a:p>
            <a:pPr algn="l">
              <a:lnSpc>
                <a:spcPct val="145000"/>
              </a:lnSpc>
            </a:pPr>
            <a:r>
              <a:rPr sz="1150" b="0" i="1">
                <a:solidFill>
                  <a:srgbClr val="1E1A14"/>
                </a:solidFill>
                <a:latin typeface="Georgia"/>
              </a:rPr>
              <a:t>The tradition names this surah the heart of the Qur'an - no heart to a body, no heart to a book.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12280" y="1965960"/>
            <a:ext cx="4892040" cy="3977639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0" y="2103120"/>
            <a:ext cx="4617720" cy="3703320"/>
          </a:xfrm>
          <a:prstGeom prst="rect">
            <a:avLst/>
          </a:prstGeom>
          <a:noFill/>
          <a:ln w="1016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2395728"/>
            <a:ext cx="4160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200">
                <a:solidFill>
                  <a:srgbClr val="D4AF5E"/>
                </a:solidFill>
                <a:latin typeface="Jost"/>
              </a:rPr>
              <a:t>THE OPENING, IN ARABIC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788920"/>
            <a:ext cx="4480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يس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78040" y="3977639"/>
            <a:ext cx="4160520" cy="12801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4160520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1">
                <a:solidFill>
                  <a:srgbClr val="D4AF5E"/>
                </a:solidFill>
                <a:latin typeface="Georgia"/>
              </a:rPr>
              <a:t>Ya Sin. - By the wise Qur'an.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4892040"/>
            <a:ext cx="4480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150">
                <a:solidFill>
                  <a:srgbClr val="9AA79B"/>
                </a:solidFill>
                <a:latin typeface="Jost"/>
              </a:rPr>
              <a:t>Surah Yaseen 36:1-2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CHAPTER  ·  I.2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Facts of the Surah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78308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116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200">
                <a:solidFill>
                  <a:srgbClr val="B98A2E"/>
                </a:solidFill>
                <a:latin typeface="Jost"/>
              </a:rPr>
              <a:t>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26771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41B12"/>
                </a:solidFill>
                <a:latin typeface="Georgia"/>
              </a:rPr>
              <a:t>36th surah of the Qur'an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889504"/>
            <a:ext cx="35204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201168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200">
                <a:solidFill>
                  <a:srgbClr val="B98A2E"/>
                </a:solidFill>
                <a:latin typeface="Jost"/>
              </a:rPr>
              <a:t>LETTERS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267712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41B12"/>
                </a:solidFill>
                <a:latin typeface="Georgia"/>
              </a:rPr>
              <a:t>Ya Sin - two lettered openings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2889504"/>
            <a:ext cx="35204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98094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200">
                <a:solidFill>
                  <a:srgbClr val="B98A2E"/>
                </a:solidFill>
                <a:latin typeface="Jost"/>
              </a:rPr>
              <a:t>REVELATION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36976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41B12"/>
                </a:solidFill>
                <a:latin typeface="Georgia"/>
              </a:rPr>
              <a:t>Meccan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58768"/>
            <a:ext cx="35204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980944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200">
                <a:solidFill>
                  <a:srgbClr val="B98A2E"/>
                </a:solidFill>
                <a:latin typeface="Jost"/>
              </a:rPr>
              <a:t>VERSES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3236976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41B12"/>
                </a:solidFill>
                <a:latin typeface="Georgia"/>
              </a:rPr>
              <a:t>83 (aya)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858768"/>
            <a:ext cx="35204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9502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200">
                <a:solidFill>
                  <a:srgbClr val="B98A2E"/>
                </a:solidFill>
                <a:latin typeface="Jost"/>
              </a:rPr>
              <a:t>JUZ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41B12"/>
                </a:solidFill>
                <a:latin typeface="Georgia"/>
              </a:rPr>
              <a:t>22 (vv. 1-27) and 23 (vv. 28-83)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828032"/>
            <a:ext cx="35204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395020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200">
                <a:solidFill>
                  <a:srgbClr val="B98A2E"/>
                </a:solidFill>
                <a:latin typeface="Jost"/>
              </a:rPr>
              <a:t>MANZIL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206240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41B12"/>
                </a:solidFill>
                <a:latin typeface="Georgia"/>
              </a:rPr>
              <a:t>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4828032"/>
            <a:ext cx="35204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91947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200">
                <a:solidFill>
                  <a:srgbClr val="B98A2E"/>
                </a:solidFill>
                <a:latin typeface="Jost"/>
              </a:rPr>
              <a:t>MUSHAF PAGES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17550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41B12"/>
                </a:solidFill>
                <a:latin typeface="Georgia"/>
              </a:rPr>
              <a:t>440-445 (Uthmani codex)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797296"/>
            <a:ext cx="35204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0" y="4919472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200">
                <a:solidFill>
                  <a:srgbClr val="B98A2E"/>
                </a:solidFill>
                <a:latin typeface="Jost"/>
              </a:rPr>
              <a:t>CHARACTER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5175504"/>
            <a:ext cx="3566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41B12"/>
                </a:solidFill>
                <a:latin typeface="Georgia"/>
              </a:rPr>
              <a:t>Called the heart of the Qur'an in tradition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5797296"/>
            <a:ext cx="3520440" cy="10972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6F6A5C"/>
                </a:solidFill>
                <a:latin typeface="Georgia"/>
              </a:rPr>
              <a:t>Verses and pagination verified against the Uthmani codex (alquran.cloud), retrieved 19 September 2026.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CHAPTER  ·  I.3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Ten Movements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78308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9339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4AF5E"/>
                </a:solidFill>
                <a:latin typeface="Playfair Display"/>
              </a:rPr>
              <a:t>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0116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B98A2E"/>
                </a:solidFill>
                <a:latin typeface="Jost"/>
              </a:rPr>
              <a:t>vv. 01–05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2128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41B12"/>
                </a:solidFill>
                <a:latin typeface="Playfair Display"/>
              </a:rPr>
              <a:t>THE SACRED LETTERS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F6A5C"/>
                </a:solidFill>
                <a:latin typeface="Georgia"/>
              </a:rPr>
              <a:t>Ya Sin - the wise Qur'an, the sent messenger on a straight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93392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4AF5E"/>
                </a:solidFill>
                <a:latin typeface="Playfair Display"/>
              </a:rPr>
              <a:t>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2011680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B98A2E"/>
                </a:solidFill>
                <a:latin typeface="Jost"/>
              </a:rPr>
              <a:t>vv. 06–12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21284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41B12"/>
                </a:solidFill>
                <a:latin typeface="Playfair Display"/>
              </a:rPr>
              <a:t>THE HEEDLESS, THE REMINDER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4688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F6A5C"/>
                </a:solidFill>
                <a:latin typeface="Georgia"/>
              </a:rPr>
              <a:t>Yokes and veils; only the Reminder's followers are warned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5292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4AF5E"/>
                </a:solidFill>
                <a:latin typeface="Playfair Display"/>
              </a:rPr>
              <a:t>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87121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B98A2E"/>
                </a:solidFill>
                <a:latin typeface="Jost"/>
              </a:rPr>
              <a:t>vv. 13–19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0723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41B12"/>
                </a:solidFill>
                <a:latin typeface="Playfair Display"/>
              </a:rPr>
              <a:t>THE CITY AND ITS MESSAGERS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328416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F6A5C"/>
                </a:solidFill>
                <a:latin typeface="Georgia"/>
              </a:rPr>
              <a:t>Two, then three; the people's mockery and omen of 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852928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4AF5E"/>
                </a:solidFill>
                <a:latin typeface="Playfair Display"/>
              </a:rPr>
              <a:t>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871216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B98A2E"/>
                </a:solidFill>
                <a:latin typeface="Jost"/>
              </a:rPr>
              <a:t>vv. 20–27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03720" y="3072384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41B12"/>
                </a:solidFill>
                <a:latin typeface="Playfair Display"/>
              </a:rPr>
              <a:t>THE MAN OF THE 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328416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F6A5C"/>
                </a:solidFill>
                <a:latin typeface="Georgia"/>
              </a:rPr>
              <a:t>The runner who believes, and enters paradise honoured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71246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4AF5E"/>
                </a:solidFill>
                <a:latin typeface="Playfair Display"/>
              </a:rPr>
              <a:t> 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73075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B98A2E"/>
                </a:solidFill>
                <a:latin typeface="Jost"/>
              </a:rPr>
              <a:t>vv. 28–32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39319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41B12"/>
                </a:solidFill>
                <a:latin typeface="Playfair Display"/>
              </a:rPr>
              <a:t>ONE SHOUT, AND ALL ARE BROUGHT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18795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F6A5C"/>
                </a:solidFill>
                <a:latin typeface="Georgia"/>
              </a:rPr>
              <a:t>The city is done; every generation returns before Us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3712464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4AF5E"/>
                </a:solidFill>
                <a:latin typeface="Playfair Display"/>
              </a:rPr>
              <a:t> 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3730752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B98A2E"/>
                </a:solidFill>
                <a:latin typeface="Jost"/>
              </a:rPr>
              <a:t>vv. 33–40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93192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41B12"/>
                </a:solidFill>
                <a:latin typeface="Playfair Display"/>
              </a:rPr>
              <a:t>SIGNS IN EARTH, SUN, MOON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418795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F6A5C"/>
                </a:solidFill>
                <a:latin typeface="Georgia"/>
              </a:rPr>
              <a:t>Dead earth revived, the pairs, night and day, the orbits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57200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4AF5E"/>
                </a:solidFill>
                <a:latin typeface="Playfair Display"/>
              </a:rPr>
              <a:t> 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5902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B98A2E"/>
                </a:solidFill>
                <a:latin typeface="Jost"/>
              </a:rPr>
              <a:t>vv. 41–44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7914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41B12"/>
                </a:solidFill>
                <a:latin typeface="Playfair Display"/>
              </a:rPr>
              <a:t>THE LADEN SHIP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04748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F6A5C"/>
                </a:solidFill>
                <a:latin typeface="Georgia"/>
              </a:rPr>
              <a:t>Offspring borne on ships; mercy for a while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572000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4AF5E"/>
                </a:solidFill>
                <a:latin typeface="Playfair Display"/>
              </a:rPr>
              <a:t> 08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4590288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B98A2E"/>
                </a:solidFill>
                <a:latin typeface="Jost"/>
              </a:rPr>
              <a:t>vv. 45–54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47914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41B12"/>
                </a:solidFill>
                <a:latin typeface="Playfair Display"/>
              </a:rPr>
              <a:t>THE COMING HOUR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5047488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F6A5C"/>
                </a:solidFill>
                <a:latin typeface="Georgia"/>
              </a:rPr>
              <a:t>The shout, the trumpet, the graves, no soul wronged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43153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4AF5E"/>
                </a:solidFill>
                <a:latin typeface="Playfair Display"/>
              </a:rPr>
              <a:t> 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449823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B98A2E"/>
                </a:solidFill>
                <a:latin typeface="Jost"/>
              </a:rPr>
              <a:t>vv. 55–68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8720" y="56509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41B12"/>
                </a:solidFill>
                <a:latin typeface="Playfair Display"/>
              </a:rPr>
              <a:t>TWO GATHERINGS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8720" y="5907023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F6A5C"/>
                </a:solidFill>
                <a:latin typeface="Georgia"/>
              </a:rPr>
              <a:t>Paradise's peace; the guilty's fire; the witnessing limbs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5431536"/>
            <a:ext cx="822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i="0">
                <a:solidFill>
                  <a:srgbClr val="D4AF5E"/>
                </a:solidFill>
                <a:latin typeface="Playfair Display"/>
              </a:rPr>
              <a:t>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5449823"/>
            <a:ext cx="2011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B98A2E"/>
                </a:solidFill>
                <a:latin typeface="Jost"/>
              </a:rPr>
              <a:t>vv. 69–83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565099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241B12"/>
                </a:solidFill>
                <a:latin typeface="Playfair Display"/>
              </a:rPr>
              <a:t>THE REMINDER AND ITS CLOSING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5907023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F6A5C"/>
                </a:solidFill>
                <a:latin typeface="Georgia"/>
              </a:rPr>
              <a:t>Not poetry; cattle; the bones; Be! and it is; the dominion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CHAPTER  ·  I.4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Verses That Anchor the Collection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78308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5440680" cy="1874519"/>
          </a:xfrm>
          <a:prstGeom prst="rect">
            <a:avLst/>
          </a:prstGeom>
          <a:solidFill>
            <a:srgbClr val="F4EFE3"/>
          </a:solidFill>
          <a:ln w="1016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9456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B98A2E"/>
                </a:solidFill>
                <a:latin typeface="Jost"/>
              </a:rPr>
              <a:t>VERSE 36:82  ·  Be! and it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87168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0" i="0" lang="ar" rtl="1">
                <a:solidFill>
                  <a:srgbClr val="241B12"/>
                </a:solidFill>
                <a:latin typeface="Simplified Arabic"/>
                <a:cs typeface="Simplified Arabic"/>
              </a:rPr>
              <a:t>إِنَّمَا أَمْرُهُۥٓ إِذَا أَرَادَ شَيْـًۭٔا أَن يَقُولَ لَهُۥ كُن فَيَكُونُ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6F6A5C"/>
                </a:solidFill>
                <a:latin typeface="Georgia"/>
              </a:rPr>
              <a:t>"His command, when He intendeth a thing, is only that He saith unto it: Be! and it is."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011680"/>
            <a:ext cx="5440680" cy="1874519"/>
          </a:xfrm>
          <a:prstGeom prst="rect">
            <a:avLst/>
          </a:prstGeom>
          <a:solidFill>
            <a:srgbClr val="F4EFE3"/>
          </a:solidFill>
          <a:ln w="1016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B98A2E"/>
                </a:solidFill>
                <a:latin typeface="Jost"/>
              </a:rPr>
              <a:t>VERSE 36:20  ·  The man from the 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487168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0" i="0" lang="ar" rtl="1">
                <a:solidFill>
                  <a:srgbClr val="241B12"/>
                </a:solidFill>
                <a:latin typeface="Simplified Arabic"/>
                <a:cs typeface="Simplified Arabic"/>
              </a:rPr>
              <a:t>وَجَآءَ مِنْ أَقْصَا ٱلْمَدِينَةِ رَجُلٌۭ يَسْعَىٰ قَالَ يَٰقَوْمِ ٱتَّبِعُوا۟ ٱلْمُرْسَلِينَ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3756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6F6A5C"/>
                </a:solidFill>
                <a:latin typeface="Georgia"/>
              </a:rPr>
              <a:t>"There came from the uttermost part of the city a man running: O my people, follow those who have been sent!"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069080"/>
            <a:ext cx="5440680" cy="1874519"/>
          </a:xfrm>
          <a:prstGeom prst="rect">
            <a:avLst/>
          </a:prstGeom>
          <a:solidFill>
            <a:srgbClr val="F4EFE3"/>
          </a:solidFill>
          <a:ln w="1016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25196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B98A2E"/>
                </a:solidFill>
                <a:latin typeface="Jost"/>
              </a:rPr>
              <a:t>VERSE 36:58  ·  Peace - a word from the Lord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44568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0" i="0" lang="ar" rtl="1">
                <a:solidFill>
                  <a:srgbClr val="241B12"/>
                </a:solidFill>
                <a:latin typeface="Simplified Arabic"/>
                <a:cs typeface="Simplified Arabic"/>
              </a:rPr>
              <a:t>سَلَٰمٌۭ قَوْلًۭا مِّن رَّبٍّۢ رَّحِيمٍۢ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9496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6F6A5C"/>
                </a:solidFill>
                <a:latin typeface="Georgia"/>
              </a:rPr>
              <a:t>"The word from a Merciful Lord is: Peace!"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4069080"/>
            <a:ext cx="5440680" cy="1874519"/>
          </a:xfrm>
          <a:prstGeom prst="rect">
            <a:avLst/>
          </a:prstGeom>
          <a:solidFill>
            <a:srgbClr val="F4EFE3"/>
          </a:solidFill>
          <a:ln w="1016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251960"/>
            <a:ext cx="4892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B98A2E"/>
                </a:solidFill>
                <a:latin typeface="Jost"/>
              </a:rPr>
              <a:t>VERSE 36:36  ·  He created the pairs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544568"/>
            <a:ext cx="48920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500" b="0" i="0" lang="ar" rtl="1">
                <a:solidFill>
                  <a:srgbClr val="241B12"/>
                </a:solidFill>
                <a:latin typeface="Simplified Arabic"/>
                <a:cs typeface="Simplified Arabic"/>
              </a:rPr>
              <a:t>سُبْحَٰنَ ٱلَّذِى خَلَقَ ٱلْأَزْوَٰجَ كُلَّهَا مِمَّا تُنۢبِتُ ٱلْأَرْضُ وَمِنْ أَنفُسِهِمْ وَمِمَّا لَا يَعْلَمُونَ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394960"/>
            <a:ext cx="4892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1">
                <a:solidFill>
                  <a:srgbClr val="6F6A5C"/>
                </a:solidFill>
                <a:latin typeface="Georgia"/>
              </a:rPr>
              <a:t>"Glory be to Him Who created all the pairs, of the earth's growth, and of themselves, and of that which they know not!"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874519"/>
            <a:ext cx="25603" cy="25146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3852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300">
                <a:solidFill>
                  <a:srgbClr val="D4AF5E"/>
                </a:solidFill>
                <a:latin typeface="Jost"/>
              </a:rPr>
              <a:t>PART 02  ·  08 / 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F4EFE3"/>
                </a:solidFill>
                <a:latin typeface="Playfair Display"/>
              </a:rPr>
              <a:t>The Commission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9AA79B"/>
                </a:solidFill>
                <a:latin typeface="Georgia"/>
              </a:rPr>
              <a:t>Eighty-three frames, one verse each - how the collection is made and where it stands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COMMISSION  ·  II.1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Concept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78308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585216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41B12"/>
                </a:solidFill>
                <a:latin typeface="Georgia"/>
              </a:rPr>
              <a:t>One verse, one frame.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Surah Yaseen has eighty-three verses; the commission has eighty-three folios. Each folio carries the verse in Uthmani script, its Pickthall rendering, and a commissioned artwork made for that verse alone - Third Art, the gallery's thread-and-frame practice.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The surah's own architecture sets the collection's order: ten movements, read in the mushaf's sequence, from the sacred letters to the dominion of all things.</a:t>
            </a:r>
          </a:p>
          <a:p>
            <a:pPr algn="l"/>
            <a:r>
              <a:rPr sz="1000" b="0" i="1">
                <a:solidFill>
                  <a:srgbClr val="6F6A5C"/>
                </a:solidFill>
                <a:latin typeface="Georgia"/>
              </a:rPr>
              <a:t>Folio format: 1613 x 1314 px working master, printed 1.5x for gallery (2420 x 1971).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49440" y="2011680"/>
            <a:ext cx="2148840" cy="393192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194560"/>
            <a:ext cx="187451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 spc="150">
                <a:solidFill>
                  <a:srgbClr val="D4AF5E"/>
                </a:solidFill>
                <a:latin typeface="Jost"/>
              </a:rPr>
              <a:t>YASEEN 42 / 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468880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4EFE3"/>
                </a:solidFill>
                <a:latin typeface="Playfair Display"/>
              </a:rPr>
              <a:t>Of the Like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3017520"/>
            <a:ext cx="187451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D4AF5E"/>
                </a:solidFill>
                <a:latin typeface="Georgia"/>
              </a:rPr>
              <a:t>Whereon they ride.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3886200"/>
            <a:ext cx="1965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وَخَلَقْنَا لَهُم مِّن مِّثْلِهِۦ مَا يَرْكَبُونَ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5394960"/>
            <a:ext cx="187451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0" spc="100">
                <a:solidFill>
                  <a:srgbClr val="9AA79B"/>
                </a:solidFill>
                <a:latin typeface="Jost"/>
              </a:rPr>
              <a:t>36:42 · J. 23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72600" y="2011680"/>
            <a:ext cx="2331720" cy="3931920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445752" y="2084831"/>
            <a:ext cx="2185416" cy="3785615"/>
          </a:xfrm>
          <a:prstGeom prst="rect">
            <a:avLst/>
          </a:prstGeom>
          <a:noFill/>
          <a:ln w="2032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55480" y="365760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200">
                <a:solidFill>
                  <a:srgbClr val="B98A2E"/>
                </a:solidFill>
                <a:latin typeface="Jost"/>
              </a:rPr>
              <a:t>THE ARTWORK</a:t>
            </a:r>
          </a:p>
          <a:p>
            <a:pPr algn="ctr">
              <a:spcBef>
                <a:spcPts val="300"/>
              </a:spcBef>
            </a:pPr>
            <a:r>
              <a:rPr sz="850" b="0" i="1">
                <a:solidFill>
                  <a:srgbClr val="6F6A5C"/>
                </a:solidFill>
                <a:latin typeface="Georgia"/>
              </a:rPr>
              <a:t>made for the verse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COMMISSION  ·  II.2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Design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78308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777240" cy="77724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880360"/>
            <a:ext cx="960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 spc="100">
                <a:solidFill>
                  <a:srgbClr val="6F6A5C"/>
                </a:solidFill>
                <a:latin typeface="Jost"/>
              </a:rPr>
              <a:t>EVERGREEN</a:t>
            </a:r>
          </a:p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0E1F18</a:t>
            </a:r>
          </a:p>
        </p:txBody>
      </p:sp>
      <p:sp>
        <p:nvSpPr>
          <p:cNvPr id="7" name="Rectangle 6"/>
          <p:cNvSpPr/>
          <p:nvPr/>
        </p:nvSpPr>
        <p:spPr>
          <a:xfrm>
            <a:off x="1938528" y="2011680"/>
            <a:ext cx="777240" cy="777240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47088" y="2880360"/>
            <a:ext cx="960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 spc="100">
                <a:solidFill>
                  <a:srgbClr val="6F6A5C"/>
                </a:solidFill>
                <a:latin typeface="Jost"/>
              </a:rPr>
              <a:t>DEEP</a:t>
            </a:r>
          </a:p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0A1712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374136" y="2011680"/>
            <a:ext cx="777240" cy="777240"/>
          </a:xfrm>
          <a:prstGeom prst="rect">
            <a:avLst/>
          </a:prstGeom>
          <a:solidFill>
            <a:srgbClr val="F4EFE3"/>
          </a:solidFill>
          <a:ln w="9525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2696" y="2880360"/>
            <a:ext cx="960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 spc="100">
                <a:solidFill>
                  <a:srgbClr val="6F6A5C"/>
                </a:solidFill>
                <a:latin typeface="Jost"/>
              </a:rPr>
              <a:t>CREAM</a:t>
            </a:r>
          </a:p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F4EFE3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9744" y="2011680"/>
            <a:ext cx="777240" cy="777240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8304" y="2880360"/>
            <a:ext cx="960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 spc="100">
                <a:solidFill>
                  <a:srgbClr val="6F6A5C"/>
                </a:solidFill>
                <a:latin typeface="Jost"/>
              </a:rPr>
              <a:t>PAPER</a:t>
            </a:r>
          </a:p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EAE2CF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2011680"/>
            <a:ext cx="777240" cy="77724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2880360"/>
            <a:ext cx="960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 spc="100">
                <a:solidFill>
                  <a:srgbClr val="6F6A5C"/>
                </a:solidFill>
                <a:latin typeface="Jost"/>
              </a:rPr>
              <a:t>GOLD</a:t>
            </a:r>
          </a:p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B98A2E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2011680"/>
            <a:ext cx="777240" cy="777240"/>
          </a:xfrm>
          <a:prstGeom prst="rect">
            <a:avLst/>
          </a:prstGeom>
          <a:solidFill>
            <a:srgbClr val="D4A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2880360"/>
            <a:ext cx="960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 spc="100">
                <a:solidFill>
                  <a:srgbClr val="6F6A5C"/>
                </a:solidFill>
                <a:latin typeface="Jost"/>
              </a:rPr>
              <a:t>LT. GOLD</a:t>
            </a:r>
          </a:p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D4AF5E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16568" y="2011680"/>
            <a:ext cx="777240" cy="777240"/>
          </a:xfrm>
          <a:prstGeom prst="rect">
            <a:avLst/>
          </a:prstGeom>
          <a:solidFill>
            <a:srgbClr val="241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2880360"/>
            <a:ext cx="960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 spc="100">
                <a:solidFill>
                  <a:srgbClr val="6F6A5C"/>
                </a:solidFill>
                <a:latin typeface="Jost"/>
              </a:rPr>
              <a:t>ESPRESSO</a:t>
            </a:r>
          </a:p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241B12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52176" y="2011680"/>
            <a:ext cx="777240" cy="777240"/>
          </a:xfrm>
          <a:prstGeom prst="rect">
            <a:avLst/>
          </a:prstGeom>
          <a:solidFill>
            <a:srgbClr val="9A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60736" y="2880360"/>
            <a:ext cx="960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 spc="100">
                <a:solidFill>
                  <a:srgbClr val="6F6A5C"/>
                </a:solidFill>
                <a:latin typeface="Jost"/>
              </a:rPr>
              <a:t>SAGE</a:t>
            </a:r>
          </a:p>
          <a:p>
            <a:pPr algn="ctr"/>
            <a:r>
              <a:rPr sz="650" b="0" i="0">
                <a:solidFill>
                  <a:srgbClr val="6F6A5C"/>
                </a:solidFill>
                <a:latin typeface="Jost"/>
              </a:rPr>
              <a:t>9AA79B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65760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00">
                <a:solidFill>
                  <a:srgbClr val="6F6A5C"/>
                </a:solidFill>
                <a:latin typeface="Jost"/>
              </a:rPr>
              <a:t>TYPE  ·  Playfair Display (display, gold italic accents)   ·   Georgia (body 10-13)   ·   Jost (letter-spaced micro-caps)   ·   Simplified Arabic (Uthmani script)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160520"/>
            <a:ext cx="5486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241B12"/>
                </a:solidFill>
                <a:latin typeface="Playfair Display"/>
              </a:rPr>
              <a:t>Display - The Sacred Letters</a:t>
            </a:r>
          </a:p>
          <a:p>
            <a:pPr algn="l">
              <a:spcBef>
                <a:spcPts val="800"/>
              </a:spcBef>
            </a:pPr>
            <a:r>
              <a:rPr sz="1400" b="0" i="1">
                <a:solidFill>
                  <a:srgbClr val="B98A2E"/>
                </a:solidFill>
                <a:latin typeface="Playfair Display"/>
              </a:rPr>
              <a:t>Italic accent - verse by verse</a:t>
            </a:r>
          </a:p>
          <a:p>
            <a:pPr algn="l">
              <a:lnSpc>
                <a:spcPct val="140000"/>
              </a:lnSpc>
              <a:spcBef>
                <a:spcPts val="800"/>
              </a:spcBef>
            </a:pPr>
            <a:r>
              <a:rPr sz="1050" b="0" i="0">
                <a:solidFill>
                  <a:srgbClr val="1E1A14"/>
                </a:solidFill>
                <a:latin typeface="Georgia"/>
              </a:rPr>
              <a:t>Body - Every folio is quoted in full, in both the codex text and the Pickthall rendering, so the collection stands as a readable surah.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5303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250">
                <a:solidFill>
                  <a:srgbClr val="241B12"/>
                </a:solidFill>
                <a:latin typeface="Jost"/>
              </a:rPr>
              <a:t>Micro-caps - THE THIRD ART</a:t>
            </a:r>
          </a:p>
          <a:p>
            <a:pPr algn="r">
              <a:spcBef>
                <a:spcPts val="1000"/>
              </a:spcBef>
            </a:pPr>
            <a:r>
              <a:rPr sz="1700" b="0" i="0" lang="ar" rtl="1">
                <a:solidFill>
                  <a:srgbClr val="241B12"/>
                </a:solidFill>
                <a:latin typeface="Simplified Arabic"/>
                <a:cs typeface="Simplified Arabic"/>
              </a:rPr>
              <a:t>Arabic - the codex, verbatim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</a:pPr>
            <a:r>
              <a:rPr sz="1050" b="0" i="0">
                <a:solidFill>
                  <a:srgbClr val="1E1A14"/>
                </a:solidFill>
                <a:latin typeface="Georgia"/>
              </a:rPr>
              <a:t>Frames - hard gold edge on cream paper; evergreen panel carries the text.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COMMISSION  ·  II.3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Production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78308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194560"/>
            <a:ext cx="2148840" cy="301752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94560"/>
            <a:ext cx="21488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4688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971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50">
                <a:solidFill>
                  <a:srgbClr val="F4EFE3"/>
                </a:solidFill>
                <a:latin typeface="Jost"/>
              </a:rPr>
              <a:t>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310128"/>
            <a:ext cx="1783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79B"/>
                </a:solidFill>
                <a:latin typeface="Georgia"/>
              </a:rPr>
              <a:t>Uthmani text and Pickthall rendering verified against the codex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4328" y="338328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98A2E"/>
                </a:solidFill>
                <a:latin typeface="Georgia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7208" y="2194560"/>
            <a:ext cx="2148840" cy="301752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7208" y="2194560"/>
            <a:ext cx="21488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8376" y="24688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6" y="2971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50">
                <a:solidFill>
                  <a:srgbClr val="F4EFE3"/>
                </a:solidFill>
                <a:latin typeface="Jost"/>
              </a:rPr>
              <a:t>CALLIGRAPHY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310128"/>
            <a:ext cx="1783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79B"/>
                </a:solidFill>
                <a:latin typeface="Georgia"/>
              </a:rPr>
              <a:t>The ayah set in the frame, Uthmani 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8616" y="338328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98A2E"/>
                </a:solidFill>
                <a:latin typeface="Georgia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111496" y="2194560"/>
            <a:ext cx="2148840" cy="301752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11496" y="2194560"/>
            <a:ext cx="21488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12664" y="24688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12664" y="2971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50">
                <a:solidFill>
                  <a:srgbClr val="F4EFE3"/>
                </a:solidFill>
                <a:latin typeface="Jost"/>
              </a:rPr>
              <a:t>THREAD 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12664" y="3310128"/>
            <a:ext cx="1783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79B"/>
                </a:solidFill>
                <a:latin typeface="Georgia"/>
              </a:rPr>
              <a:t>Panel executed in the Third Art thread practice, made for the verse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2904" y="338328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98A2E"/>
                </a:solidFill>
                <a:latin typeface="Georgia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15783" y="2194560"/>
            <a:ext cx="2148840" cy="301752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15783" y="2194560"/>
            <a:ext cx="21488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16952" y="24688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16952" y="2971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50">
                <a:solidFill>
                  <a:srgbClr val="F4EFE3"/>
                </a:solidFill>
                <a:latin typeface="Jost"/>
              </a:rPr>
              <a:t>FINISH &amp; FRAME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16952" y="3310128"/>
            <a:ext cx="1783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79B"/>
                </a:solidFill>
                <a:latin typeface="Georgia"/>
              </a:rPr>
              <a:t>Gold-edge frame on cream paper, gallery finish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37192" y="338328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B98A2E"/>
                </a:solidFill>
                <a:latin typeface="Georgia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20072" y="2194560"/>
            <a:ext cx="2148840" cy="301752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20072" y="2194560"/>
            <a:ext cx="214884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21240" y="246888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2971800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 spc="150">
                <a:solidFill>
                  <a:srgbClr val="F4EFE3"/>
                </a:solidFill>
                <a:latin typeface="Jost"/>
              </a:rPr>
              <a:t>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3310128"/>
            <a:ext cx="17830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9AA79B"/>
                </a:solidFill>
                <a:latin typeface="Georgia"/>
              </a:rPr>
              <a:t>Photographed, polished, and saved at 1x and 1.5x print masters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562356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F6A5C"/>
                </a:solidFill>
                <a:latin typeface="Georgia"/>
              </a:rPr>
              <a:t>The pipeline is the same as the 71-folio Rahman collection: each verse is a self-contained production, and the collection advances in batches of ten movements.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COMMISSION  ·  II.4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Status - 83 Frames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78308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241B12"/>
                </a:solidFill>
                <a:latin typeface="Georgia"/>
              </a:rPr>
              <a:t>0 of 83 completed  ·  all 83 frames reserved, sequenced, and verse-verified  ·  production begins with Movement 01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1288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19656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19656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19656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78024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78024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78024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6391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6391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36391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94759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59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59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53128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11496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11496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1496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9864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69864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9864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28231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1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28231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86599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86599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86599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44968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44968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44968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03336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03336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03336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61704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61704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61704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720072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720072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720072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378440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378440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16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378440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036808" y="2514600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036808" y="2569464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17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36808" y="2779776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61288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61288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61288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819656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19656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20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19656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78024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78024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21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478024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136391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36391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22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36391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794759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94759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23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94759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453128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53128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24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453128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111496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111496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25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11496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69864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769864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69864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28231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28231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27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428231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086599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086599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28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086599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90" name="Rectangle 89"/>
          <p:cNvSpPr/>
          <p:nvPr/>
        </p:nvSpPr>
        <p:spPr>
          <a:xfrm>
            <a:off x="7744968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744968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29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44968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403336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403336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30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403336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061704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061704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31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061704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9720072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720072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32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720072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378440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378440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33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78440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036808" y="3264408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036808" y="3319272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34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1036808" y="3529584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02920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02920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35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02920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161288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1161288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36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61288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819656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819656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37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819656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78024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478024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38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2478024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136391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136391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39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136391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794759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3794759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40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794759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453128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453128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41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453128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111496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111496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42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111496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769864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769864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43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769864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428231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428231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44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428231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086599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086599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45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086599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744968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744968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46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7744968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403336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403336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47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403336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9061704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9061704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48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61704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720072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9720072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49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720072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378440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378440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50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78440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1036808" y="4014216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11036808" y="4069080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51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1036808" y="4279392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502920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02920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52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502920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161288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161288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53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161288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819656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1819656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54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819656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478024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478024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55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2478024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136391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3136391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56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3136391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3794759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3794759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57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3794759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453128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453128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58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4453128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5111496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5111496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59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111496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5769864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5769864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60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769864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428231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428231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61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428231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7086599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7086599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62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086599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7744968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7744968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63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7744968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403336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8403336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64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403336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9061704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9061704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65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061704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9720072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9720072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66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9720072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10378440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0378440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67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10378440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11036808" y="4764024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11036808" y="4818888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68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1036808" y="5029200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502920" y="5513832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502920" y="55686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69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502920" y="577900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1161288" y="5513832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1161288" y="55686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70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1161288" y="577900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1819656" y="5513832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1819656" y="55686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71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819656" y="577900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478024" y="5513832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2478024" y="55686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72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2478024" y="577900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3136391" y="5513832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3136391" y="55686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73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3136391" y="577900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3794759" y="5513832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3794759" y="55686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74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3794759" y="577900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4453128" y="5513832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4453128" y="55686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75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4453128" y="577900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5111496" y="5513832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5111496" y="55686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76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111496" y="577900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5769864" y="5513832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5769864" y="55686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77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5769864" y="577900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6428231" y="5513832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6428231" y="55686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78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428231" y="577900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7086599" y="5513832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7086599" y="55686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79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7086599" y="577900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7744968" y="5513832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7744968" y="55686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80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744968" y="577900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8403336" y="5513832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8403336" y="55686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81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8403336" y="577900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9061704" y="5513832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9061704" y="55686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82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9061704" y="577900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52" name="Rectangle 251"/>
          <p:cNvSpPr/>
          <p:nvPr/>
        </p:nvSpPr>
        <p:spPr>
          <a:xfrm>
            <a:off x="9720072" y="5513832"/>
            <a:ext cx="566928" cy="475488"/>
          </a:xfrm>
          <a:prstGeom prst="rect">
            <a:avLst/>
          </a:prstGeom>
          <a:solidFill>
            <a:srgbClr val="EAE2CF"/>
          </a:solidFill>
          <a:ln w="1143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9720072" y="5568696"/>
            <a:ext cx="56692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241B12"/>
                </a:solidFill>
                <a:latin typeface="Playfair Display"/>
              </a:rPr>
              <a:t>83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9720072" y="5779008"/>
            <a:ext cx="5669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50" b="0" i="0" spc="100">
                <a:solidFill>
                  <a:srgbClr val="6F6A5C"/>
                </a:solidFill>
                <a:latin typeface="Jost"/>
              </a:rPr>
              <a:t>IN PLAN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502920" y="6144768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6F6A5C"/>
                </a:solidFill>
                <a:latin typeface="Georgia"/>
              </a:rPr>
              <a:t>Grid reads in surah order, 17 per row. Movement boundaries: 05 · 12 · 19 · 27 · 32 · 40 · 44 · 54 · 68 · 83.</a:t>
            </a:r>
          </a:p>
        </p:txBody>
      </p:sp>
      <p:sp>
        <p:nvSpPr>
          <p:cNvPr id="256" name="Rectangle 25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874519"/>
            <a:ext cx="25603" cy="25146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3852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300">
                <a:solidFill>
                  <a:srgbClr val="D4AF5E"/>
                </a:solidFill>
                <a:latin typeface="Jost"/>
              </a:rPr>
              <a:t>PART 03  ·  13 / 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F4EFE3"/>
                </a:solidFill>
                <a:latin typeface="Playfair Display"/>
              </a:rPr>
              <a:t>The Verses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9AA79B"/>
                </a:solidFill>
                <a:latin typeface="Georgia"/>
              </a:rPr>
              <a:t>The full collection - eighty-three folio plates, one verse each, in the order of the mushaf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0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0" y="0"/>
            <a:ext cx="20116" cy="68580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COLLECTION  ·  83 VERSES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23774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0" i="0">
                <a:solidFill>
                  <a:srgbClr val="F4EFE3"/>
                </a:solidFill>
                <a:latin typeface="Playfair Display"/>
              </a:rPr>
              <a:t>Eighty-three</a:t>
            </a:r>
          </a:p>
          <a:p>
            <a:pPr algn="l">
              <a:spcBef>
                <a:spcPts val="500"/>
              </a:spcBef>
            </a:pPr>
            <a:r>
              <a:rPr sz="1400" b="0" i="1">
                <a:solidFill>
                  <a:srgbClr val="D4AF5E"/>
                </a:solidFill>
                <a:latin typeface="Playfair Display"/>
              </a:rPr>
              <a:t>folios, one verse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23774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000" b="0" i="0">
                <a:solidFill>
                  <a:srgbClr val="9AA79B"/>
                </a:solidFill>
                <a:latin typeface="Georgia"/>
              </a:rPr>
              <a:t>Read left to right, top to bottom, in the order of the surah.</a:t>
            </a:r>
          </a:p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AA79B"/>
                </a:solidFill>
                <a:latin typeface="Georgia"/>
              </a:rPr>
              <a:t>Each plate is a reserved frame: the verse stands verified today; the artwork is commissioned against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 spc="150">
                <a:solidFill>
                  <a:srgbClr val="6F6A5C"/>
                </a:solidFill>
                <a:latin typeface="Jost"/>
              </a:rPr>
              <a:t>BIYA GALLERY · ART &amp; CRAFT</a:t>
            </a:r>
          </a:p>
        </p:txBody>
      </p:sp>
      <p:pic>
        <p:nvPicPr>
          <p:cNvPr id="8" name="Picture 7" descr="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463040"/>
            <a:ext cx="594360" cy="484632"/>
          </a:xfrm>
          <a:prstGeom prst="rect">
            <a:avLst/>
          </a:prstGeom>
        </p:spPr>
      </p:pic>
      <p:pic>
        <p:nvPicPr>
          <p:cNvPr id="9" name="Picture 8" descr="th-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39" y="1463040"/>
            <a:ext cx="594360" cy="484632"/>
          </a:xfrm>
          <a:prstGeom prst="rect">
            <a:avLst/>
          </a:prstGeom>
        </p:spPr>
      </p:pic>
      <p:pic>
        <p:nvPicPr>
          <p:cNvPr id="10" name="Picture 9" descr="th-0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1463040"/>
            <a:ext cx="594360" cy="484632"/>
          </a:xfrm>
          <a:prstGeom prst="rect">
            <a:avLst/>
          </a:prstGeom>
        </p:spPr>
      </p:pic>
      <p:pic>
        <p:nvPicPr>
          <p:cNvPr id="11" name="Picture 10" descr="th-0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7820" y="1463040"/>
            <a:ext cx="594360" cy="484632"/>
          </a:xfrm>
          <a:prstGeom prst="rect">
            <a:avLst/>
          </a:prstGeom>
        </p:spPr>
      </p:pic>
      <p:pic>
        <p:nvPicPr>
          <p:cNvPr id="12" name="Picture 11" descr="th-0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0760" y="1463040"/>
            <a:ext cx="594360" cy="484632"/>
          </a:xfrm>
          <a:prstGeom prst="rect">
            <a:avLst/>
          </a:prstGeom>
        </p:spPr>
      </p:pic>
      <p:pic>
        <p:nvPicPr>
          <p:cNvPr id="13" name="Picture 12" descr="th-0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43700" y="1463040"/>
            <a:ext cx="594360" cy="484632"/>
          </a:xfrm>
          <a:prstGeom prst="rect">
            <a:avLst/>
          </a:prstGeom>
        </p:spPr>
      </p:pic>
      <p:pic>
        <p:nvPicPr>
          <p:cNvPr id="14" name="Picture 13" descr="th-0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06640" y="1463040"/>
            <a:ext cx="594360" cy="484632"/>
          </a:xfrm>
          <a:prstGeom prst="rect">
            <a:avLst/>
          </a:prstGeom>
        </p:spPr>
      </p:pic>
      <p:pic>
        <p:nvPicPr>
          <p:cNvPr id="15" name="Picture 14" descr="th-08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69579" y="1463040"/>
            <a:ext cx="594360" cy="484632"/>
          </a:xfrm>
          <a:prstGeom prst="rect">
            <a:avLst/>
          </a:prstGeom>
        </p:spPr>
      </p:pic>
      <p:pic>
        <p:nvPicPr>
          <p:cNvPr id="16" name="Picture 15" descr="th-0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32520" y="1463040"/>
            <a:ext cx="594360" cy="484632"/>
          </a:xfrm>
          <a:prstGeom prst="rect">
            <a:avLst/>
          </a:prstGeom>
        </p:spPr>
      </p:pic>
      <p:pic>
        <p:nvPicPr>
          <p:cNvPr id="17" name="Picture 16" descr="th-1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95459" y="1463040"/>
            <a:ext cx="594360" cy="484632"/>
          </a:xfrm>
          <a:prstGeom prst="rect">
            <a:avLst/>
          </a:prstGeom>
        </p:spPr>
      </p:pic>
      <p:pic>
        <p:nvPicPr>
          <p:cNvPr id="18" name="Picture 17" descr="th-11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58400" y="1463040"/>
            <a:ext cx="594360" cy="484632"/>
          </a:xfrm>
          <a:prstGeom prst="rect">
            <a:avLst/>
          </a:prstGeom>
        </p:spPr>
      </p:pic>
      <p:pic>
        <p:nvPicPr>
          <p:cNvPr id="19" name="Picture 18" descr="th-12.jp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721340" y="1463040"/>
            <a:ext cx="594360" cy="484632"/>
          </a:xfrm>
          <a:prstGeom prst="rect">
            <a:avLst/>
          </a:prstGeom>
        </p:spPr>
      </p:pic>
      <p:pic>
        <p:nvPicPr>
          <p:cNvPr id="20" name="Picture 19" descr="th-13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84280" y="1463040"/>
            <a:ext cx="594360" cy="484632"/>
          </a:xfrm>
          <a:prstGeom prst="rect">
            <a:avLst/>
          </a:prstGeom>
        </p:spPr>
      </p:pic>
      <p:pic>
        <p:nvPicPr>
          <p:cNvPr id="21" name="Picture 20" descr="th-14.jp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429000" y="2016252"/>
            <a:ext cx="594360" cy="484632"/>
          </a:xfrm>
          <a:prstGeom prst="rect">
            <a:avLst/>
          </a:prstGeom>
        </p:spPr>
      </p:pic>
      <p:pic>
        <p:nvPicPr>
          <p:cNvPr id="22" name="Picture 21" descr="th-15.jp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091939" y="2016252"/>
            <a:ext cx="594360" cy="484632"/>
          </a:xfrm>
          <a:prstGeom prst="rect">
            <a:avLst/>
          </a:prstGeom>
        </p:spPr>
      </p:pic>
      <p:pic>
        <p:nvPicPr>
          <p:cNvPr id="23" name="Picture 22" descr="th-16.jp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54880" y="2016252"/>
            <a:ext cx="594360" cy="484632"/>
          </a:xfrm>
          <a:prstGeom prst="rect">
            <a:avLst/>
          </a:prstGeom>
        </p:spPr>
      </p:pic>
      <p:pic>
        <p:nvPicPr>
          <p:cNvPr id="24" name="Picture 23" descr="th-17.jp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17820" y="2016252"/>
            <a:ext cx="594360" cy="484632"/>
          </a:xfrm>
          <a:prstGeom prst="rect">
            <a:avLst/>
          </a:prstGeom>
        </p:spPr>
      </p:pic>
      <p:pic>
        <p:nvPicPr>
          <p:cNvPr id="25" name="Picture 24" descr="th-18.jp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80760" y="2016252"/>
            <a:ext cx="594360" cy="484632"/>
          </a:xfrm>
          <a:prstGeom prst="rect">
            <a:avLst/>
          </a:prstGeom>
        </p:spPr>
      </p:pic>
      <p:pic>
        <p:nvPicPr>
          <p:cNvPr id="26" name="Picture 25" descr="th-19.jp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743700" y="2016252"/>
            <a:ext cx="594360" cy="484632"/>
          </a:xfrm>
          <a:prstGeom prst="rect">
            <a:avLst/>
          </a:prstGeom>
        </p:spPr>
      </p:pic>
      <p:pic>
        <p:nvPicPr>
          <p:cNvPr id="27" name="Picture 26" descr="th-20.jp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06640" y="2016252"/>
            <a:ext cx="594360" cy="484632"/>
          </a:xfrm>
          <a:prstGeom prst="rect">
            <a:avLst/>
          </a:prstGeom>
        </p:spPr>
      </p:pic>
      <p:pic>
        <p:nvPicPr>
          <p:cNvPr id="28" name="Picture 27" descr="th-21.jp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069579" y="2016252"/>
            <a:ext cx="594360" cy="484632"/>
          </a:xfrm>
          <a:prstGeom prst="rect">
            <a:avLst/>
          </a:prstGeom>
        </p:spPr>
      </p:pic>
      <p:pic>
        <p:nvPicPr>
          <p:cNvPr id="29" name="Picture 28" descr="th-22.jp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732520" y="2016252"/>
            <a:ext cx="594360" cy="484632"/>
          </a:xfrm>
          <a:prstGeom prst="rect">
            <a:avLst/>
          </a:prstGeom>
        </p:spPr>
      </p:pic>
      <p:pic>
        <p:nvPicPr>
          <p:cNvPr id="30" name="Picture 29" descr="th-23.jp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395459" y="2016252"/>
            <a:ext cx="594360" cy="484632"/>
          </a:xfrm>
          <a:prstGeom prst="rect">
            <a:avLst/>
          </a:prstGeom>
        </p:spPr>
      </p:pic>
      <p:pic>
        <p:nvPicPr>
          <p:cNvPr id="31" name="Picture 30" descr="th-24.jp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058400" y="2016252"/>
            <a:ext cx="594360" cy="484632"/>
          </a:xfrm>
          <a:prstGeom prst="rect">
            <a:avLst/>
          </a:prstGeom>
        </p:spPr>
      </p:pic>
      <p:pic>
        <p:nvPicPr>
          <p:cNvPr id="32" name="Picture 31" descr="th-25.jp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721340" y="2016252"/>
            <a:ext cx="594360" cy="484632"/>
          </a:xfrm>
          <a:prstGeom prst="rect">
            <a:avLst/>
          </a:prstGeom>
        </p:spPr>
      </p:pic>
      <p:pic>
        <p:nvPicPr>
          <p:cNvPr id="33" name="Picture 32" descr="th-26.jp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11384280" y="2016252"/>
            <a:ext cx="594360" cy="484632"/>
          </a:xfrm>
          <a:prstGeom prst="rect">
            <a:avLst/>
          </a:prstGeom>
        </p:spPr>
      </p:pic>
      <p:pic>
        <p:nvPicPr>
          <p:cNvPr id="34" name="Picture 33" descr="th-27.jp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429000" y="2569464"/>
            <a:ext cx="594360" cy="484632"/>
          </a:xfrm>
          <a:prstGeom prst="rect">
            <a:avLst/>
          </a:prstGeom>
        </p:spPr>
      </p:pic>
      <p:pic>
        <p:nvPicPr>
          <p:cNvPr id="35" name="Picture 34" descr="th-28.jp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091939" y="2569464"/>
            <a:ext cx="594360" cy="484632"/>
          </a:xfrm>
          <a:prstGeom prst="rect">
            <a:avLst/>
          </a:prstGeom>
        </p:spPr>
      </p:pic>
      <p:pic>
        <p:nvPicPr>
          <p:cNvPr id="36" name="Picture 35" descr="th-29.jp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4754880" y="2569464"/>
            <a:ext cx="594360" cy="484632"/>
          </a:xfrm>
          <a:prstGeom prst="rect">
            <a:avLst/>
          </a:prstGeom>
        </p:spPr>
      </p:pic>
      <p:pic>
        <p:nvPicPr>
          <p:cNvPr id="37" name="Picture 36" descr="th-30.jp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417820" y="2569464"/>
            <a:ext cx="594360" cy="484632"/>
          </a:xfrm>
          <a:prstGeom prst="rect">
            <a:avLst/>
          </a:prstGeom>
        </p:spPr>
      </p:pic>
      <p:pic>
        <p:nvPicPr>
          <p:cNvPr id="38" name="Picture 37" descr="th-31.jp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080760" y="2569464"/>
            <a:ext cx="594360" cy="484632"/>
          </a:xfrm>
          <a:prstGeom prst="rect">
            <a:avLst/>
          </a:prstGeom>
        </p:spPr>
      </p:pic>
      <p:pic>
        <p:nvPicPr>
          <p:cNvPr id="39" name="Picture 38" descr="th-32.jp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743700" y="2569464"/>
            <a:ext cx="594360" cy="484632"/>
          </a:xfrm>
          <a:prstGeom prst="rect">
            <a:avLst/>
          </a:prstGeom>
        </p:spPr>
      </p:pic>
      <p:pic>
        <p:nvPicPr>
          <p:cNvPr id="40" name="Picture 39" descr="th-33.jp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7406640" y="2569464"/>
            <a:ext cx="594360" cy="484632"/>
          </a:xfrm>
          <a:prstGeom prst="rect">
            <a:avLst/>
          </a:prstGeom>
        </p:spPr>
      </p:pic>
      <p:pic>
        <p:nvPicPr>
          <p:cNvPr id="41" name="Picture 40" descr="th-34.jp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8069579" y="2569464"/>
            <a:ext cx="594360" cy="484632"/>
          </a:xfrm>
          <a:prstGeom prst="rect">
            <a:avLst/>
          </a:prstGeom>
        </p:spPr>
      </p:pic>
      <p:pic>
        <p:nvPicPr>
          <p:cNvPr id="42" name="Picture 41" descr="th-35.jp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732520" y="2569464"/>
            <a:ext cx="594360" cy="484632"/>
          </a:xfrm>
          <a:prstGeom prst="rect">
            <a:avLst/>
          </a:prstGeom>
        </p:spPr>
      </p:pic>
      <p:pic>
        <p:nvPicPr>
          <p:cNvPr id="43" name="Picture 42" descr="th-36.jp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395459" y="2569464"/>
            <a:ext cx="594360" cy="484632"/>
          </a:xfrm>
          <a:prstGeom prst="rect">
            <a:avLst/>
          </a:prstGeom>
        </p:spPr>
      </p:pic>
      <p:pic>
        <p:nvPicPr>
          <p:cNvPr id="44" name="Picture 43" descr="th-37.jp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058400" y="2569464"/>
            <a:ext cx="594360" cy="484632"/>
          </a:xfrm>
          <a:prstGeom prst="rect">
            <a:avLst/>
          </a:prstGeom>
        </p:spPr>
      </p:pic>
      <p:pic>
        <p:nvPicPr>
          <p:cNvPr id="45" name="Picture 44" descr="th-38.jp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721340" y="2569464"/>
            <a:ext cx="594360" cy="484632"/>
          </a:xfrm>
          <a:prstGeom prst="rect">
            <a:avLst/>
          </a:prstGeom>
        </p:spPr>
      </p:pic>
      <p:pic>
        <p:nvPicPr>
          <p:cNvPr id="46" name="Picture 45" descr="th-39.jp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1384280" y="2569464"/>
            <a:ext cx="594360" cy="484632"/>
          </a:xfrm>
          <a:prstGeom prst="rect">
            <a:avLst/>
          </a:prstGeom>
        </p:spPr>
      </p:pic>
      <p:pic>
        <p:nvPicPr>
          <p:cNvPr id="47" name="Picture 46" descr="th-40.jp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3429000" y="3122676"/>
            <a:ext cx="594360" cy="484632"/>
          </a:xfrm>
          <a:prstGeom prst="rect">
            <a:avLst/>
          </a:prstGeom>
        </p:spPr>
      </p:pic>
      <p:pic>
        <p:nvPicPr>
          <p:cNvPr id="48" name="Picture 47" descr="th-41.jp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4091939" y="3122676"/>
            <a:ext cx="594360" cy="484632"/>
          </a:xfrm>
          <a:prstGeom prst="rect">
            <a:avLst/>
          </a:prstGeom>
        </p:spPr>
      </p:pic>
      <p:pic>
        <p:nvPicPr>
          <p:cNvPr id="49" name="Picture 48" descr="th-42.jp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754880" y="3122676"/>
            <a:ext cx="594360" cy="484632"/>
          </a:xfrm>
          <a:prstGeom prst="rect">
            <a:avLst/>
          </a:prstGeom>
        </p:spPr>
      </p:pic>
      <p:pic>
        <p:nvPicPr>
          <p:cNvPr id="50" name="Picture 49" descr="th-43.jp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417820" y="3122676"/>
            <a:ext cx="594360" cy="484632"/>
          </a:xfrm>
          <a:prstGeom prst="rect">
            <a:avLst/>
          </a:prstGeom>
        </p:spPr>
      </p:pic>
      <p:pic>
        <p:nvPicPr>
          <p:cNvPr id="51" name="Picture 50" descr="th-44.jp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080760" y="3122676"/>
            <a:ext cx="594360" cy="484632"/>
          </a:xfrm>
          <a:prstGeom prst="rect">
            <a:avLst/>
          </a:prstGeom>
        </p:spPr>
      </p:pic>
      <p:pic>
        <p:nvPicPr>
          <p:cNvPr id="52" name="Picture 51" descr="th-45.jp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743700" y="3122676"/>
            <a:ext cx="594360" cy="484632"/>
          </a:xfrm>
          <a:prstGeom prst="rect">
            <a:avLst/>
          </a:prstGeom>
        </p:spPr>
      </p:pic>
      <p:pic>
        <p:nvPicPr>
          <p:cNvPr id="53" name="Picture 52" descr="th-46.jp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7406640" y="3122676"/>
            <a:ext cx="594360" cy="484632"/>
          </a:xfrm>
          <a:prstGeom prst="rect">
            <a:avLst/>
          </a:prstGeom>
        </p:spPr>
      </p:pic>
      <p:pic>
        <p:nvPicPr>
          <p:cNvPr id="54" name="Picture 53" descr="th-47.jp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8069579" y="3122676"/>
            <a:ext cx="594360" cy="484632"/>
          </a:xfrm>
          <a:prstGeom prst="rect">
            <a:avLst/>
          </a:prstGeom>
        </p:spPr>
      </p:pic>
      <p:pic>
        <p:nvPicPr>
          <p:cNvPr id="55" name="Picture 54" descr="th-48.jp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8732520" y="3122676"/>
            <a:ext cx="594360" cy="484632"/>
          </a:xfrm>
          <a:prstGeom prst="rect">
            <a:avLst/>
          </a:prstGeom>
        </p:spPr>
      </p:pic>
      <p:pic>
        <p:nvPicPr>
          <p:cNvPr id="56" name="Picture 55" descr="th-49.jp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9395459" y="3122676"/>
            <a:ext cx="594360" cy="484632"/>
          </a:xfrm>
          <a:prstGeom prst="rect">
            <a:avLst/>
          </a:prstGeom>
        </p:spPr>
      </p:pic>
      <p:pic>
        <p:nvPicPr>
          <p:cNvPr id="57" name="Picture 56" descr="th-50.jp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10058400" y="3122676"/>
            <a:ext cx="594360" cy="484632"/>
          </a:xfrm>
          <a:prstGeom prst="rect">
            <a:avLst/>
          </a:prstGeom>
        </p:spPr>
      </p:pic>
      <p:pic>
        <p:nvPicPr>
          <p:cNvPr id="58" name="Picture 57" descr="th-51.jp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0721340" y="3122676"/>
            <a:ext cx="594360" cy="484632"/>
          </a:xfrm>
          <a:prstGeom prst="rect">
            <a:avLst/>
          </a:prstGeom>
        </p:spPr>
      </p:pic>
      <p:pic>
        <p:nvPicPr>
          <p:cNvPr id="59" name="Picture 58" descr="th-52.jp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11384280" y="3122676"/>
            <a:ext cx="594360" cy="484632"/>
          </a:xfrm>
          <a:prstGeom prst="rect">
            <a:avLst/>
          </a:prstGeom>
        </p:spPr>
      </p:pic>
      <p:pic>
        <p:nvPicPr>
          <p:cNvPr id="60" name="Picture 59" descr="th-53.jp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429000" y="3675887"/>
            <a:ext cx="594360" cy="484632"/>
          </a:xfrm>
          <a:prstGeom prst="rect">
            <a:avLst/>
          </a:prstGeom>
        </p:spPr>
      </p:pic>
      <p:pic>
        <p:nvPicPr>
          <p:cNvPr id="61" name="Picture 60" descr="th-54.jp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4091939" y="3675887"/>
            <a:ext cx="594360" cy="484632"/>
          </a:xfrm>
          <a:prstGeom prst="rect">
            <a:avLst/>
          </a:prstGeom>
        </p:spPr>
      </p:pic>
      <p:pic>
        <p:nvPicPr>
          <p:cNvPr id="62" name="Picture 61" descr="th-55.jp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4754880" y="3675887"/>
            <a:ext cx="594360" cy="484632"/>
          </a:xfrm>
          <a:prstGeom prst="rect">
            <a:avLst/>
          </a:prstGeom>
        </p:spPr>
      </p:pic>
      <p:pic>
        <p:nvPicPr>
          <p:cNvPr id="63" name="Picture 62" descr="th-56.jp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417820" y="3675887"/>
            <a:ext cx="594360" cy="484632"/>
          </a:xfrm>
          <a:prstGeom prst="rect">
            <a:avLst/>
          </a:prstGeom>
        </p:spPr>
      </p:pic>
      <p:pic>
        <p:nvPicPr>
          <p:cNvPr id="64" name="Picture 63" descr="th-57.jp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6080760" y="3675887"/>
            <a:ext cx="594360" cy="484632"/>
          </a:xfrm>
          <a:prstGeom prst="rect">
            <a:avLst/>
          </a:prstGeom>
        </p:spPr>
      </p:pic>
      <p:pic>
        <p:nvPicPr>
          <p:cNvPr id="65" name="Picture 64" descr="th-58.jp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6743700" y="3675887"/>
            <a:ext cx="594360" cy="484632"/>
          </a:xfrm>
          <a:prstGeom prst="rect">
            <a:avLst/>
          </a:prstGeom>
        </p:spPr>
      </p:pic>
      <p:pic>
        <p:nvPicPr>
          <p:cNvPr id="66" name="Picture 65" descr="th-59.jp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406640" y="3675887"/>
            <a:ext cx="594360" cy="484632"/>
          </a:xfrm>
          <a:prstGeom prst="rect">
            <a:avLst/>
          </a:prstGeom>
        </p:spPr>
      </p:pic>
      <p:pic>
        <p:nvPicPr>
          <p:cNvPr id="67" name="Picture 66" descr="th-60.jp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8069579" y="3675887"/>
            <a:ext cx="594360" cy="484632"/>
          </a:xfrm>
          <a:prstGeom prst="rect">
            <a:avLst/>
          </a:prstGeom>
        </p:spPr>
      </p:pic>
      <p:pic>
        <p:nvPicPr>
          <p:cNvPr id="68" name="Picture 67" descr="th-61.jp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732520" y="3675887"/>
            <a:ext cx="594360" cy="484632"/>
          </a:xfrm>
          <a:prstGeom prst="rect">
            <a:avLst/>
          </a:prstGeom>
        </p:spPr>
      </p:pic>
      <p:pic>
        <p:nvPicPr>
          <p:cNvPr id="69" name="Picture 68" descr="th-62.jp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9395459" y="3675887"/>
            <a:ext cx="594360" cy="484632"/>
          </a:xfrm>
          <a:prstGeom prst="rect">
            <a:avLst/>
          </a:prstGeom>
        </p:spPr>
      </p:pic>
      <p:pic>
        <p:nvPicPr>
          <p:cNvPr id="70" name="Picture 69" descr="th-63.jp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10058400" y="3675887"/>
            <a:ext cx="594360" cy="484632"/>
          </a:xfrm>
          <a:prstGeom prst="rect">
            <a:avLst/>
          </a:prstGeom>
        </p:spPr>
      </p:pic>
      <p:pic>
        <p:nvPicPr>
          <p:cNvPr id="71" name="Picture 70" descr="th-64.jp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10721340" y="3675887"/>
            <a:ext cx="594360" cy="484632"/>
          </a:xfrm>
          <a:prstGeom prst="rect">
            <a:avLst/>
          </a:prstGeom>
        </p:spPr>
      </p:pic>
      <p:pic>
        <p:nvPicPr>
          <p:cNvPr id="72" name="Picture 71" descr="th-65.jp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11384280" y="3675887"/>
            <a:ext cx="594360" cy="484632"/>
          </a:xfrm>
          <a:prstGeom prst="rect">
            <a:avLst/>
          </a:prstGeom>
        </p:spPr>
      </p:pic>
      <p:pic>
        <p:nvPicPr>
          <p:cNvPr id="73" name="Picture 72" descr="th-66.jp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3429000" y="4229100"/>
            <a:ext cx="594360" cy="484632"/>
          </a:xfrm>
          <a:prstGeom prst="rect">
            <a:avLst/>
          </a:prstGeom>
        </p:spPr>
      </p:pic>
      <p:pic>
        <p:nvPicPr>
          <p:cNvPr id="74" name="Picture 73" descr="th-67.jp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4091939" y="4229100"/>
            <a:ext cx="594360" cy="484632"/>
          </a:xfrm>
          <a:prstGeom prst="rect">
            <a:avLst/>
          </a:prstGeom>
        </p:spPr>
      </p:pic>
      <p:pic>
        <p:nvPicPr>
          <p:cNvPr id="75" name="Picture 74" descr="th-68.jp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4754880" y="4229100"/>
            <a:ext cx="594360" cy="484632"/>
          </a:xfrm>
          <a:prstGeom prst="rect">
            <a:avLst/>
          </a:prstGeom>
        </p:spPr>
      </p:pic>
      <p:pic>
        <p:nvPicPr>
          <p:cNvPr id="76" name="Picture 75" descr="th-69.jpg"/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5417820" y="4229100"/>
            <a:ext cx="594360" cy="484632"/>
          </a:xfrm>
          <a:prstGeom prst="rect">
            <a:avLst/>
          </a:prstGeom>
        </p:spPr>
      </p:pic>
      <p:pic>
        <p:nvPicPr>
          <p:cNvPr id="77" name="Picture 76" descr="th-70.jpg"/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6080760" y="4229100"/>
            <a:ext cx="594360" cy="484632"/>
          </a:xfrm>
          <a:prstGeom prst="rect">
            <a:avLst/>
          </a:prstGeom>
        </p:spPr>
      </p:pic>
      <p:pic>
        <p:nvPicPr>
          <p:cNvPr id="78" name="Picture 77" descr="th-71.jpg"/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6743700" y="4229100"/>
            <a:ext cx="594360" cy="484632"/>
          </a:xfrm>
          <a:prstGeom prst="rect">
            <a:avLst/>
          </a:prstGeom>
        </p:spPr>
      </p:pic>
      <p:pic>
        <p:nvPicPr>
          <p:cNvPr id="79" name="Picture 78" descr="th-72.jpg"/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7406640" y="4229100"/>
            <a:ext cx="594360" cy="484632"/>
          </a:xfrm>
          <a:prstGeom prst="rect">
            <a:avLst/>
          </a:prstGeom>
        </p:spPr>
      </p:pic>
      <p:pic>
        <p:nvPicPr>
          <p:cNvPr id="80" name="Picture 79" descr="th-73.jpg"/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8069579" y="4229100"/>
            <a:ext cx="594360" cy="484632"/>
          </a:xfrm>
          <a:prstGeom prst="rect">
            <a:avLst/>
          </a:prstGeom>
        </p:spPr>
      </p:pic>
      <p:pic>
        <p:nvPicPr>
          <p:cNvPr id="81" name="Picture 80" descr="th-74.jpg"/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8732520" y="4229100"/>
            <a:ext cx="594360" cy="484632"/>
          </a:xfrm>
          <a:prstGeom prst="rect">
            <a:avLst/>
          </a:prstGeom>
        </p:spPr>
      </p:pic>
      <p:pic>
        <p:nvPicPr>
          <p:cNvPr id="82" name="Picture 81" descr="th-75.jpg"/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9395459" y="4229100"/>
            <a:ext cx="594360" cy="484632"/>
          </a:xfrm>
          <a:prstGeom prst="rect">
            <a:avLst/>
          </a:prstGeom>
        </p:spPr>
      </p:pic>
      <p:pic>
        <p:nvPicPr>
          <p:cNvPr id="83" name="Picture 82" descr="th-76.jpg"/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10058400" y="4229100"/>
            <a:ext cx="594360" cy="484632"/>
          </a:xfrm>
          <a:prstGeom prst="rect">
            <a:avLst/>
          </a:prstGeom>
        </p:spPr>
      </p:pic>
      <p:pic>
        <p:nvPicPr>
          <p:cNvPr id="84" name="Picture 83" descr="th-77.jpg"/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10721340" y="4229100"/>
            <a:ext cx="594360" cy="484632"/>
          </a:xfrm>
          <a:prstGeom prst="rect">
            <a:avLst/>
          </a:prstGeom>
        </p:spPr>
      </p:pic>
      <p:pic>
        <p:nvPicPr>
          <p:cNvPr id="85" name="Picture 84" descr="th-78.jpg"/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11384280" y="4229100"/>
            <a:ext cx="594360" cy="484632"/>
          </a:xfrm>
          <a:prstGeom prst="rect">
            <a:avLst/>
          </a:prstGeom>
        </p:spPr>
      </p:pic>
      <p:pic>
        <p:nvPicPr>
          <p:cNvPr id="86" name="Picture 85" descr="th-79.jpg"/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3429000" y="4782312"/>
            <a:ext cx="594360" cy="484632"/>
          </a:xfrm>
          <a:prstGeom prst="rect">
            <a:avLst/>
          </a:prstGeom>
        </p:spPr>
      </p:pic>
      <p:pic>
        <p:nvPicPr>
          <p:cNvPr id="87" name="Picture 86" descr="th-80.jpg"/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4091939" y="4782312"/>
            <a:ext cx="594360" cy="484632"/>
          </a:xfrm>
          <a:prstGeom prst="rect">
            <a:avLst/>
          </a:prstGeom>
        </p:spPr>
      </p:pic>
      <p:pic>
        <p:nvPicPr>
          <p:cNvPr id="88" name="Picture 87" descr="th-81.jpg"/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4754880" y="4782312"/>
            <a:ext cx="594360" cy="484632"/>
          </a:xfrm>
          <a:prstGeom prst="rect">
            <a:avLst/>
          </a:prstGeom>
        </p:spPr>
      </p:pic>
      <p:pic>
        <p:nvPicPr>
          <p:cNvPr id="89" name="Picture 88" descr="th-82.jpg"/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5417820" y="4782312"/>
            <a:ext cx="594360" cy="484632"/>
          </a:xfrm>
          <a:prstGeom prst="rect">
            <a:avLst/>
          </a:prstGeom>
        </p:spPr>
      </p:pic>
      <p:pic>
        <p:nvPicPr>
          <p:cNvPr id="90" name="Picture 89" descr="th-83.jpg"/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6080760" y="4782312"/>
            <a:ext cx="594360" cy="4846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01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Sacred Letters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"Ya Sin."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6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يس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36:01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02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Wise Qur'an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"We swear by the wise Qur'an."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6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وَٱلْقُرْءَانِ ٱلْحَكِيمِ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36:02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03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Of the Messengers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"Lo! thou art of those sent."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6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إِنَّكَ لَمِنَ ٱلْمُرْسَلِينَ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36:03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04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A Straight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"On a straight path."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6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عَلَىٰ صِرَٰطٍۢ مُّسْتَقِيمٍۢ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36:04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05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Mighty, the Merciful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"A revelation of the Mighty, the Merciful."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6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تَنزِيلَ ٱلْعَزِيزِ ٱلرَّحِيمِ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36:05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06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A Heedless Folk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"That thou mayst warn a folk whose fathers were not warned, so they are heedless."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لِتُنذِرَ قَوْمًۭا مَّآ أُنذِرَ ءَابَآؤُهُمْ فَهُمْ غَٰفِلُونَ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36:06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07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Word Proved True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"Already hath the judgment proved true of most of them, for they believe not."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لَقَدْ حَقَّ ٱلْقَوْلُ عَلَىٰٓ أَكْثَرِهِمْ فَهُمْ لَا يُؤْمِنُونَ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36:07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08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Yokes to the Chin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"We have put on their necks carcans reaching unto the chins, so that they are stiff-necked."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إِنَّا جَعَلْنَا فِىٓ أَعْنَٰقِهِمْ أَغْلَٰلًۭا فَهِىَ إِلَى ٱلْأَذْقَانِ فَهُم مُّقْمَحُونَ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36:08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09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Veil Before and Behind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"We have set a bar before them and a bar behind them, and have covered them so that they see not."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وَجَعَلْنَا مِنۢ بَيْنِ أَيْدِيهِمْ سَدًّۭا وَمِنْ خَلْفِهِمْ سَدًّۭا فَأَغْشَيْنَٰهُمْ فَهُمْ لَا يُبْصِرُونَ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36:09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10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Warn or Not Warn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"Whether thou warn them or warn them not, it is alike for them, for they believe not."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وَسَوَآءٌ عَلَيْهِمْ ءَأَنذَرْتَهُمْ أَمْ لَمْ تُنذِرْهُمْ لَا يُؤْمِنُونَ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36:10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11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Reminder's Followers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"Thou warnest only him who followeth the Reminder and feareth the Beneficent in secret - to him, forgiveness and a rich reward."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إِنَّمَا تُنذِرُ مَنِ ٱتَّبَعَ ٱلذِّكْرَ وَخَشِىَ ٱلرَّحْمَٰنَ بِٱلْغَيْبِ ۖ فَبَشِّرْهُ بِمَغْفِرَةٍۢ وَأَجْرٍۢ كَرِيمٍ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36:11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12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Clear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"We bring the dead to life, and We keep all things recorded in a clear Register."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إِنَّا نَحْنُ نُحْىِ ٱلْمَوْتَىٰ وَنَكْتُبُ مَا قَدَّمُوا۟ وَءَاثَٰرَهُمْ ۚ وَكُلَّ شَىْءٍ أَحْصَيْنَٰهُ فِىٓ إِمَامٍۢ مُّبِينٍۢ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36:12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13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City's Similitude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"Coin for them a similitude: the people of the city when the messengers came unto them."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وَٱضْرِبْ لَهُم مَّثَلًا أَصْحَٰبَ ٱلْقَرْيَةِ إِذْ جَآءَهَا ٱلْمُرْسَلُونَ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36:13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14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Two, Then a Third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"We sent unto them twain, and they denied them both, so We reinforced them with a third."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إِذْ أَرْسَلْنَآ إِلَيْهِمُ ٱثْنَيْنِ فَكَذَّبُوهُمَا فَعَزَّزْنَا بِثَالِثٍۢ فَقَالُوٓا۟ إِنَّآ إِلَيْكُم مُّرْسَلُونَ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36:14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15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Mortals Like Ourselves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"They said: Ye are but mortals like unto us; ye do but lie!"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قَالُوا۟ مَآ أَنتُمْ إِلَّا بَشَرٌۭ مِّثْلُنَا وَمَآ أَنزَلَ ٱلرَّحْمَٰنُ مِن شَىْءٍ إِنْ أَنتُمْ إِلَّا تَكْذِبُونَ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36:15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16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Our Lord Knoweth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"They answered: Our Lord knoweth that we are indeed sent unto you."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قَالُوا۟ رَبُّنَا يَعْلَمُ إِنَّآ إِلَيْكُمْ لَمُرْسَلُونَ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36:16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17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Plain Conveyance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"And our duty is but plain conveyance of the message."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6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وَمَا عَلَيْنَآ إِلَّا ٱلْبَلَٰغُ ٱلْمُبِينُ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36:17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18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We Augur Ill of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"They said: We augur ill of you - if ye desist not, we shall surely stone you."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قَالُوٓا۟ إِنَّا تَطَيَّرْنَا بِكُمْ ۖ لَئِن لَّمْ تَنتَهُوا۟ لَنَرْجُمَنَّكُمْ وَلَيَمَسَّنَّكُم مِّنَّا عَذَابٌ أَلِيمٌۭ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36:18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19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Your Omen Be With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"Your evil augury be with you! Nay, but ye are froward folk!"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قَالُوا۟ طَٰٓئِرُكُم مَّعَكُمْ ۚ أَئِن ذُكِّرْتُمْ ۚ بَلْ أَنتُمْ قَوْمٌۭ مُّسْرِفُونَ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36:19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20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Man from the 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"There came from the uttermost part of the city a man running: O my people, follow those who have been sent!"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وَجَآءَ مِنْ أَقْصَا ٱلْمَدِينَةِ رَجُلٌۭ يَسْعَىٰ قَالَ يَٰقَوْمِ ٱتَّبِعُوا۟ ٱلْمُرْسَلِينَ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36:20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21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Those Who Ask No Fee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"Follow those who ask of you no fee, and who are rightly guided."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ٱتَّبِعُوا۟ مَن لَّا يَسْـَٔلُكُمْ أَجْرًا وَهُمْ مُّهْتَدُونَ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36:21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22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For What Cause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"For what cause should I not serve Him Who hath created me, and unto Whom ye will be brought back?"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وَمَا لِىَ لَآ أَعْبُدُ ٱلَّذِى فَطَرَنِى وَإِلَيْهِ تُرْجَعُونَ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36:22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23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Gods in His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"Shall I take other gods in His place, when their intercession will avail me naught, nor can they save?"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ءَأَتَّخِذُ مِن دُونِهِۦٓ ءَالِهَةً إِن يُرِدْنِ ٱلرَّحْمَٰنُ بِضُرٍّ لَّا تُغْنِ عَنِّى شَفَٰعَتُهُمْ شَيْـًۭٔا وَلَا يُنقِذُونِ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36:23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24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Error Manifest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"Then truly I should be in error manifest."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6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إِنِّىٓ إِذًۭا لَّفِى ضَلَٰلٍۢ مُّبِينٍ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36:24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25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I Have Believed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"Lo! I have believed in your Lord, so hear me!"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6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إِنِّىٓ ءَامَنتُ بِرَبِّكُمْ فَٱسْمَعُونِ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36:25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26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Enter Paradise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"It was said unto him: Enter paradise. He said: Would that my people knew."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قِيلَ ٱدْخُلِ ٱلْجَنَّةَ ۖ قَالَ يَٰلَيْتَ قَوْمِى يَعْلَمُونَ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36:26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27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Honoured 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"With what munificence my Lord hath pardoned me and made me of the honoured ones!"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بِمَا غَفَرَ لِى رَبِّى وَجَعَلَنِى مِنَ ٱلْمُكْرَمِينَ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36:27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28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No Host from Heaven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"We sent not down against his people a host from heaven, nor do We ever send."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وَمَا أَنزَلْنَا عَلَىٰ قَوْمِهِۦ مِنۢ بَعْدِهِۦ مِن جُندٍۢ مِّنَ ٱلسَّمَآءِ وَمَا كُنَّا مُنزِلِينَ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36:28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29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One Shout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"It was but one Shout, and lo! they were extinct."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إِن كَانَتْ إِلَّا صَيْحَةًۭ وَٰحِدَةًۭ فَإِذَا هُمْ خَٰمِدُونَ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36:29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30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Woe to the Bondmen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"Ah, the anguish for the bondmen! Never came a messenger but they mocked him!"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يَٰحَسْرَةً عَلَى ٱلْعِبَادِ ۚ مَا يَأْتِيهِم مِّن رَّسُولٍ إِلَّا كَانُوا۟ بِهِۦ يَسْتَهْزِءُونَ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36:30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31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Generations Destroyed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"Have they not seen how many generations We destroyed before them, which returned not?"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أَلَمْ يَرَوْا۟ كَمْ أَهْلَكْنَا قَبْلَهُم مِّنَ ٱلْقُرُونِ أَنَّهُمْ إِلَيْهِمْ لَا يَرْجِعُونَ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36:31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32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All Brought Before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"But all, without exception, will be brought before Us."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وَإِن كُلٌّۭ لَّمَّا جَمِيعٌۭ لَّدَيْنَا مُحْضَرُونَ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36:32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33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Dead Earth Revived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"A token is the dead earth: We revive it and bring forth grain so that they eat thereof."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وَءَايَةٌۭ لَّهُمُ ٱلْأَرْضُ ٱلْمَيْتَةُ أَحْيَيْنَٰهَا وَأَخْرَجْنَا مِنْهَا حَبًّۭا فَمِنْهُ يَأْكُلُونَ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36:33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34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Gardens of the Date-Palm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"We placed therein gardens of the date-palm and grapes, and springs gushing forth."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وَجَعَلْنَا فِيهَا جَنَّٰتٍۢ مِّن نَّخِيلٍۢ وَأَعْنَٰبٍۢ وَفَجَّرْنَا فِيهَا مِنَ ٱلْعُيُونِ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36:34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35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What Their Hands Made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"That they may eat of the fruit thereof, and their hands made it not. Will they not give thanks?"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لِيَأْكُلُوا۟ مِن ثَمَرِهِۦ وَمَا عَمِلَتْهُ أَيْدِيهِمْ ۖ أَفَلَا يَشْكُرُونَ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36:35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36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All the 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"Glory be to Him Who created all the pairs, of the earth's growth, and of themselves, and of that which they know not!"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سُبْحَٰنَ ٱلَّذِى خَلَقَ ٱلْأَزْوَٰجَ كُلَّهَا مِمَّا تُنۢبِتُ ٱلْأَرْضُ وَمِنْ أَنفُسِهِمْ وَمِمَّا لَا يَعْلَمُونَ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36:36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37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Night Stripped of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"A token is night: We strip it of the day, and lo! they are in darkness."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وَءَايَةٌۭ لَّهُمُ ٱلَّيۡلُ نَسْلَخُ مِنْهُ ٱلنَّهَارَ فَإِذَا هُم مُّظْلِمُونَ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36:37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38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Sun's Resting-Place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"And the sun runneth unto a resting-place for it: that is the measuring of the Mighty, the Wise."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وَٱلشَّمْسُ تَجْرِى لِمُسْتَقَرٍّۢ لَّهَا ۚ ذَٰلِكَ تَقْدِيرُ ٱلْعَزِيزِ ٱلْعَلِيمِ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36:38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39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Moon's Mansions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"For the moon We appointed mansions till she return like an old shrivelled palm-leaf."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وَٱلْقَمَرَ قَدَّرْنَٰهُ مَنَازِلَ حَتَّىٰ عَادَ كَٱلْعُرْجُونِ ٱلْقَدِيمِ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36:39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40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Each in an Orbit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"The sun cannot overtake the moon, nor does night outstrip the day; each floateth in an orbit."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لَا ٱلشَّمْسُ يَنۢبَغِى لَهَآ أَن تُدْرِكَ ٱلْقَمَرَ وَلَا ٱلَّيۡلُ سَابِقُ ٱلنَّهَارِ ۚ وَكُلٌّۭ فِى فَلَكٍۢ يَسْبَحُونَ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36:40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41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Laden 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"A token is that We bear their offspring in the laden ship."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وَءَايَةٌۭ لَّهُمْ أَنَّا حَمَلْنَا ذُرِّيَّتَهُمْ فِى ٱلْفُلْكِ ٱلْمَشْحُونِ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36:41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42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Of the Like Whereon They Ride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"And We created for them of the like thereof whereon they ride."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وَخَلَقْنَا لَهُم مِّن مِّثْلِهِۦ مَا يَرْكَبُونَ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36:42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43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Drowning Without 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"If We will, We drown them, and there is no help for them, neither can they be saved."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وَإِن نَّشَأْ نُغْرِقْهُمْ فَلَا صَرِيخَ لَهُمْ وَلَا هُمْ يُنقَذُونَ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36:43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44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Mercy for a While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"Unless by mercy from Us and as comfort for a while."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إِلَّا رَحْمَةًۭ مِّنَّا وَمَتَٰعًا إِلَىٰ حِينٍۢ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36:44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45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Before You and Behind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"When it is said: Beware of that which is before you and that which is behind you, that haply ye may find mercy."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وَإِذَا قِيلَ لَهُمُ ٱتَّقُوا۟ مَا بَيْنَ أَيْدِيكُمْ وَمَا خَلْفَكُمْ لَعَلَّكُمْ تُرْحَمُونَ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36:45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46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They Turn Away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"Never came a token of their Lord to them, but they turned away from it!"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وَمَا تَأْتِيهِم مِّنْ ءَايَةٍۢ مِّنْ ءَايَٰتِ رَبِّهِمْ إِلَّا كَانُوا۟ عَنْهَا مُعْرِضِينَ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36:46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4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47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Shall We Feed Them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"When it is said: Spend of that Allah hath provided you, they say: Shall we feed them?"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وَإِذَا قِيلَ لَهُمْ أَنفِقُوا۟ مِمَّا رَزَقَكُمُ ٱللَّهُ قَالَ ٱلَّذِينَ كَفَرُوا۟ لِلَّذِينَ ءَامَنُوٓا۟ أَنُطْعِمُ مَن لَّوْ يَشَآءُ ٱللَّهُ أَطْعَمَهُۥٓ إِنْ أَنتُمْ إِلَّا فِى ضَلَٰلٍۢ مُّبِينٍۢ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36:47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48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When This Promise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"And they say: When will this promise be, if ye are truthful?"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وَيَقُولُونَ مَتَىٰ هَٰذَا ٱلْوَعْدُ إِن كُنتُمْ صَٰدِقِينَ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36:48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49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A Shout While Disputing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"They await but one Shout, which will take them while they are disputing."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مَا يَنظُرُونَ إِلَّا صَيْحَةًۭ وَٰحِدَةًۭ تَأْخُذُهُمْ وَهُمْ يَخِصِّمُونَ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36:49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50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No Bequest, No Return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"Then they cannot make bequest, nor can they return to their own folk."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فَلَا يَسْتَطِيعُونَ تَوْصِيَةًۭ وَلَآ إِلَىٰٓ أَهْلِهِمْ يَرْجِعُونَ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36:50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5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51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Trumpet Blown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"And the trumpet is blown, and lo! from the graves they hie unto their Lord."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وَنُفِخَ فِى ٱلصُّورِ فَإِذَا هُم مِّنَ ٱلْأَجْدَاثِ إِلَىٰ رَبِّهِمْ يَنسِلُونَ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36:51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52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Woe Upon 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"They cry: Woe upon us! Who hath raised us from our sleep? The Beneficent did promise, and the messengers spoke truth."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قَالُوا۟ يَٰوَيْلَنَا مَنۢ بَعَثَنَا مِن مَّرْقَدِنَا ۜ ۗ هَٰذَا مَا وَعَدَ ٱلرَّحْمَٰنُ وَصَدَقَ ٱلْمُرْسَلُونَ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36:52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5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53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Assembly Before Him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"It is but one Shout, and behold them assembled before Us!"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إِن كَانَتْ إِلَّا صَيْحَةًۭ وَٰحِدَةًۭ فَإِذَا هُمْ جَمِيعٌۭ لَّدَيْنَا مُحْضَرُونَ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36:53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5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54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No Soul Wronged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"This day no soul is wronged in aught; ye are requited only what ye used to do."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فَٱلْيَوْمَ لَا تُظْلَمُ نَفْسٌۭ شَيْـًۭٔا وَلَا تُجْزَوْنَ إِلَّا مَا كُنتُمْ تَعْمَلُونَ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36:54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5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55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Happily Employed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"Those who merit paradise this day are happily employed."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إِنَّ أَصْحَٰبَ ٱلْجَنَّةِ ٱلْيَوْمَ فِى شُغُلٍۢ فَٰكِهُونَ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36:55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5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56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On Thrones in Shade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"They and their wives, in pleasant shade, upon thrones reclining."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هُمْ وَأَزْوَٰجُهُمْ فِى ظِلَٰلٍ عَلَى ٱلْأَرَآئِكِ مُتَّكِـُٔونَ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36:56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5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57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Fruit and All They 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"Theirs is the fruit of their deeds, and theirs all that they ask."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لَهُمْ فِيهَا فَٰكِهَةٌۭ وَلَهُم مَّا يَدَّعُونَ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36:57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5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58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Peace from the Lord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"The word from a Merciful Lord is: Peace!"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6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سَلَٰمٌۭ قَوْلًۭا مِّن رَّبٍّۢ رَّحِيمٍۢ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36:58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59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59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Depart, O Guilty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"But depart, O guilty ones, this day!"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وَٱمْتَٰزُوا۟ ٱلْيَوْمَ أَيُّهَا ٱلْمُجْرِمُونَ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36:59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5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60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Ancient Charge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"Did I not charge you, O sons of Adam, not to worship the devil - your open foe?"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أَلَمْ أَعْهَدْ إِلَيْكُمْ يَٰبَنِىٓ ءَادَمَ أَن لَّا تَعْبُدُوا۟ ٱلشَّيْطَٰنَ ۖ إِنَّهُۥ لَكُمْ عَدُوٌّۭ مُّبِينٌۭ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36:60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61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Right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"But to worship Me: that was the right path."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وَأَنِ ٱعْبُدُونِ ۚ هَٰذَا صِرَٰطٌۭ مُّسْتَقِيمٌۭ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36:61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62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A Great Multitude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"Yet he hath led astray of you a great multitude. Had ye then no sense?"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وَلَقَدْ أَضَلَّ مِنكُمْ جِبِلًّۭا كَثِيرًا ۖ أَفَلَمْ تَكُونُوا۟ تَعْقِلُونَ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36:62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63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This Is Hell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"This is hell which ye were promised."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6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هَٰذِهِۦ جَهَنَّمُ ٱلَّتِى كُنتُمْ تُوعَدُونَ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36:63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6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64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Burn This 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"Burn therein this day for that ye disbelieved."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ٱصْلَوْهَا ٱلْيَوْمَ بِمَا كُنتُمْ تَكْفُرُونَ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36:64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6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65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Hands That Speak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"This day We seal their mouths; their hands speak and their feet bear witness."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ٱلْيَوْمَ نَخْتِمُ عَلَىٰٓ أَفْوَٰهِهِمْ وَتُكَلِّمُنَآ أَيْدِيهِمْ وَتَشْهَدُ أَرْجُلُهُم بِمَا كَانُوا۟ يَكْسِبُونَ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36:65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6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66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Sight Quenched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"Had We willed, We could have quenched their eyesight. How then could they have seen?"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وَلَوْ نَشَآءُ لَطَمَسْنَا عَلَىٰٓ أَعْيُنِهِمْ فَٱسْتَبَقُوا۟ ٱلصِّرَٰطَ فَأَنَّىٰ يُبْصِرُونَ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36:66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6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67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Fixed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"Had We willed, We could have fixed them in their place, powerless to go forward or back."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وَلَوْ نَشَآءُ لَمَسَخْنَٰهُمْ عَلَىٰ مَكَانَتِهِمْ فَمَا ٱسْتَطَاعُوا۟ مُضِيًّۭا وَلَا يَرْجِعُونَ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36:67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6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68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Reversed in Creation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"Whom We bring to old age, We reverse in creation. Have ye then no sense?"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وَمَن نُّعَمِّرْهُ نُنَكِّسْهُ فِى ٱلْخَلْقِ ۖ أَفَلَا يَعْقِلُونَ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36:68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6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69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Not Poetry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"We have not taught him poetry, nor is it meet for him: this is but a Reminder and a plain Lecture."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وَمَا عَلَّمْنَٰهُ ٱلشِّعْرَ وَمَا يَنۢبَغِى لَهُۥٓ ۚ إِنْ هُوَ إِلَّا ذِكْرٌۭ وَقُرْءَانٌۭ مُّبِينٌۭ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36:69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70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To Warn the Living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"To warn whosoever liveth, and that the word may be fulfilled against the disbelievers."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لِّيُنذِرَ مَن كَانَ حَيًّۭا وَيَحِقَّ ٱلْقَوْلُ عَلَى ٱلْكَٰفِرِينَ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36:70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71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71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Cattle of Our Handiwork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"Have they not seen how We created for them cattle of Our handiwork, so that they are their owners?"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أَوَلَمْ يَرَوْا۟ أَنَّا خَلَقْنَا لَهُم مِّمَّا عَمِلَتْ أَيْدِينَا أَنْعَٰمًا فَهُمْ لَهَا مَٰلِكُونَ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36:71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72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72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Some for Riding, Some for Food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"And We have subdued them: some for riding, some for food."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وَذَلَّلْنَٰهَا لَهُمْ فَمِنْهَا رَكُوبُهُمْ وَمِنْهَا يَأْكُلُونَ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36:72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73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Benefits and Drinks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"Benefits and divers drinks have they from them. Will they not give thanks?"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وَلَهُمْ فِيهَا مَنَٰفِعُ وَمَشَارِبُ ۖ أَفَلَا يَشْكُرُونَ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36:73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7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74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74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Gods Beside Allah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"And they have taken gods beside Allah, in order that they may be helped."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وَٱتَّخَذُوا۟ مِن دُونِ ٱللَّهِ ءَالِهَةًۭ لَّعَلَّهُمْ يُنصَرُونَ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36:74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7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75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No Power to Help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"It is not in their power to help them; they are but a host unto them."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4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لَا يَسْتَطِيعُونَ نَصْرَهُمْ وَهُمْ لَهُمْ جُندٌۭ مُّحْضَرُونَ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36:75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7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76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76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Let Not Their Speech Grieve Thee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"Let not their speech grieve thee: We know what they conceal and what they proclaim."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فَلَا تَحْزُنكَ كَلَامُهُمْ ۘ إِنَّا نَعْلَمُ مَا يُسِرُّونَ وَمَا يُعْلِنُونَ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36:76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7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77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From a Seed-Drop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"Hath not man seen that We created him from a seed-drop, yet he is an open opponent?"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أَوَلَمْ يَرَ ٱلْإِنسَٰنُ أَنَّا خَلَقْنَٰهُ مِن نُّطْفَةٍۢ فَإِذَا هُوَ خَصِيمٌۭ مُّبِينٌۭ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36:77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78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Who Revives the Bones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"And he hath forgotten his creation, saying: Who will revive these bones when they are rotten?"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وَضَرَبَ لَنَا مَثَلًا وَنَسِىَ خَلْقَهُۥ ۖ قَالَ مَن يُحْىِ ٱلْعِظَٰمَ وَهِىَ رَمِيمٌۭ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36:78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7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79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79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He Who Created at First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"Say: He reviveth them Who produced them at the first, Knower of every creation."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قُلْ يُحْيِيهَا ٱلَّذِىٓ أَنشَأَهَا أَوَّلَ مَرَّةٍۢ ۖ وَهُوَ بِكُلِّ خَلْقٍ عَلِيمٌ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36:79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7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80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80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Fire from Green Wood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"Who hath appointed for you fire from the green tree, and behold! ye kindle from it."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ٱلَّذِى جَعَلَ لَكُم مِّنَ ٱلشَّجَرِ ٱلْأَخْضَرِ نَارًا فَإِذَآ أَنتُم مِّنْهُ تُوقِدُونَ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36:80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8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81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81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All-Wise Creator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"Is not He Who created the heavens and the earth Able to create their like? He is the All-Wise Creator."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أَوَلَيْسَ ٱلَّذِى خَلَقَ ٱلسَّمَٰوَٰتِ وَٱلْأَرْضَ بِقَٰدِرٍ عَلَىٰٓ أَن يَخْلُقَ مِثْلَهُم ۚ بَلَىٰ وَهُوَ ٱلْخَلَّٰقُ ٱلْعَلِيمُ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36:81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82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82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Be! and It 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"His command, when He intendeth a thing, is only that He saith unto it: Be! and it is."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إِنَّمَا أَمْرُهُۥٓ إِذَا أَرَادَ شَيْـًۭٔا أَن يَقُولَ لَهُۥ كُن فَيَكُونُ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36:82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434840" cy="6528816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68880" y="4892040"/>
            <a:ext cx="1828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400" b="0" i="0">
                <a:solidFill>
                  <a:srgbClr val="15281E"/>
                </a:solidFill>
                <a:latin typeface="Playfair Display"/>
              </a:rPr>
              <a:t>83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THIRD ART  ·  YASEEN 83 / 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86384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Dominion of 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810512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956816"/>
            <a:ext cx="3611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1">
                <a:solidFill>
                  <a:srgbClr val="D4AF5E"/>
                </a:solidFill>
                <a:latin typeface="Georgia"/>
              </a:rPr>
              <a:t>"Glory be to Him in Whose hand is the dominion of all things! Unto Him ye are brought back."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474720"/>
            <a:ext cx="37947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50000"/>
              </a:lnSpc>
            </a:pPr>
            <a:r>
              <a:rPr sz="1250" b="0" i="0" lang="ar" rtl="1">
                <a:solidFill>
                  <a:srgbClr val="F4EFE3"/>
                </a:solidFill>
                <a:latin typeface="Simplified Arabic"/>
                <a:cs typeface="Simplified Arabic"/>
              </a:rPr>
              <a:t>فَسُبْحَٰنَ ٱلَّذِى بِيَدِهِۦ مَلَكُوتُ كُلِّ شَىْءٍ وَإِلَيْهِ تُرْجَعُونَ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138928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SURA YASEEN (36)  ·  MECCAN REVELATION</a:t>
            </a:r>
          </a:p>
          <a:p>
            <a:pPr algn="l">
              <a:spcAft>
                <a:spcPts val="400"/>
              </a:spcAft>
            </a:pPr>
            <a:r>
              <a:rPr sz="750" b="0" i="0" spc="120">
                <a:solidFill>
                  <a:srgbClr val="9AA79B"/>
                </a:solidFill>
                <a:latin typeface="Jost"/>
              </a:rPr>
              <a:t>JUZ 22-23  ·  MANZIL 5  ·  MUSHAF PAGES 440-445</a:t>
            </a:r>
          </a:p>
          <a:p>
            <a:pPr algn="l"/>
            <a:r>
              <a:rPr sz="750" b="0" i="0" spc="120">
                <a:solidFill>
                  <a:srgbClr val="D4AF5E"/>
                </a:solidFill>
                <a:latin typeface="Jost"/>
              </a:rPr>
              <a:t>VERSE 36:83  ·  VERIFIED, UTHMANI CODEX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566928"/>
            <a:ext cx="6995160" cy="5742432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fit-8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658368"/>
            <a:ext cx="6812280" cy="555955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874519"/>
            <a:ext cx="25603" cy="2514600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38528"/>
            <a:ext cx="4114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 spc="300">
                <a:solidFill>
                  <a:srgbClr val="D4AF5E"/>
                </a:solidFill>
                <a:latin typeface="Jost"/>
              </a:rPr>
              <a:t>PART 04  ·  97 / 103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000" b="0" i="0">
                <a:solidFill>
                  <a:srgbClr val="F4EFE3"/>
                </a:solidFill>
                <a:latin typeface="Playfair Display"/>
              </a:rPr>
              <a:t>The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0332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9AA79B"/>
                </a:solidFill>
                <a:latin typeface="Georgia"/>
              </a:rPr>
              <a:t>Timeline, acquisition, exhibition, and what happens next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PLAN  ·  IV.1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Timeline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78308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148840"/>
            <a:ext cx="2651760" cy="32004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48840"/>
            <a:ext cx="265176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200">
                <a:solidFill>
                  <a:srgbClr val="D4AF5E"/>
                </a:solidFill>
                <a:latin typeface="Jost"/>
              </a:rPr>
              <a:t>Q1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4EFE3"/>
                </a:solidFill>
                <a:latin typeface="Playfair Display"/>
              </a:rPr>
              <a:t>THE 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AA79B"/>
                </a:solidFill>
                <a:latin typeface="Georgia"/>
              </a:rPr>
              <a:t>Calligraphy set for all 83 verses; design proofs for Movements 01-02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6704" y="2148840"/>
            <a:ext cx="2651760" cy="3200400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6704" y="2148840"/>
            <a:ext cx="265176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5304" y="24231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200">
                <a:solidFill>
                  <a:srgbClr val="D4AF5E"/>
                </a:solidFill>
                <a:latin typeface="Jost"/>
              </a:rPr>
              <a:t>Q2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7889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4EFE3"/>
                </a:solidFill>
                <a:latin typeface="Playfair Display"/>
              </a:rPr>
              <a:t>FIRST BREADTH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75304" y="338328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AA79B"/>
                </a:solidFill>
                <a:latin typeface="Georgia"/>
              </a:rPr>
              <a:t>Movements 01-04 (vv. 1-27) produced and photographed; private viewing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2148840"/>
            <a:ext cx="2651760" cy="32004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2148840"/>
            <a:ext cx="265176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4231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200">
                <a:solidFill>
                  <a:srgbClr val="D4AF5E"/>
                </a:solidFill>
                <a:latin typeface="Jost"/>
              </a:rPr>
              <a:t>Q3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7889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4EFE3"/>
                </a:solidFill>
                <a:latin typeface="Playfair Display"/>
              </a:rPr>
              <a:t>THE MIDDLE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38328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AA79B"/>
                </a:solidFill>
                <a:latin typeface="Georgia"/>
              </a:rPr>
              <a:t>Movements 05-08 (vv. 28-54); collection halfway; press and collectors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34272" y="2148840"/>
            <a:ext cx="2651760" cy="3200400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34272" y="2148840"/>
            <a:ext cx="2651760" cy="54864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242316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 spc="200">
                <a:solidFill>
                  <a:srgbClr val="D4AF5E"/>
                </a:solidFill>
                <a:latin typeface="Jost"/>
              </a:rPr>
              <a:t>Q4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27889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F4EFE3"/>
                </a:solidFill>
                <a:latin typeface="Playfair Display"/>
              </a:rPr>
              <a:t>THE CLOSING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3383280"/>
            <a:ext cx="2240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>
                <a:solidFill>
                  <a:srgbClr val="9AA79B"/>
                </a:solidFill>
                <a:latin typeface="Georgia"/>
              </a:rPr>
              <a:t>Movements 09-10 (vv. 55-83); gallery opening, all 83 on the wall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PLAN  ·  IV.2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Acquisition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78308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2103120"/>
            <a:ext cx="3657600" cy="365760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THE FULL COLLECTION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432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241B12"/>
                </a:solidFill>
                <a:latin typeface="Playfair Display"/>
              </a:rPr>
              <a:t>83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3154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The complete surah, movements in order. The intended home of the cycle - wall, reading room, or private museum.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663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6F6A5C"/>
                </a:solidFill>
                <a:latin typeface="Jost"/>
              </a:rPr>
              <a:t>Enquire via the gallery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2103120"/>
            <a:ext cx="3657600" cy="365760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23774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MOVEMENT 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7432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241B12"/>
                </a:solidFill>
                <a:latin typeface="Playfair Display"/>
              </a:rPr>
              <a:t>10 sets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3429000"/>
            <a:ext cx="3154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Each of the ten movements sold as a set, from The Sacred Letters (5) to The Closing (15). A surah in chapters.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7" y="51663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6F6A5C"/>
                </a:solidFill>
                <a:latin typeface="Jost"/>
              </a:rPr>
              <a:t>Enquire via the gallery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0455" y="2103120"/>
            <a:ext cx="3657600" cy="3657600"/>
          </a:xfrm>
          <a:prstGeom prst="rect">
            <a:avLst/>
          </a:prstGeom>
          <a:solidFill>
            <a:srgbClr val="F4EFE3"/>
          </a:solidFill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94776" y="237744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180">
                <a:solidFill>
                  <a:srgbClr val="B98A2E"/>
                </a:solidFill>
                <a:latin typeface="Jost"/>
              </a:rPr>
              <a:t>SINGLE FOLIOS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94776" y="2743200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241B12"/>
                </a:solidFill>
                <a:latin typeface="Playfair Display"/>
              </a:rPr>
              <a:t>83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3429000"/>
            <a:ext cx="3154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Any single verse, one frame. Collectors often take the anchors: 36:25, 36:58, 36:82.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94776" y="5166360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 spc="150">
                <a:solidFill>
                  <a:srgbClr val="6F6A5C"/>
                </a:solidFill>
                <a:latin typeface="Jost"/>
              </a:rPr>
              <a:t>Enquire via the gallery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PLAN  ·  IV.3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The Exhibition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78308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965960"/>
            <a:ext cx="576072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241B12"/>
                </a:solidFill>
                <a:latin typeface="Georgia"/>
              </a:rPr>
              <a:t>One room, one wall, one reading.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All eighty-three frames hang in surah order along the long wall - three courses high where the room allows - so the visitor reads the surah the way it is recited, from the letters to the dominion.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150" b="0" i="0">
                <a:solidFill>
                  <a:srgbClr val="1E1A14"/>
                </a:solidFill>
                <a:latin typeface="Georgia"/>
              </a:rPr>
              <a:t>Movement boundaries carry a small gold plate: the ten names of this deck. The centre of the wall is held by the man of the city, vv. 20-27; the wall ends at Be! and it is, and the visitor leaves by the door that frame opens onto.</a:t>
            </a:r>
          </a:p>
          <a:p>
            <a:pPr algn="l"/>
            <a:r>
              <a:rPr sz="1050" b="0" i="1">
                <a:solidFill>
                  <a:srgbClr val="6F6A5C"/>
                </a:solidFill>
                <a:latin typeface="Georgia"/>
              </a:rPr>
              <a:t>Lighting: warm 3000K, frames at even grazing; wall in deep evergreen; floor traffic in a single reading 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720840" y="2194560"/>
            <a:ext cx="4937760" cy="329184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0" y="2331720"/>
            <a:ext cx="4663440" cy="3017520"/>
          </a:xfrm>
          <a:prstGeom prst="rect">
            <a:avLst/>
          </a:prstGeom>
          <a:noFill/>
          <a:ln w="889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95160" y="246888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52901" y="246888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10642" y="246888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68384" y="246888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426125" y="246888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83867" y="246888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1608" y="246888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99349" y="246888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57091" y="246888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214832" y="246888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72574" y="246888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30315" y="246888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288056" y="246888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995160" y="285292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52901" y="285292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10642" y="285292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68384" y="285292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26125" y="285292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83867" y="285292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1608" y="285292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499349" y="285292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57091" y="285292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214832" y="285292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572574" y="285292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930315" y="285292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288056" y="285292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95160" y="3236976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52901" y="3236976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710642" y="3236976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68384" y="3236976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426125" y="3236976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83867" y="3236976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41608" y="3236976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499349" y="3236976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857091" y="3236976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214832" y="3236976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572574" y="3236976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930315" y="3236976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288056" y="3236976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95160" y="3621024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2901" y="3621024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710642" y="3621024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068384" y="3621024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426125" y="3621024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83867" y="3621024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141608" y="3621024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499349" y="3621024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857091" y="3621024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214832" y="3621024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572574" y="3621024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930315" y="3621024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288056" y="3621024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995160" y="4005072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352901" y="4005072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10642" y="4005072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068384" y="4005072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426125" y="4005072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783867" y="4005072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41608" y="4005072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9499349" y="4005072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9857091" y="4005072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214832" y="4005072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0572574" y="4005072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930315" y="4005072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288056" y="4005072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995160" y="438912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352901" y="438912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710642" y="438912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068384" y="438912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426125" y="438912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83867" y="438912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141608" y="438912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499349" y="438912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857091" y="438912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214832" y="438912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572574" y="438912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930315" y="438912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1288056" y="4389120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995160" y="477316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352901" y="477316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10642" y="477316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68384" y="477316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426125" y="4773168"/>
            <a:ext cx="337624" cy="310896"/>
          </a:xfrm>
          <a:prstGeom prst="rect">
            <a:avLst/>
          </a:prstGeom>
          <a:solidFill>
            <a:srgbClr val="EA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58000" y="519379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 i="0" spc="150">
                <a:solidFill>
                  <a:srgbClr val="9AA79B"/>
                </a:solidFill>
                <a:latin typeface="Jost"/>
              </a:rPr>
              <a:t>83 FRAMES  ·  13 PER COURSE  ·  IN SURAH ORDER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 spc="200">
                <a:solidFill>
                  <a:srgbClr val="D4AF5E"/>
                </a:solidFill>
                <a:latin typeface="Jost"/>
              </a:rPr>
              <a:t>THE PLAN  ·  IV.4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3657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0" i="0">
                <a:solidFill>
                  <a:srgbClr val="F4EFE3"/>
                </a:solidFill>
                <a:latin typeface="Playfair Display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178308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5740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07568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41B12"/>
                </a:solidFill>
                <a:latin typeface="Playfair Display"/>
              </a:rPr>
              <a:t>Commission the artwork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459736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The 83 frames are reserved and sequenced; each is made against its verified verse, in batches of a movement.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12724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41B12"/>
                </a:solidFill>
                <a:latin typeface="Playfair Display"/>
              </a:rPr>
              <a:t>Font installation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511296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Install Playfair Display and Jost (Google Fonts) for exact match; the deck degrades gracefully to Georgia and Arial.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160520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178807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41B12"/>
                </a:solidFill>
                <a:latin typeface="Playfair Display"/>
              </a:rPr>
              <a:t>Print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562856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On completion, every plate ships at 1.5x print resolution (2420 x 1971) as a separate, editable slide - same as the 71-folio set.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212079"/>
            <a:ext cx="731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4AF5E"/>
                </a:solidFill>
                <a:latin typeface="Playfair Display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230367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241B12"/>
                </a:solidFill>
                <a:latin typeface="Playfair Display"/>
              </a:rPr>
              <a:t>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5614416"/>
            <a:ext cx="10241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 i="0">
                <a:solidFill>
                  <a:srgbClr val="1E1A14"/>
                </a:solidFill>
                <a:latin typeface="Georgia"/>
              </a:rPr>
              <a:t>All 83 verses already verified against the Uthmani codex (alquran.cloud, 19 Sep 2026) with Pickthall renderings; the inventory CSV is the release checklist.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0A1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3108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50" b="0" i="0" spc="150">
                <a:solidFill>
                  <a:srgbClr val="D4AF5E"/>
                </a:solidFill>
                <a:latin typeface="Jost"/>
              </a:rPr>
              <a:t>BIYA GALLERY  ·  ART &amp; CRAFT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6528816"/>
            <a:ext cx="4983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50" b="0" i="1">
                <a:solidFill>
                  <a:srgbClr val="9AA79B"/>
                </a:solidFill>
                <a:latin typeface="Georgia"/>
              </a:rPr>
              <a:t>Original art, Thread Art, poetry and craft from Lahore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6528816"/>
            <a:ext cx="3090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750" b="0" i="0" spc="150">
                <a:solidFill>
                  <a:srgbClr val="D4AF5E"/>
                </a:solidFill>
                <a:latin typeface="Jost"/>
              </a:rPr>
              <a:t>COLLECTION  ·  SERVICES  ·  POETRY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EFE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F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2700">
            <a:solidFill>
              <a:srgbClr val="B9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0" i="0" lang="ar" rtl="1">
                <a:solidFill>
                  <a:srgbClr val="D4AF5E"/>
                </a:solidFill>
                <a:latin typeface="Simplified Arabic"/>
                <a:cs typeface="Simplified Arabic"/>
              </a:rPr>
              <a:t>كُن فَيَكُونُ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289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0" i="0">
                <a:solidFill>
                  <a:srgbClr val="F4EFE3"/>
                </a:solidFill>
                <a:latin typeface="Playfair Display"/>
              </a:rPr>
              <a:t>Be! and it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 spc="250">
                <a:solidFill>
                  <a:srgbClr val="9AA79B"/>
                </a:solidFill>
                <a:latin typeface="Jost"/>
              </a:rPr>
              <a:t>SURAH YASEEN  36:82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10047" y="4114800"/>
            <a:ext cx="1371600" cy="20116"/>
          </a:xfrm>
          <a:prstGeom prst="rect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62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F4EFE3"/>
                </a:solidFill>
                <a:latin typeface="Georgia"/>
              </a:rPr>
              <a:t>Biya Gallery  ·  Art &amp; Craft  ·  Lahore</a:t>
            </a:r>
          </a:p>
          <a:p>
            <a:pPr algn="ctr"/>
            <a:r>
              <a:rPr sz="1050" b="0" i="1">
                <a:solidFill>
                  <a:srgbClr val="9AA79B"/>
                </a:solidFill>
                <a:latin typeface="Georgia"/>
              </a:rPr>
              <a:t>Original art, Thread Art, poetry and craft - inquiries through the gallery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800" b="0" i="0" spc="250">
                <a:solidFill>
                  <a:srgbClr val="6F6A5C"/>
                </a:solidFill>
                <a:latin typeface="Jost"/>
              </a:rPr>
              <a:t>THE SACRED LETTERS EDITION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