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Relationship Id="rId47" Type="http://schemas.openxmlformats.org/officeDocument/2006/relationships/image" Target="../media/image46.jpg"/><Relationship Id="rId48" Type="http://schemas.openxmlformats.org/officeDocument/2006/relationships/image" Target="../media/image47.jpg"/><Relationship Id="rId49" Type="http://schemas.openxmlformats.org/officeDocument/2006/relationships/image" Target="../media/image48.jpg"/><Relationship Id="rId50" Type="http://schemas.openxmlformats.org/officeDocument/2006/relationships/image" Target="../media/image49.jpg"/><Relationship Id="rId51" Type="http://schemas.openxmlformats.org/officeDocument/2006/relationships/image" Target="../media/image50.jpg"/><Relationship Id="rId52" Type="http://schemas.openxmlformats.org/officeDocument/2006/relationships/image" Target="../media/image51.jpg"/><Relationship Id="rId53" Type="http://schemas.openxmlformats.org/officeDocument/2006/relationships/image" Target="../media/image52.jpg"/><Relationship Id="rId54" Type="http://schemas.openxmlformats.org/officeDocument/2006/relationships/image" Target="../media/image53.jpg"/><Relationship Id="rId55" Type="http://schemas.openxmlformats.org/officeDocument/2006/relationships/image" Target="../media/image54.jpg"/><Relationship Id="rId56" Type="http://schemas.openxmlformats.org/officeDocument/2006/relationships/image" Target="../media/image55.jpg"/><Relationship Id="rId57" Type="http://schemas.openxmlformats.org/officeDocument/2006/relationships/image" Target="../media/image56.jpg"/><Relationship Id="rId58" Type="http://schemas.openxmlformats.org/officeDocument/2006/relationships/image" Target="../media/image57.jpg"/><Relationship Id="rId59" Type="http://schemas.openxmlformats.org/officeDocument/2006/relationships/image" Target="../media/image58.jpg"/><Relationship Id="rId60" Type="http://schemas.openxmlformats.org/officeDocument/2006/relationships/image" Target="../media/image59.jpg"/><Relationship Id="rId61" Type="http://schemas.openxmlformats.org/officeDocument/2006/relationships/image" Target="../media/image60.jpg"/><Relationship Id="rId62" Type="http://schemas.openxmlformats.org/officeDocument/2006/relationships/image" Target="../media/image61.jpg"/><Relationship Id="rId63" Type="http://schemas.openxmlformats.org/officeDocument/2006/relationships/image" Target="../media/image62.jpg"/><Relationship Id="rId64" Type="http://schemas.openxmlformats.org/officeDocument/2006/relationships/image" Target="../media/image63.jpg"/><Relationship Id="rId65" Type="http://schemas.openxmlformats.org/officeDocument/2006/relationships/image" Target="../media/image64.jpg"/><Relationship Id="rId66" Type="http://schemas.openxmlformats.org/officeDocument/2006/relationships/image" Target="../media/image65.jpg"/><Relationship Id="rId67" Type="http://schemas.openxmlformats.org/officeDocument/2006/relationships/image" Target="../media/image66.jpg"/><Relationship Id="rId68" Type="http://schemas.openxmlformats.org/officeDocument/2006/relationships/image" Target="../media/image67.jpg"/><Relationship Id="rId69" Type="http://schemas.openxmlformats.org/officeDocument/2006/relationships/image" Target="../media/image68.jpg"/><Relationship Id="rId70" Type="http://schemas.openxmlformats.org/officeDocument/2006/relationships/image" Target="../media/image69.jpg"/><Relationship Id="rId71" Type="http://schemas.openxmlformats.org/officeDocument/2006/relationships/image" Target="../media/image70.jpg"/><Relationship Id="rId72" Type="http://schemas.openxmlformats.org/officeDocument/2006/relationships/image" Target="../media/image7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524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" y="402336"/>
            <a:ext cx="11387023" cy="6053328"/>
          </a:xfrm>
          <a:prstGeom prst="rect">
            <a:avLst/>
          </a:prstGeom>
          <a:noFill/>
          <a:ln w="635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300">
                <a:solidFill>
                  <a:srgbClr val="D4AF5E"/>
                </a:solidFill>
                <a:latin typeface="Jost"/>
              </a:rPr>
              <a:t>BIYA GALLERY  ·  THE THIRD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0" i="0">
                <a:solidFill>
                  <a:srgbClr val="F4EFE3"/>
                </a:solidFill>
                <a:latin typeface="Playfair Display"/>
              </a:rPr>
              <a:t>Surah Ar-Rahman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 spc="300">
                <a:solidFill>
                  <a:srgbClr val="D4AF5E"/>
                </a:solidFill>
                <a:latin typeface="Jost"/>
              </a:rPr>
              <a:t>THE FAVOURS OF THE BENEFICENT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 i="1">
                <a:solidFill>
                  <a:srgbClr val="F4EFE3"/>
                </a:solidFill>
                <a:latin typeface="Playfair Display"/>
              </a:rPr>
              <a:t>Seventy-One Handmade Folios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047" y="388620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 spc="250">
                <a:solidFill>
                  <a:srgbClr val="D4AF5E"/>
                </a:solidFill>
                <a:latin typeface="Jost"/>
              </a:rPr>
              <a:t>MASTER ACQUISITION PITCH</a:t>
            </a:r>
          </a:p>
          <a:p>
            <a:pPr algn="ctr"/>
            <a:r>
              <a:rPr sz="1200" b="0" i="1">
                <a:solidFill>
                  <a:srgbClr val="9AA79B"/>
                </a:solidFill>
                <a:latin typeface="Georgia"/>
              </a:rPr>
              <a:t>Prepared for National Assad  ·  Museum &amp; Exhibition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F4EFE3"/>
                </a:solidFill>
                <a:latin typeface="Georgia"/>
              </a:rPr>
              <a:t>One verse, one frame - a complete surah, read wall to wall.</a:t>
            </a:r>
          </a:p>
          <a:p>
            <a:pPr algn="ctr"/>
            <a:r>
              <a:rPr sz="900" b="0" i="0" spc="150">
                <a:solidFill>
                  <a:srgbClr val="9AA79B"/>
                </a:solidFill>
                <a:latin typeface="Jost"/>
              </a:rPr>
              <a:t>Physical display  ·  Digital previews  ·  Investment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50">
                <a:solidFill>
                  <a:srgbClr val="6F6A5C"/>
                </a:solidFill>
                <a:latin typeface="Jost"/>
              </a:rPr>
              <a:t>BIYA GALLERY  ·  LAHORE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50">
                <a:solidFill>
                  <a:srgbClr val="D4AF5E"/>
                </a:solidFill>
                <a:latin typeface="Jost"/>
              </a:rPr>
              <a:t>BIYA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4EFE3"/>
                </a:solidFill>
                <a:latin typeface="Playfair Display"/>
              </a:rPr>
              <a:t>Contents</a:t>
            </a:r>
          </a:p>
          <a:p>
            <a:pPr algn="l">
              <a:spcBef>
                <a:spcPts val="600"/>
              </a:spcBef>
            </a:pPr>
            <a:r>
              <a:rPr sz="1600" b="0" i="1">
                <a:solidFill>
                  <a:srgbClr val="D4AF5E"/>
                </a:solidFill>
                <a:latin typeface="Playfair Display"/>
              </a:rPr>
              <a:t>Master Pitch - 71 Folios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Seventy-one original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Thread Art panels of the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Favours of the Beneficent cycle,</a:t>
            </a:r>
          </a:p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framed for a national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6F6A5C"/>
                </a:solidFill>
                <a:latin typeface="Jost"/>
              </a:rPr>
              <a:t>BIYA GALLERY · ART &amp; CRAFT · LAHORE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85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4183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Title &amp;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35607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title, the project, why it is a masterpiece, the founder, the 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9418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075688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1671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231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916936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Complete overview, process, materials, content architecture, exhibition concept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4231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557016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6484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9044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Seventy-One Folios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398264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Every folio on its own slide - image attached, verse verified, Arabic and 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90448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5038344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51297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38581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Acquisition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87959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Investment value, acquisition options, inquiries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538581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Title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What this collection is, why it is a masterpiece, and who makes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TITLE &amp; VISION  ·  I.1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The Title &amp; the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943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B98A2E"/>
                </a:solidFill>
                <a:latin typeface="Playfair Display"/>
              </a:rPr>
              <a:t>Surah Ar-Rahman - The Favours of the Beneficent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Seventy-one handmade folios: a complete Quranic verse cycle, one verse per frame, executed in the Third Art thread practice and presented for national acquisition.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The vision is simple and singular: that a surah called the favours of the Beneficent should have a national home - wall to wall, folio to folio, readable the way it is recited, and preserved in archive-grade form for the next hundred years.</a:t>
            </a:r>
          </a:p>
          <a:p>
            <a:pPr algn="l">
              <a:lnSpc>
                <a:spcPct val="150000"/>
              </a:lnSpc>
            </a:pPr>
            <a:r>
              <a:rPr sz="1150" b="0" i="1">
                <a:solidFill>
                  <a:srgbClr val="1E1A14"/>
                </a:solidFill>
                <a:latin typeface="Georgia"/>
              </a:rPr>
              <a:t>Each folio is an original work - not a print. The collection is complete, numbered, and catalogued; it can hang as one composition or as a decade of exhibitions.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920240"/>
            <a:ext cx="4800600" cy="41148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0" y="2057400"/>
            <a:ext cx="4526280" cy="38404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331720"/>
            <a:ext cx="4069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00">
                <a:solidFill>
                  <a:srgbClr val="D4AF5E"/>
                </a:solidFill>
                <a:latin typeface="Jost"/>
              </a:rPr>
              <a:t>THE COLLECTION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834640"/>
            <a:ext cx="4343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0" i="0">
                <a:solidFill>
                  <a:srgbClr val="F4EFE3"/>
                </a:solidFill>
                <a:latin typeface="Playfair Display"/>
              </a:rPr>
              <a:t>FOLIO 01 - 71</a:t>
            </a:r>
          </a:p>
          <a:p>
            <a:pPr algn="ctr"/>
            <a:r>
              <a:rPr sz="900" b="0" i="0" spc="150">
                <a:solidFill>
                  <a:srgbClr val="9AA79B"/>
                </a:solidFill>
                <a:latin typeface="Jost"/>
              </a:rPr>
              <a:t>one verse · one frame · one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4114800"/>
            <a:ext cx="4069080" cy="12801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343400"/>
            <a:ext cx="4343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9AA79B"/>
                </a:solidFill>
                <a:latin typeface="Georgia"/>
              </a:rPr>
              <a:t>69 photographed · 2 reserved</a:t>
            </a:r>
          </a:p>
          <a:p>
            <a:pPr algn="ctr">
              <a:spcAft>
                <a:spcPts val="500"/>
              </a:spcAft>
            </a:pPr>
            <a:r>
              <a:rPr sz="1050" b="0" i="0">
                <a:solidFill>
                  <a:srgbClr val="9AA79B"/>
                </a:solidFill>
                <a:latin typeface="Georgia"/>
              </a:rPr>
              <a:t>verses of Surah Ar-Rahman (55)</a:t>
            </a:r>
          </a:p>
          <a:p>
            <a:pPr algn="ctr"/>
            <a:r>
              <a:rPr sz="1050" b="0" i="1">
                <a:solidFill>
                  <a:srgbClr val="9AA79B"/>
                </a:solidFill>
                <a:latin typeface="Georgia"/>
              </a:rPr>
              <a:t>the refrain returns 31 times as a folio of its 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PROJECT  ·  I.2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Introduction -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What this is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200" b="0" i="0">
                <a:solidFill>
                  <a:srgbClr val="1E1A14"/>
                </a:solidFill>
                <a:latin typeface="Georgia"/>
              </a:rPr>
              <a:t>A complete, hand-executed Quranic art collection: seventy-one original panels, each painting one verse from the Favours of the Beneficent cycle, framed in the gallery's signature gold-edge presentation and photographed at archival resolution.</a:t>
            </a:r>
          </a:p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What makes it different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200" b="0" i="0">
                <a:solidFill>
                  <a:srgbClr val="1E1A14"/>
                </a:solidFill>
                <a:latin typeface="Georgia"/>
              </a:rPr>
              <a:t>It is not a print run and not a reproduction. Every panel is worked by hand in the Third Art practice - original art, Thread Art, poetry and craft from Lahore - and every verse is verified against the Uthmani codex and set with its English rendering on the folio record, so the collection stands as both an artwork and a readable surah.</a:t>
            </a:r>
          </a:p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What this deck is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1E1A14"/>
                </a:solidFill>
                <a:latin typeface="Georgia"/>
              </a:rPr>
              <a:t>The master acquisition pitch for national museum and exhibition partners: the complete collection presented folio by folio (71 slides, every image attached), with the physical display strategy, the digital preview system, and the investment case for taking the collection into a national home.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PROJECT  ·  I.3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Why It Is a Masterpiece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VERSE AS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Each panel is a single verse made into a picture: calligraphy, ground, and field composed for that verse alone. The collection cannot be reduced to decoration - it is a reading.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ONE HAND, ONE CHAPTER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Seventy-one panels, one artist, one unbroken season of work. The uniformity of hand across the cycle is what makes it a single composition rather than a set.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THE REFRAIN AS HEARTBEAT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surah's question - 'Then which of the favours of your Lord will ye deny?' - returns 31 times as a folio of its own: a rhythm built into the architecture of the wall.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965960"/>
            <a:ext cx="2697480" cy="393192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UNREPEATABLE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517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" b="0" i="0">
                <a:solidFill>
                  <a:srgbClr val="1E1A14"/>
                </a:solidFill>
                <a:latin typeface="Georgia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97480"/>
            <a:ext cx="23317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Handmade originals cannot be re-run. Once acquired and installed, the cycle exists in exactly one place on earth. That scarcity is the basis of its investment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914400"/>
            <a:ext cx="3108960" cy="3108960"/>
          </a:xfrm>
          <a:prstGeom prst="rect">
            <a:avLst/>
          </a:prstGeom>
          <a:noFill/>
          <a:ln w="1524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" y="1033271"/>
            <a:ext cx="2871216" cy="2871216"/>
          </a:xfrm>
          <a:prstGeom prst="rect">
            <a:avLst/>
          </a:prstGeom>
          <a:noFill/>
          <a:ln w="635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0" i="0">
                <a:solidFill>
                  <a:srgbClr val="D4AF5E"/>
                </a:solidFill>
                <a:latin typeface="Playfair Display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300">
                <a:solidFill>
                  <a:srgbClr val="F4EFE3"/>
                </a:solidFill>
                <a:latin typeface="Jost"/>
              </a:rPr>
              <a:t>THE THIRD ART</a:t>
            </a:r>
          </a:p>
          <a:p>
            <a:pPr algn="ctr">
              <a:spcBef>
                <a:spcPts val="400"/>
              </a:spcBef>
            </a:pPr>
            <a:r>
              <a:rPr sz="1000" b="0" i="1">
                <a:solidFill>
                  <a:srgbClr val="9AA79B"/>
                </a:solidFill>
                <a:latin typeface="Georgia"/>
              </a:rPr>
              <a:t>founded &amp; practised in Lahore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0" i="0">
                <a:solidFill>
                  <a:srgbClr val="F4EFE3"/>
                </a:solidFill>
                <a:latin typeface="Playfair Display"/>
              </a:rPr>
              <a:t>BIYA JEE</a:t>
            </a:r>
          </a:p>
          <a:p>
            <a:pPr algn="ctr">
              <a:spcBef>
                <a:spcPts val="600"/>
              </a:spcBef>
            </a:pPr>
            <a:r>
              <a:rPr sz="800" b="0" i="0" spc="150">
                <a:solidFill>
                  <a:srgbClr val="9AA79B"/>
                </a:solidFill>
                <a:latin typeface="Jost"/>
              </a:rPr>
              <a:t>Founder &amp; Artist, Biya Gallery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064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 spc="200">
                <a:solidFill>
                  <a:srgbClr val="D4AF5E"/>
                </a:solidFill>
                <a:latin typeface="Jost"/>
              </a:rPr>
              <a:t>PRACTICE SINCE 1985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56692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THE FOUNDER  ·  I.4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896112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241B12"/>
                </a:solidFill>
                <a:latin typeface="Playfair Display"/>
              </a:rPr>
              <a:t>Biya Jee - First Lady of Third 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011680"/>
            <a:ext cx="6446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Biya Jee founded Biya Gallery Art &amp; Craft in Lahore and named its practice the Third Art - the joining of original art, Thread Art, poetry and craft into one working discipline. The gallery's archive describes her as the First Lady of Third Art, a practice held since 1985.</a:t>
            </a:r>
          </a:p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The 71-folio Favours of the Beneficent cycle is her signature work: a complete surah taken verse by verse and executed by hand over a single unbroken campaign, then presented as one composition. It is the first complete handmade Quranic verse cycle of its kind to enter the market.</a:t>
            </a:r>
          </a:p>
          <a:p>
            <a:pPr algn="l">
              <a:lnSpc>
                <a:spcPct val="155000"/>
              </a:lnSpc>
            </a:pPr>
            <a:r>
              <a:rPr sz="1150" b="0" i="1">
                <a:solidFill>
                  <a:srgbClr val="1E1A14"/>
                </a:solidFill>
                <a:latin typeface="Georgia"/>
              </a:rPr>
              <a:t>Every folio in this deck carries her hand. The collection's value is inseparable from its author: one artist, one chapter, one lifetime practice.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PROJECT  ·  I.5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Project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1">
                <a:solidFill>
                  <a:srgbClr val="B98A2E"/>
                </a:solidFill>
                <a:latin typeface="Playfair Display"/>
              </a:rPr>
              <a:t>Preserve  ·  Legacy  · 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Preserve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Archive-grade execution, 4K masters and 1.5x print sets for every folio, so the collection survives as an object and as a record.</a:t>
            </a:r>
          </a:p>
          <a:p>
            <a:pPr algn="l">
              <a:spcAft>
                <a:spcPts val="4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Legacy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A national home for a complete surah in handmade form - a permanent installation that becomes the city's reading of the Favours of the Beneficent.</a:t>
            </a:r>
          </a:p>
          <a:p>
            <a:pPr algn="l">
              <a:spcAft>
                <a:spcPts val="4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Bridge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E1A14"/>
                </a:solidFill>
                <a:latin typeface="Georgia"/>
              </a:rPr>
              <a:t>A bridge between the recited word and the seen image: visitors read wall to wall while the surah plays, then carry the digital preview with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834640"/>
            <a:ext cx="51206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2971800"/>
            <a:ext cx="4846320" cy="29260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2461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180">
                <a:solidFill>
                  <a:srgbClr val="D4AF5E"/>
                </a:solidFill>
                <a:latin typeface="Jost"/>
              </a:rPr>
              <a:t>WHAT A NATIONAL PARTNER RECEIVES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65760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71 numbered originals with catalogue record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4K + 1.5x print masters of every folio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Verified verse record (Uthmani codex + English)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050" b="0" i="0">
                <a:solidFill>
                  <a:srgbClr val="F4EFE3"/>
                </a:solidFill>
                <a:latin typeface="Georgia"/>
              </a:rPr>
              <a:t>Exhibition system: wall plan, lighting, digital previews</a:t>
            </a: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4EFE3"/>
                </a:solidFill>
                <a:latin typeface="Georgia"/>
              </a:rPr>
              <a:t>Touring capability from day 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How it was made, what it is made of, how it is organised, and how it hangs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Complete Collection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243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FOLIOS IN THE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986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one verse per frame, F01 - F71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69 + 2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6243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PHOTOGRAPHED + 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8986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two frames awaiting final photography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6243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SURAH AR-RAHMAN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8986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Medinan surah · 78 verses · 'The Beneficent'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245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REFRAIN FOLIOS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988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surah's question, each as its own panel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5661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2245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CHAPTERS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4988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collection reads in ten movements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5661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B98A2E"/>
                </a:solidFill>
                <a:latin typeface="Playfair Display"/>
              </a:rPr>
              <a:t>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2245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241B12"/>
                </a:solidFill>
                <a:latin typeface="Jost"/>
              </a:rPr>
              <a:t>WORKING MASTERS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49884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1613 x 1314 px per folio · 1.5x print 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1">
                <a:solidFill>
                  <a:srgbClr val="6F6A5C"/>
                </a:solidFill>
                <a:latin typeface="Georgia"/>
              </a:rPr>
              <a:t>Verse integrity: every folio is labelled with the actual verse it depicts, transcribed from the panel and verified against the Uthmani codex (alquran.cloud, 19 Sep 2026). Refrain panels carry the refrain; 18 refrain panels are flagged 'verify' in the inventory for final numbering against the physical frame before release.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71 FOLIOS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4EFE3"/>
                </a:solidFill>
                <a:latin typeface="Playfair Display"/>
              </a:rPr>
              <a:t>Seventy-one</a:t>
            </a:r>
          </a:p>
          <a:p>
            <a:pPr algn="l">
              <a:spcBef>
                <a:spcPts val="500"/>
              </a:spcBef>
            </a:pPr>
            <a:r>
              <a:rPr sz="1400" b="0" i="1">
                <a:solidFill>
                  <a:srgbClr val="D4AF5E"/>
                </a:solidFill>
                <a:latin typeface="Playfair Display"/>
              </a:rPr>
              <a:t>folios, in display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9AA79B"/>
                </a:solidFill>
                <a:latin typeface="Georgia"/>
              </a:rPr>
              <a:t>Read left to right, top to bottom. Gold-bordered numbers are the folio catalogue numbers.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Frames 04 and 46 are reserved - photography pending; every other slide in this deck carries its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 spc="150">
                <a:solidFill>
                  <a:srgbClr val="6F6A5C"/>
                </a:solidFill>
                <a:latin typeface="Jost"/>
              </a:rPr>
              <a:t>BIYA GALLERY · ART &amp; CRAFT</a:t>
            </a:r>
          </a:p>
        </p:txBody>
      </p:sp>
      <p:pic>
        <p:nvPicPr>
          <p:cNvPr id="8" name="Picture 7" descr="th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77240"/>
            <a:ext cx="73152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29000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01</a:t>
            </a:r>
          </a:p>
        </p:txBody>
      </p:sp>
      <p:pic>
        <p:nvPicPr>
          <p:cNvPr id="10" name="Picture 9" descr="th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244" y="777240"/>
            <a:ext cx="73152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38244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02</a:t>
            </a:r>
          </a:p>
        </p:txBody>
      </p:sp>
      <p:pic>
        <p:nvPicPr>
          <p:cNvPr id="12" name="Picture 11" descr="th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777240"/>
            <a:ext cx="73152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47488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03</a:t>
            </a:r>
          </a:p>
        </p:txBody>
      </p:sp>
      <p:pic>
        <p:nvPicPr>
          <p:cNvPr id="14" name="Picture 13" descr="th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777240"/>
            <a:ext cx="731520" cy="594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56732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04</a:t>
            </a:r>
          </a:p>
        </p:txBody>
      </p:sp>
      <p:pic>
        <p:nvPicPr>
          <p:cNvPr id="16" name="Picture 15" descr="th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777240"/>
            <a:ext cx="731520" cy="594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65976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05</a:t>
            </a:r>
          </a:p>
        </p:txBody>
      </p:sp>
      <p:pic>
        <p:nvPicPr>
          <p:cNvPr id="18" name="Picture 17" descr="th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5220" y="777240"/>
            <a:ext cx="731520" cy="594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75220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06</a:t>
            </a:r>
          </a:p>
        </p:txBody>
      </p:sp>
      <p:pic>
        <p:nvPicPr>
          <p:cNvPr id="20" name="Picture 19" descr="th0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777240"/>
            <a:ext cx="731520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84464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07</a:t>
            </a:r>
          </a:p>
        </p:txBody>
      </p:sp>
      <p:pic>
        <p:nvPicPr>
          <p:cNvPr id="22" name="Picture 21" descr="th0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3708" y="777240"/>
            <a:ext cx="731520" cy="594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93708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08</a:t>
            </a:r>
          </a:p>
        </p:txBody>
      </p:sp>
      <p:pic>
        <p:nvPicPr>
          <p:cNvPr id="24" name="Picture 23" descr="th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2952" y="777240"/>
            <a:ext cx="731520" cy="594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2952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09</a:t>
            </a:r>
          </a:p>
        </p:txBody>
      </p:sp>
      <p:pic>
        <p:nvPicPr>
          <p:cNvPr id="26" name="Picture 25" descr="th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12196" y="777240"/>
            <a:ext cx="731520" cy="5943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712196" y="137617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10</a:t>
            </a:r>
          </a:p>
        </p:txBody>
      </p:sp>
      <p:pic>
        <p:nvPicPr>
          <p:cNvPr id="28" name="Picture 27" descr="th1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9000" y="1449324"/>
            <a:ext cx="731520" cy="594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29000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11</a:t>
            </a:r>
          </a:p>
        </p:txBody>
      </p:sp>
      <p:pic>
        <p:nvPicPr>
          <p:cNvPr id="30" name="Picture 29" descr="th1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38244" y="1449324"/>
            <a:ext cx="731520" cy="594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38244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12</a:t>
            </a:r>
          </a:p>
        </p:txBody>
      </p:sp>
      <p:pic>
        <p:nvPicPr>
          <p:cNvPr id="32" name="Picture 31" descr="th1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47488" y="1449324"/>
            <a:ext cx="731520" cy="594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47488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13</a:t>
            </a:r>
          </a:p>
        </p:txBody>
      </p:sp>
      <p:pic>
        <p:nvPicPr>
          <p:cNvPr id="34" name="Picture 33" descr="th1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56732" y="1449324"/>
            <a:ext cx="731520" cy="5943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56732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14</a:t>
            </a:r>
          </a:p>
        </p:txBody>
      </p:sp>
      <p:pic>
        <p:nvPicPr>
          <p:cNvPr id="36" name="Picture 35" descr="th1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5976" y="1449324"/>
            <a:ext cx="731520" cy="5943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65976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15</a:t>
            </a:r>
          </a:p>
        </p:txBody>
      </p:sp>
      <p:pic>
        <p:nvPicPr>
          <p:cNvPr id="38" name="Picture 37" descr="th1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75220" y="1449324"/>
            <a:ext cx="731520" cy="5943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75220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16</a:t>
            </a:r>
          </a:p>
        </p:txBody>
      </p:sp>
      <p:pic>
        <p:nvPicPr>
          <p:cNvPr id="40" name="Picture 39" descr="th17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84464" y="1449324"/>
            <a:ext cx="731520" cy="59436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84464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17</a:t>
            </a:r>
          </a:p>
        </p:txBody>
      </p:sp>
      <p:pic>
        <p:nvPicPr>
          <p:cNvPr id="42" name="Picture 41" descr="th1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93708" y="1449324"/>
            <a:ext cx="731520" cy="59436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93708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18</a:t>
            </a:r>
          </a:p>
        </p:txBody>
      </p:sp>
      <p:pic>
        <p:nvPicPr>
          <p:cNvPr id="44" name="Picture 43" descr="th19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2952" y="1449324"/>
            <a:ext cx="731520" cy="5943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02952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19</a:t>
            </a:r>
          </a:p>
        </p:txBody>
      </p:sp>
      <p:pic>
        <p:nvPicPr>
          <p:cNvPr id="46" name="Picture 45" descr="th20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12196" y="1449324"/>
            <a:ext cx="731520" cy="59436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712196" y="2048255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20</a:t>
            </a:r>
          </a:p>
        </p:txBody>
      </p:sp>
      <p:pic>
        <p:nvPicPr>
          <p:cNvPr id="48" name="Picture 47" descr="th21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0" y="2121408"/>
            <a:ext cx="731520" cy="59436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429000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21</a:t>
            </a:r>
          </a:p>
        </p:txBody>
      </p:sp>
      <p:pic>
        <p:nvPicPr>
          <p:cNvPr id="50" name="Picture 49" descr="th22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38244" y="2121408"/>
            <a:ext cx="731520" cy="5943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238244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22</a:t>
            </a:r>
          </a:p>
        </p:txBody>
      </p:sp>
      <p:pic>
        <p:nvPicPr>
          <p:cNvPr id="52" name="Picture 51" descr="th23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47488" y="2121408"/>
            <a:ext cx="731520" cy="5943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047488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23</a:t>
            </a:r>
          </a:p>
        </p:txBody>
      </p:sp>
      <p:pic>
        <p:nvPicPr>
          <p:cNvPr id="54" name="Picture 53" descr="th24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856732" y="2121408"/>
            <a:ext cx="731520" cy="59436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56732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24</a:t>
            </a:r>
          </a:p>
        </p:txBody>
      </p:sp>
      <p:pic>
        <p:nvPicPr>
          <p:cNvPr id="56" name="Picture 55" descr="th25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65976" y="2121408"/>
            <a:ext cx="731520" cy="5943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665976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25</a:t>
            </a:r>
          </a:p>
        </p:txBody>
      </p:sp>
      <p:pic>
        <p:nvPicPr>
          <p:cNvPr id="58" name="Picture 57" descr="th26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75220" y="2121408"/>
            <a:ext cx="731520" cy="5943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75220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26</a:t>
            </a:r>
          </a:p>
        </p:txBody>
      </p:sp>
      <p:pic>
        <p:nvPicPr>
          <p:cNvPr id="60" name="Picture 59" descr="th27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4464" y="2121408"/>
            <a:ext cx="731520" cy="59436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284464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27</a:t>
            </a:r>
          </a:p>
        </p:txBody>
      </p:sp>
      <p:pic>
        <p:nvPicPr>
          <p:cNvPr id="62" name="Picture 61" descr="th28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093708" y="2121408"/>
            <a:ext cx="731520" cy="59436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093708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28</a:t>
            </a:r>
          </a:p>
        </p:txBody>
      </p:sp>
      <p:pic>
        <p:nvPicPr>
          <p:cNvPr id="64" name="Picture 63" descr="th29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02952" y="2121408"/>
            <a:ext cx="731520" cy="59436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902952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29</a:t>
            </a:r>
          </a:p>
        </p:txBody>
      </p:sp>
      <p:pic>
        <p:nvPicPr>
          <p:cNvPr id="66" name="Picture 65" descr="th30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12196" y="2121408"/>
            <a:ext cx="731520" cy="59436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712196" y="272033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30</a:t>
            </a:r>
          </a:p>
        </p:txBody>
      </p:sp>
      <p:pic>
        <p:nvPicPr>
          <p:cNvPr id="68" name="Picture 67" descr="th31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429000" y="2793492"/>
            <a:ext cx="731520" cy="59436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3429000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31</a:t>
            </a:r>
          </a:p>
        </p:txBody>
      </p:sp>
      <p:pic>
        <p:nvPicPr>
          <p:cNvPr id="70" name="Picture 69" descr="th32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38244" y="2793492"/>
            <a:ext cx="731520" cy="59436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238244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32</a:t>
            </a:r>
          </a:p>
        </p:txBody>
      </p:sp>
      <p:pic>
        <p:nvPicPr>
          <p:cNvPr id="72" name="Picture 71" descr="th33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047488" y="2793492"/>
            <a:ext cx="731520" cy="5943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047488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33</a:t>
            </a:r>
          </a:p>
        </p:txBody>
      </p:sp>
      <p:pic>
        <p:nvPicPr>
          <p:cNvPr id="74" name="Picture 73" descr="th34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856732" y="2793492"/>
            <a:ext cx="731520" cy="59436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5856732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34</a:t>
            </a:r>
          </a:p>
        </p:txBody>
      </p:sp>
      <p:pic>
        <p:nvPicPr>
          <p:cNvPr id="76" name="Picture 75" descr="th35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65976" y="2793492"/>
            <a:ext cx="731520" cy="59436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665976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35</a:t>
            </a:r>
          </a:p>
        </p:txBody>
      </p:sp>
      <p:pic>
        <p:nvPicPr>
          <p:cNvPr id="78" name="Picture 77" descr="th36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75220" y="2793492"/>
            <a:ext cx="731520" cy="59436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475220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36</a:t>
            </a:r>
          </a:p>
        </p:txBody>
      </p:sp>
      <p:pic>
        <p:nvPicPr>
          <p:cNvPr id="80" name="Picture 79" descr="th37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84464" y="2793492"/>
            <a:ext cx="731520" cy="59436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284464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37</a:t>
            </a:r>
          </a:p>
        </p:txBody>
      </p:sp>
      <p:pic>
        <p:nvPicPr>
          <p:cNvPr id="82" name="Picture 81" descr="th38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093708" y="2793492"/>
            <a:ext cx="731520" cy="59436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9093708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38</a:t>
            </a:r>
          </a:p>
        </p:txBody>
      </p:sp>
      <p:pic>
        <p:nvPicPr>
          <p:cNvPr id="84" name="Picture 83" descr="th39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902952" y="2793492"/>
            <a:ext cx="731520" cy="59436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902952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39</a:t>
            </a:r>
          </a:p>
        </p:txBody>
      </p:sp>
      <p:pic>
        <p:nvPicPr>
          <p:cNvPr id="86" name="Picture 85" descr="th40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712196" y="2793492"/>
            <a:ext cx="731520" cy="59436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0712196" y="33924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40</a:t>
            </a:r>
          </a:p>
        </p:txBody>
      </p:sp>
      <p:pic>
        <p:nvPicPr>
          <p:cNvPr id="88" name="Picture 87" descr="th41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429000" y="3465576"/>
            <a:ext cx="731520" cy="5943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3429000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41</a:t>
            </a:r>
          </a:p>
        </p:txBody>
      </p:sp>
      <p:pic>
        <p:nvPicPr>
          <p:cNvPr id="90" name="Picture 89" descr="th42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238244" y="3465576"/>
            <a:ext cx="731520" cy="59436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238244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42</a:t>
            </a:r>
          </a:p>
        </p:txBody>
      </p:sp>
      <p:pic>
        <p:nvPicPr>
          <p:cNvPr id="92" name="Picture 91" descr="th43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047488" y="3465576"/>
            <a:ext cx="731520" cy="59436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5047488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43</a:t>
            </a:r>
          </a:p>
        </p:txBody>
      </p:sp>
      <p:pic>
        <p:nvPicPr>
          <p:cNvPr id="94" name="Picture 93" descr="th44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856732" y="3465576"/>
            <a:ext cx="731520" cy="59436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5856732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44</a:t>
            </a:r>
          </a:p>
        </p:txBody>
      </p:sp>
      <p:pic>
        <p:nvPicPr>
          <p:cNvPr id="96" name="Picture 95" descr="th45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665976" y="3465576"/>
            <a:ext cx="731520" cy="59436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665976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45</a:t>
            </a:r>
          </a:p>
        </p:txBody>
      </p:sp>
      <p:pic>
        <p:nvPicPr>
          <p:cNvPr id="98" name="Picture 97" descr="th46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475220" y="3465576"/>
            <a:ext cx="731520" cy="59436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7475220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46</a:t>
            </a:r>
          </a:p>
        </p:txBody>
      </p:sp>
      <p:pic>
        <p:nvPicPr>
          <p:cNvPr id="100" name="Picture 99" descr="th47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84464" y="3465576"/>
            <a:ext cx="731520" cy="59436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284464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47</a:t>
            </a:r>
          </a:p>
        </p:txBody>
      </p:sp>
      <p:pic>
        <p:nvPicPr>
          <p:cNvPr id="102" name="Picture 101" descr="th48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093708" y="3465576"/>
            <a:ext cx="731520" cy="594360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093708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48</a:t>
            </a:r>
          </a:p>
        </p:txBody>
      </p:sp>
      <p:pic>
        <p:nvPicPr>
          <p:cNvPr id="104" name="Picture 103" descr="th49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902952" y="3465576"/>
            <a:ext cx="731520" cy="59436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02952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49</a:t>
            </a:r>
          </a:p>
        </p:txBody>
      </p:sp>
      <p:pic>
        <p:nvPicPr>
          <p:cNvPr id="106" name="Picture 105" descr="th50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712196" y="3465576"/>
            <a:ext cx="731520" cy="59436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10712196" y="406450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50</a:t>
            </a:r>
          </a:p>
        </p:txBody>
      </p:sp>
      <p:pic>
        <p:nvPicPr>
          <p:cNvPr id="108" name="Picture 107" descr="th51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429000" y="4137659"/>
            <a:ext cx="731520" cy="59436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429000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51</a:t>
            </a:r>
          </a:p>
        </p:txBody>
      </p:sp>
      <p:pic>
        <p:nvPicPr>
          <p:cNvPr id="110" name="Picture 109" descr="th52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238244" y="4137659"/>
            <a:ext cx="731520" cy="594360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4238244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52</a:t>
            </a:r>
          </a:p>
        </p:txBody>
      </p:sp>
      <p:pic>
        <p:nvPicPr>
          <p:cNvPr id="112" name="Picture 111" descr="th53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047488" y="4137659"/>
            <a:ext cx="731520" cy="59436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5047488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53</a:t>
            </a:r>
          </a:p>
        </p:txBody>
      </p:sp>
      <p:pic>
        <p:nvPicPr>
          <p:cNvPr id="114" name="Picture 113" descr="th54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856732" y="4137659"/>
            <a:ext cx="731520" cy="59436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5856732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54</a:t>
            </a:r>
          </a:p>
        </p:txBody>
      </p:sp>
      <p:pic>
        <p:nvPicPr>
          <p:cNvPr id="116" name="Picture 115" descr="th55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665976" y="4137659"/>
            <a:ext cx="731520" cy="59436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6665976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55</a:t>
            </a:r>
          </a:p>
        </p:txBody>
      </p:sp>
      <p:pic>
        <p:nvPicPr>
          <p:cNvPr id="118" name="Picture 117" descr="th56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475220" y="4137659"/>
            <a:ext cx="731520" cy="594360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7475220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56</a:t>
            </a:r>
          </a:p>
        </p:txBody>
      </p:sp>
      <p:pic>
        <p:nvPicPr>
          <p:cNvPr id="120" name="Picture 119" descr="th57.jp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284464" y="4137659"/>
            <a:ext cx="731520" cy="59436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284464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57</a:t>
            </a:r>
          </a:p>
        </p:txBody>
      </p:sp>
      <p:pic>
        <p:nvPicPr>
          <p:cNvPr id="122" name="Picture 121" descr="th58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093708" y="4137659"/>
            <a:ext cx="731520" cy="594360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9093708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58</a:t>
            </a:r>
          </a:p>
        </p:txBody>
      </p:sp>
      <p:pic>
        <p:nvPicPr>
          <p:cNvPr id="124" name="Picture 123" descr="th59.jp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902952" y="4137659"/>
            <a:ext cx="731520" cy="594360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9902952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59</a:t>
            </a:r>
          </a:p>
        </p:txBody>
      </p:sp>
      <p:pic>
        <p:nvPicPr>
          <p:cNvPr id="126" name="Picture 125" descr="th60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712196" y="4137659"/>
            <a:ext cx="731520" cy="59436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0712196" y="4736592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60</a:t>
            </a:r>
          </a:p>
        </p:txBody>
      </p:sp>
      <p:pic>
        <p:nvPicPr>
          <p:cNvPr id="128" name="Picture 127" descr="th61.jp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429000" y="4809744"/>
            <a:ext cx="731520" cy="594360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3429000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61</a:t>
            </a:r>
          </a:p>
        </p:txBody>
      </p:sp>
      <p:pic>
        <p:nvPicPr>
          <p:cNvPr id="130" name="Picture 129" descr="th62.jp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238244" y="4809744"/>
            <a:ext cx="731520" cy="594360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4238244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62</a:t>
            </a:r>
          </a:p>
        </p:txBody>
      </p:sp>
      <p:pic>
        <p:nvPicPr>
          <p:cNvPr id="132" name="Picture 131" descr="th63.jp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047488" y="4809744"/>
            <a:ext cx="731520" cy="594360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5047488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63</a:t>
            </a:r>
          </a:p>
        </p:txBody>
      </p:sp>
      <p:pic>
        <p:nvPicPr>
          <p:cNvPr id="134" name="Picture 133" descr="th64.jp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856732" y="4809744"/>
            <a:ext cx="731520" cy="594360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856732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64</a:t>
            </a:r>
          </a:p>
        </p:txBody>
      </p:sp>
      <p:pic>
        <p:nvPicPr>
          <p:cNvPr id="136" name="Picture 135" descr="th65.jp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6665976" y="4809744"/>
            <a:ext cx="731520" cy="594360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6665976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65</a:t>
            </a:r>
          </a:p>
        </p:txBody>
      </p:sp>
      <p:pic>
        <p:nvPicPr>
          <p:cNvPr id="138" name="Picture 137" descr="th66.jp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475220" y="4809744"/>
            <a:ext cx="731520" cy="59436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7475220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66</a:t>
            </a:r>
          </a:p>
        </p:txBody>
      </p:sp>
      <p:pic>
        <p:nvPicPr>
          <p:cNvPr id="140" name="Picture 139" descr="th67.jp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284464" y="4809744"/>
            <a:ext cx="731520" cy="59436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8284464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67</a:t>
            </a:r>
          </a:p>
        </p:txBody>
      </p:sp>
      <p:pic>
        <p:nvPicPr>
          <p:cNvPr id="142" name="Picture 141" descr="th68.jp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093708" y="4809744"/>
            <a:ext cx="731520" cy="59436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9093708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68</a:t>
            </a:r>
          </a:p>
        </p:txBody>
      </p:sp>
      <p:pic>
        <p:nvPicPr>
          <p:cNvPr id="144" name="Picture 143" descr="th69.jp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902952" y="4809744"/>
            <a:ext cx="731520" cy="594360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9902952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69</a:t>
            </a:r>
          </a:p>
        </p:txBody>
      </p:sp>
      <p:pic>
        <p:nvPicPr>
          <p:cNvPr id="146" name="Picture 145" descr="th70.jp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712196" y="4809744"/>
            <a:ext cx="731520" cy="594360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10712196" y="5408676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70</a:t>
            </a:r>
          </a:p>
        </p:txBody>
      </p:sp>
      <p:pic>
        <p:nvPicPr>
          <p:cNvPr id="148" name="Picture 147" descr="th71.jp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3429000" y="5481827"/>
            <a:ext cx="731520" cy="594360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3429000" y="6080759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71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The Handmade Process &amp; Craftsmanship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THE 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The verse is verified against the Uthmani codex and set into the panel's composition - calligraphy, ground and field planned for that verse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GROUND &amp; PIGMENT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The panel ground is built up by hand; pigments are ground and mixed for the work, layered rather than printed.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1496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THREAD 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The Third Art thread practice: worked by hand across the field, the texture that carries light differently at every angle.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15783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3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GOLD &amp; 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Gold detailing and the final hand finish; the panel is rested and inspected before it is framed.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3383280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2103120"/>
            <a:ext cx="214884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0072" y="210312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37744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FRAME &amp;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218688"/>
            <a:ext cx="1783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Gold-edge frame on cream; photographed, polished, and saved at 4K working master and 1.5x print resolution.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F6A5C"/>
                </a:solidFill>
                <a:latin typeface="Georgia"/>
              </a:rPr>
              <a:t>Many weeks of handwork per folio, one artist, one unbroken campaign across all 71. No machine reproduction exists for any panel in the cycle.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Materials &amp;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4864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Materials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Hand-ground pigments and natural colour on prepared panel ground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Thread work in the Third Art practice - the gallery's signature medium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Gold detailing in the gold-edge presentation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Archival mounting, cream presentation, solid frame</a:t>
            </a:r>
          </a:p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Techniques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Verse composition: each panel is drawn for its single verse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Layered ground and texture, worked to hold raking light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Hand finishing and inspection, panel by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920240"/>
            <a:ext cx="5212080" cy="41148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2057400"/>
            <a:ext cx="4937760" cy="38404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3317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180">
                <a:solidFill>
                  <a:srgbClr val="D4AF5E"/>
                </a:solidFill>
                <a:latin typeface="Jost"/>
              </a:rPr>
              <a:t>WHAT THE HAND LEAVES BEHIND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78892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00" b="0" i="0">
                <a:solidFill>
                  <a:srgbClr val="F4EFE3"/>
                </a:solidFill>
                <a:latin typeface="Georgia"/>
              </a:rPr>
              <a:t>No two panels share a machine pass. The thread field changes under moving light; the gold reads at gallery distance; the ground keeps its depth up close.</a:t>
            </a:r>
          </a:p>
          <a:p>
            <a:pPr algn="l">
              <a:lnSpc>
                <a:spcPct val="150000"/>
              </a:lnSpc>
            </a:pPr>
            <a:r>
              <a:rPr sz="1100" b="0" i="1">
                <a:solidFill>
                  <a:srgbClr val="F4EFE3"/>
                </a:solidFill>
                <a:latin typeface="Georgia"/>
              </a:rPr>
              <a:t>This is why the cycle is described as a masterpiece rather than a series: the hand is visible in every folio, and the uniformity of that hand across 71 verses is the work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Material Excellence &amp; Specifications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WORKING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9659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1613 x 1314 px per folio (4K-class archival scan)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7063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PRINT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96596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1.5x masters - 2420 x 1971 px - for museum-scale reproduction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7063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PANEL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260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4 : 3.3 - the framed presentation ratio, uniform across all 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3075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9260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Gold-edge frame on cream; uniform sight-line across the wall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3075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LIGHTING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886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Warm 3000K, even grazing; gold detail reads at 3m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9087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VERBATIM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86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Uthmani Arabic + English rendering per folio, codex-verified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9087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46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CATALOGUE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8463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F01 - F71 catalogue numbers on every folio and 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65099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B98A2E"/>
                </a:solidFill>
                <a:latin typeface="Jost"/>
              </a:rPr>
              <a:t>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8463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41B12"/>
                </a:solidFill>
                <a:latin typeface="Georgia"/>
              </a:rPr>
              <a:t>69 photographed and archived · 2 reserved for final photography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650992"/>
            <a:ext cx="55778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F6A5C"/>
                </a:solidFill>
                <a:latin typeface="Georgia"/>
              </a:rPr>
              <a:t>All figures are the production standard of the cycle; per-folio condition reports accompany any acquisition.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Content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7607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How the collection is organised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Catalogue order F01 - F71, the order in which the surah reads on the wall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Ten chapters: the natural movements of the surah, from the Beneficent who teaches to the blessing that closes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40 verse folios + 31 refrain folios - the refrain is a structural element, not a gap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100" b="0" i="0">
                <a:solidFill>
                  <a:srgbClr val="1E1A14"/>
                </a:solidFill>
                <a:latin typeface="Georgia"/>
              </a:rPr>
              <a:t>·  Each folio record: catalogue number, title, verse reference, Uthmani Arabic, English rendering, verification status</a:t>
            </a:r>
          </a:p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F6A5C"/>
                </a:solidFill>
                <a:latin typeface="Georgia"/>
              </a:rPr>
              <a:t>·  Release checklist: 18 refrain panels flagged 'verify' for final verse numbering against the physical frame before public release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1965960"/>
            <a:ext cx="2286000" cy="402336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4884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 spc="150">
                <a:solidFill>
                  <a:srgbClr val="D4AF5E"/>
                </a:solidFill>
                <a:latin typeface="Jost"/>
              </a:rPr>
              <a:t>FOLIO 47 / 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3957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4EFE3"/>
                </a:solidFill>
                <a:latin typeface="Playfair Display"/>
              </a:rPr>
              <a:t>Two Springs Flowing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880360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D4AF5E"/>
                </a:solidFill>
                <a:latin typeface="Georgia"/>
              </a:rPr>
              <a:t>In them (each) will be two Springs flowing (free).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61188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تَجْرِيَانِ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2976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50" b="0" i="0" spc="100">
                <a:solidFill>
                  <a:srgbClr val="9AA79B"/>
                </a:solidFill>
                <a:latin typeface="Jost"/>
              </a:rPr>
              <a:t>SURAH AR-RAHMAN (55)</a:t>
            </a:r>
          </a:p>
          <a:p>
            <a:pPr algn="l"/>
            <a:r>
              <a:rPr sz="550" b="0" i="0" spc="100">
                <a:solidFill>
                  <a:srgbClr val="D4AF5E"/>
                </a:solidFill>
                <a:latin typeface="Jost"/>
              </a:rPr>
              <a:t>VERSE 55:50 ·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1965960"/>
            <a:ext cx="2514600" cy="4023360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17152" y="2039112"/>
            <a:ext cx="2368296" cy="3877056"/>
          </a:xfrm>
          <a:prstGeom prst="rect">
            <a:avLst/>
          </a:prstGeom>
          <a:noFill/>
          <a:ln w="2032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749039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00">
                <a:solidFill>
                  <a:srgbClr val="B98A2E"/>
                </a:solidFill>
                <a:latin typeface="Jost"/>
              </a:rPr>
              <a:t>THE PANEL</a:t>
            </a:r>
          </a:p>
          <a:p>
            <a:pPr algn="ctr">
              <a:spcBef>
                <a:spcPts val="300"/>
              </a:spcBef>
            </a:pPr>
            <a:r>
              <a:rPr sz="800" b="0" i="1">
                <a:solidFill>
                  <a:srgbClr val="6F6A5C"/>
                </a:solidFill>
                <a:latin typeface="Georgia"/>
              </a:rPr>
              <a:t>image attached on every folio slide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31089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II.6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Exhibition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241B12"/>
                </a:solidFill>
                <a:latin typeface="Georgia"/>
              </a:rPr>
              <a:t>One room, one wall, one reading - physical display, digital previews and storytelling as a single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97480"/>
            <a:ext cx="3611880" cy="292608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PHYSICAL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E1A14"/>
                </a:solidFill>
                <a:latin typeface="Georgia"/>
              </a:rPr>
              <a:t>All 71 folios hang in catalogue order along the long wall in three courses. Evergreen walls, warm 3000K grazing light, a single reading line. Chapter markers at the ten movement boundaries; the wall opens and closes on the refrain.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697480"/>
            <a:ext cx="3611880" cy="292608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DIGITAL PREVIEWS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91840"/>
            <a:ext cx="3200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E1A14"/>
                </a:solidFill>
                <a:latin typeface="Georgia"/>
              </a:rPr>
              <a:t>Each wall label carries a QR: high-resolution folio preview, the verse in Uthmani script and English, and the recitation of that verse. The room extends into the pocket - visitors carry the collection home.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697480"/>
            <a:ext cx="3611880" cy="292608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92608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STORYTELLING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3200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1E1A14"/>
                </a:solidFill>
                <a:latin typeface="Georgia"/>
              </a:rPr>
              <a:t>An audio line follows the wall: the surah recites itself as the visitor walks, so the eye reads the image while the ear reads the word. The refrain - 31 times on the wall - is the heartbeat of the room.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6F6A5C"/>
                </a:solidFill>
                <a:latin typeface="Jost"/>
              </a:rPr>
              <a:t>WALL PLAN - 71 FRAMES IN SURAH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 spc="100">
                <a:solidFill>
                  <a:srgbClr val="6F6A5C"/>
                </a:solidFill>
                <a:latin typeface="Jost"/>
              </a:rPr>
              <a:t>cream = verse folio  ·  gold = refrain folio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6F6A5C"/>
                </a:solidFill>
                <a:latin typeface="Georgia"/>
              </a:rPr>
              <a:t>three courses; refrain panels mark the rhythm of the reading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53612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5384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77156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38928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00700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62472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24244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86016" y="557784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7788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71331" y="557784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53612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15384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77156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138928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00700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62472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24244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86016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7788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9560" y="5728716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71331" y="5728716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0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53612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15384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77156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38928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00700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62472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24244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6016" y="5879592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47788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09560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71331" y="5879592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91840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53612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15384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77156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38928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00700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62472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24244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986016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47788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909560" y="6030468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71331" y="6030468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91840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53612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15384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77156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138928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00700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62472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24244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86016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47788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09560" y="6181344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71331" y="6181344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91840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53612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15384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77156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38928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600700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062472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24244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86016" y="6332220"/>
            <a:ext cx="429768" cy="105156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47788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09560" y="6332220"/>
            <a:ext cx="429768" cy="10515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Seventy-One Folios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Every folio on its own slide - image attached, verse verified, Arabic and English on the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Beneficent Teaches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"(Allah) Most Gracious! It is He Who has taught the Qur'an."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ٱلرَّحْمَٰنُ عَلَّمَ ٱلْقُرْءَانَ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55:01–02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Created Man, Taught Speech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"He has created man: He has taught him speech (and intelligence)."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خَلَقَ ٱلْإِنسَٰنَ عَلَّمَهُ ٱلْبَيَانَ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55:03–04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Computed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 sun and the moon follow courses (exactly) computed."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ٱلشَّمْسُ وَٱلْقَمَرُ بِحُسْبَانٍۢ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Frame 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"Photography pending - frame reserved."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Arabic text to be entered from the physical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FRAME RESERVED  ·  PHOTOGRAPHY PENDING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TO BE ENTERED FROM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Raised Firmament, the Balance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"And the Firmament has He raised high, and He has set up the Balance (of Justice), in order that ye may not transgress (due) balance."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وَٱلسَّمَآءَ رَفَعَهَا وَوَضَعَ ٱلْمِيزَانَ أَلَّا تَطْغَوْا۟ فِى ٱلْمِيزَانِ وَأَقِيمُوا۟ ٱلْوَزْنَ بِٱلْقِسْطِ وَلَا تُخْسِرُوا۟ ٱلْمِيزَانَ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55:07–09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Earth Spread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"It is He Who has spread out the earth for (His) creatures."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وَٱلْأَرْضَ وَضَعَهَا لِلْأَنَامِ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Fruit and Sheathed Palms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"Therein is fruit and date-palms, producing spathes (enclosing dates)."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فِيهَا فَٰكِهَةٌۭ وَٱلنَّخْلُ ذَاتُ ٱلْأَكْمَامِ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Husked Grain, Scented Herb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"Also corn, with (its) leaves and stalk for fodder, and sweet-smelling plants."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وَٱلْحَبُّ ذُو ٱلْعَصْفِ وَٱلرَّيْحَانُ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09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Man of Sounding Clay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"He created man from sounding clay like unto pottery."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خَلَقَ ٱلْإِنسَٰنَ مِن صَلْصَٰلٍۢ كَٱلْفَخَّارِ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Jinn of Smokeless Fire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"And He created Jinns from fire free of smoke."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وَخَلَقَ ٱلْجَآنَّ مِن مَّارِجٍۢ مِّن نَّارٍۢ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Soon Shall We Settle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"Soon shall We settle your affairs, O both ye worlds!"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سَنَفْرُغُ لَكُمْ أَيُّهَ ٱلثَّقَلَانِ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Lord of the Two Easts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"(He is) Lord of the two Easts and Lord of the two Wests."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رَبُّ ٱلْمَشْرِقَيْنِ وَرَبُّ ٱلْمَغْرِبَيْنِ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Two Seas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"He has let free the two bodies of flowing water, meeting together: between them is a barrier which they do not transgress."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مَرَجَ ٱلْبَحْرَيْنِ يَلْتَقِيَانِ بَيْنَهُمَا بَرْزَخٌۭ لَّا يَبْغِيَانِ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55:19–20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Pearl and Coral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"Out of them come Pearls and Coral."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يَخْرُجُ مِنْهُمَا ٱللُّؤْلُؤُ وَٱلْمَرْجَانُ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19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Ships Like Banners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"And His are the Ships sailing smoothly through the seas, lofty as mountains."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وَلَهُ ٱلْجَوَارِ ٱلْمُنشَـَٔاتُ فِى ٱلْبَحْرِ كَٱلْأَعْلَٰمِ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All Shall Pass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"All that is on earth will perish."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كُلُّ مَنْ عَلَيْهَا فَانٍۢ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Face of Thy Lord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"But will abide (for ever) the Face of thy Lord, full of Majesty, Bounty and Honour."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وَيَبْقَىٰ وَجْهُ رَبِّكَ ذُو ٱلْجَلَٰلِ وَٱلْإِكْرَامِ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Every Day a New Splendour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"Of Him seeks (its need) every creature in the heavens and on earth: every day in (new) Splendour."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يَسْـَٔلُهُۥ مَن فِى ٱلسَّمَٰوَٰتِ وَٱلْأَرْضِ ۚ كُلَّ يَوْمٍ هُوَ فِى شَأْنٍۢ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55:29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29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Penetrate the Regions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 ye assembly of Jinns and men! If it be ye can pass beyond the zones of the heavens and the earth, pass (them)!"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يَٰمَعْشَرَ ٱلْجِنِّ وَٱلْإِنسِ إِنِ ٱسْتَطَعْتُمْ أَن تَنفُذُوا۟ مِنْ أَقْطَارِ ٱلسَّمَٰوَٰتِ وَٱلْأَرْضِ فَٱنفُذُوا۟ ۚ لَا تَنفُذُونَ إِلَّا بِسُلْطَٰنٍۢ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Flame of Fire, Flash of Brass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"On you will be sent a flame of fire and a smoke of brass: neither can ye resist."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يُرْسَلُ عَلَيْكُمَا شُوَاظٌۭ مِّن نَّارٍۢ وَنُحَاسٌۭ فَلَا تَنتَصِرَانِ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Sky Rent asunder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"When the sky is rent asunder, and it becomes red like ointment."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فَإِذَا ٱنشَقَّتِ ٱلسَّمَآءُ فَكَانَتْ وَرْدَةًۭ كَٱلدِّهَانِ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55:37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Marks of the Guilty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 sinners will be known by their marks, and they will be seized by their forelocks and their feet."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يُعْرَفُ ٱلْمُجْرِمُونَ بِسِيمَٰهُمْ فَيُؤْخَذُ بِٱلنَّوَٰصِى وَٱلْأَقْدَامِ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39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This Is Hell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"This is the Hell which the Sinners deny."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هَٰذِهِۦ جَهَنَّمُ ٱلَّتِى يُكَذِّبُ بِهَا ٱلْمُجْرِمُونَ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Between It and the Boiling Water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its midst and in the midst of boiling hot water will they wander round!"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يَطُوفُونَ بَيْنَهَا وَبَيْنَ حَمِيمٍ ءَانٍۢ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For Such as Fear, Two Gardens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"But for such as fear the time when they will stand before the Judgment Seat of their Lord, theirs will be two Gardens."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وَلِمَن خَافَ مَقَامَ رَبِّهِۦ جَنَّتَانِ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Spreading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"Containing all kinds (of trees and delights)."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ذَوَاتَآ أَفْنَانٍۢ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55:48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Frame Reserved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"Photography pending - frame reserved."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3794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Arabic text to be entered from the physical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FRAME RESERVED  ·  PHOTOGRAPHY PENDING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TO BE ENTERED FROM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Springs Flowing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them (each) will be two Springs flowing (free)."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تَجْرِيَانِ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49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Fruits in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them (each) will be Fruits of every kind, two and two."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مِن كُلِّ فَٰكِهَةٍۭ زَوْجَانِ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Reclining on Silk Brocade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"They will recline on Carpets, whose inner linings will be of rich brocade; the Fruit of the Gardens will be near and easy of reach."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0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مُتَّكِـِٔينَ عَلَىٰ فُرُشٍۭ بَطَآئِنُهَا مِنْ إِسْتَبْرَقٍۢ ۚ وَجَنَى ٱلْجَنَّتَيْنِ دَانٍۢ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As Sapphire and Coral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"Like unto Rubies and coral."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كَأَنَّهُنَّ ٱلْيَاقُوتُ وَٱلْمَرْجَانُ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55:58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Reward of Goodness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"Is there any Reward for Good - other than Good?"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هَلْ جَزَآءُ ٱلْإِحْسَٰنِ إِلَّا ٱلْإِحْسَٰنُ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Gardens Beside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"But for such as fear the time when they will stand before the Judgment Seat of their Lord, theirs will be two Gardens."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وَمِن دُونِهِمَا جَنَّتَانِ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Dark Green with Foliage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"Dark green in colour (from vegetation)."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مُدْهَآمَّتَانِ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59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Springs of Fresh Water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"Therein (each) will be two Springs, (both) of unfailing waters."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نَضَّاخَتَانِ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62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Whom None Has Touched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"Whom no man or Jinn before them has touched."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لَمْ يَطْمِثْهُنَّ إِنسٌۭ قَبْلَهُمْ وَلَا جَآنٌّۭ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63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64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Green Cushions, Fair Carpets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"Reclining on green Cushions and rich Carpets of Variety."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مُتَّكِـِٔينَ عَلَىٰ رَفْرَفٍ خُضْرٍۢ وَعَبْقَرِىٍّ حِسَانٍۢ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65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Blessed Be the Name of Thy Lord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"Blessed be the name of thy Lord, full of Majesty, Bounty and honour."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تَبَٰرَكَ ٱسْمُ رَبِّكَ ذِى ٱلْجَلَٰلِ وَٱلْإِكْرَامِ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66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67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68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69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The Recurring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"Then which of the favours of your Lord will ye deny?"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THE RECURRENT REFRAIN OF THE SURAH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NUMBER - PENDING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70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Two Springs, Continuous Abundance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"In them (each) will be two Springs pouring forth water in continuous abundance."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5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فِيهِمَا عَيْنَانِ نَضَّاخَتَانِ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55:66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FOLIO 71 /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11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0" i="0">
                <a:solidFill>
                  <a:srgbClr val="F4EFE3"/>
                </a:solidFill>
                <a:latin typeface="Playfair Display"/>
              </a:rPr>
              <a:t>Whom None Has Touched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1">
                <a:solidFill>
                  <a:srgbClr val="D4AF5E"/>
                </a:solidFill>
                <a:latin typeface="Georgia"/>
              </a:rPr>
              <a:t>"Whom no man or Jinn before them has touched."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20440"/>
            <a:ext cx="37947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لَمْ يَطْمِثْهُنَّ إِنسٌۭ قَبْلَهُمْ وَلَا جَآنٌّۭ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10">
                <a:solidFill>
                  <a:srgbClr val="9AA79B"/>
                </a:solidFill>
                <a:latin typeface="Jost"/>
              </a:rPr>
              <a:t>SURAH AR-RAHMAN (55)  ·  MEDINAN  ·  JUZ 27  ·  PAGES 531-534</a:t>
            </a:r>
          </a:p>
          <a:p>
            <a:pPr algn="l"/>
            <a:r>
              <a:rPr sz="750" b="0" i="0" spc="110">
                <a:solidFill>
                  <a:srgbClr val="D4AF5E"/>
                </a:solidFill>
                <a:latin typeface="Jost"/>
              </a:rPr>
              <a:t>VERSE 55:74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8755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686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The investment case, the options, and how to begin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ACQUISITION  ·  IV.1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The Investment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241B12"/>
                </a:solidFill>
                <a:latin typeface="Georgia"/>
              </a:rPr>
              <a:t>Why a national institution acquires this cycle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UNREPEATABLE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Handmade originals, one artist, one campaign. The cycle cannot be re-run; what is acquired is the only complete 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COMPLETE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A full surah in one wall-length composition - the institutional form. Single-folio collectors buy into it; museums own it whole.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ARCHIVAL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4K masters, 1.5x print sets, codex-verified verse record and catalogue numbering make it a permanent acquisition, not a loan dependency.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2651760"/>
            <a:ext cx="269748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2651760"/>
            <a:ext cx="269748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D4AF5E"/>
                </a:solidFill>
                <a:latin typeface="Jost"/>
              </a:rPr>
              <a:t>DOUBLE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461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A devotional theme with a public face: visitors who recite the surah and visitors who don't. The room speaks to both at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ACQUISITION  ·  IV.2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Acquisition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65960"/>
            <a:ext cx="3657600" cy="3977639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B98A2E"/>
                </a:solidFill>
                <a:latin typeface="Jost"/>
              </a:rPr>
              <a:t>THE COMPLETE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71 folios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full cycle for a national home. Preferred option for museum acquisition - one wall, one reading, one collection.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 spc="120">
                <a:solidFill>
                  <a:srgbClr val="6F6A5C"/>
                </a:solidFill>
                <a:latin typeface="Jost"/>
              </a:rPr>
              <a:t>Institutional tier - on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965960"/>
            <a:ext cx="3657600" cy="3977639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B98A2E"/>
                </a:solidFill>
                <a:latin typeface="Jost"/>
              </a:rPr>
              <a:t>CHAPTER 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10 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29184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ten movements as curatorial sets, 5-15 folios each. For wings, galleries and touring loans.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50749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 spc="120">
                <a:solidFill>
                  <a:srgbClr val="6F6A5C"/>
                </a:solidFill>
                <a:latin typeface="Jost"/>
              </a:rPr>
              <a:t>Curatorial tier - PKR 3,000,000 - 6,000,000 per set (indicative)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5" y="1965960"/>
            <a:ext cx="3657600" cy="3977639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194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60">
                <a:solidFill>
                  <a:srgbClr val="B98A2E"/>
                </a:solidFill>
                <a:latin typeface="Jost"/>
              </a:rPr>
              <a:t>SINGLE FOLIOS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71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29184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Any single verse, one framed original. Collectors favour the refrain panels and the closing blessing (F65).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50749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 spc="120">
                <a:solidFill>
                  <a:srgbClr val="6F6A5C"/>
                </a:solidFill>
                <a:latin typeface="Jost"/>
              </a:rPr>
              <a:t>Collector tier - PKR 400,000 - 800,000 per folio (indicative)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F6A5C"/>
                </a:solidFill>
                <a:latin typeface="Georgia"/>
              </a:rPr>
              <a:t>Indicative ranges for planning - confirmed by the gallery on application. Provenance record and per-folio condition reports included at every tier.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ACQUISITION  ·  IV.3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241B12"/>
                </a:solidFill>
                <a:latin typeface="Playfair Display"/>
              </a:rPr>
              <a:t>Acquisition &amp; Inquiries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69164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7607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 spc="200">
                <a:solidFill>
                  <a:srgbClr val="B98A2E"/>
                </a:solidFill>
                <a:latin typeface="Jost"/>
              </a:rPr>
              <a:t>How to begin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1.  Private viewing - any folio or the complete wall in the Lahore studio</a:t>
            </a:r>
          </a:p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2.  Application - tier, installation intent, and timeline for the collection</a:t>
            </a:r>
          </a:p>
          <a:p>
            <a:pPr algn="l">
              <a:lnSpc>
                <a:spcPct val="155000"/>
              </a:lnSpc>
              <a:spcAft>
                <a:spcPts val="12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3.  Record - catalogue numbers, condition reports, 4K/1.5x masters and the verified verse record are prepared for the acquiring institution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41B12"/>
                </a:solidFill>
                <a:latin typeface="Georgia"/>
              </a:rPr>
              <a:t>Biya Gallery · Art &amp; Craft · Lahore</a:t>
            </a:r>
          </a:p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6F6A5C"/>
                </a:solidFill>
                <a:latin typeface="Georgia"/>
              </a:rPr>
              <a:t>Inquiries through the gallery - original art, Thread Art, poetry and craft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920240"/>
            <a:ext cx="4937760" cy="41148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2057400"/>
            <a:ext cx="4663440" cy="384048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23774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50">
                <a:solidFill>
                  <a:srgbClr val="D4AF5E"/>
                </a:solidFill>
                <a:latin typeface="Jost"/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834640"/>
            <a:ext cx="4343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0"/>
              </a:spcAft>
            </a:pPr>
            <a:r>
              <a:rPr sz="1800" b="0" i="0">
                <a:solidFill>
                  <a:srgbClr val="F4EFE3"/>
                </a:solidFill>
                <a:latin typeface="Playfair Display"/>
              </a:rPr>
              <a:t>A national home for 71 originals.</a:t>
            </a:r>
          </a:p>
          <a:p>
            <a:pPr algn="ctr">
              <a:lnSpc>
                <a:spcPct val="15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Acquired in full, exhibited as one, toured from a permanent wall - the cycle keeps its unity wherever the story goes next.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0" i="0" lang="ar" rtl="1">
                <a:solidFill>
                  <a:srgbClr val="D4AF5E"/>
                </a:solidFill>
                <a:latin typeface="Simplified Arabic"/>
                <a:cs typeface="Simplified Arabic"/>
              </a:rPr>
              <a:t>فَبِأَىِّ ءَالَآءِ رَبِّكُمَا تُكَذِّبَانِ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0" i="1">
                <a:solidFill>
                  <a:srgbClr val="F4EFE3"/>
                </a:solidFill>
                <a:latin typeface="Playfair Display"/>
              </a:rPr>
              <a:t>Then which of the favours of your Lord will ye deny?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220">
                <a:solidFill>
                  <a:srgbClr val="9AA79B"/>
                </a:solidFill>
                <a:latin typeface="Jost"/>
              </a:rPr>
              <a:t>SURAH AR-RAHMAN  55:13  ·  THE REFRAIN THAT CLOSES THE 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0047" y="42976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4EFE3"/>
                </a:solidFill>
                <a:latin typeface="Georgia"/>
              </a:rPr>
              <a:t>Biya Gallery  ·  Art &amp; Craft  ·  Lahore</a:t>
            </a:r>
          </a:p>
          <a:p>
            <a:pPr algn="ctr"/>
            <a:r>
              <a:rPr sz="1050" b="0" i="1">
                <a:solidFill>
                  <a:srgbClr val="9AA79B"/>
                </a:solidFill>
                <a:latin typeface="Georgia"/>
              </a:rPr>
              <a:t>Original art, Thread Art, poetry and craft - inquiries through the gallery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50">
                <a:solidFill>
                  <a:srgbClr val="6F6A5C"/>
                </a:solidFill>
                <a:latin typeface="Jost"/>
              </a:rPr>
              <a:t>SEVENTY-ONE FOLIOS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Surah Ar-Rahman - Master Pitch Deck (71 Folios)</dc:title>
  <dc:subject/>
  <dc:creator>Biya Gallery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