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8.jpg"/><Relationship Id="rId10" Type="http://schemas.openxmlformats.org/officeDocument/2006/relationships/image" Target="../media/image9.jpg"/><Relationship Id="rId11" Type="http://schemas.openxmlformats.org/officeDocument/2006/relationships/image" Target="../media/image10.jpg"/><Relationship Id="rId12" Type="http://schemas.openxmlformats.org/officeDocument/2006/relationships/image" Target="../media/image11.jpg"/><Relationship Id="rId13" Type="http://schemas.openxmlformats.org/officeDocument/2006/relationships/image" Target="../media/image12.jpg"/><Relationship Id="rId14" Type="http://schemas.openxmlformats.org/officeDocument/2006/relationships/image" Target="../media/image13.jpg"/><Relationship Id="rId15" Type="http://schemas.openxmlformats.org/officeDocument/2006/relationships/image" Target="../media/image14.jpg"/><Relationship Id="rId16" Type="http://schemas.openxmlformats.org/officeDocument/2006/relationships/image" Target="../media/image15.jpg"/><Relationship Id="rId17" Type="http://schemas.openxmlformats.org/officeDocument/2006/relationships/image" Target="../media/image16.jpg"/><Relationship Id="rId18" Type="http://schemas.openxmlformats.org/officeDocument/2006/relationships/image" Target="../media/image17.jpg"/><Relationship Id="rId19" Type="http://schemas.openxmlformats.org/officeDocument/2006/relationships/image" Target="../media/image18.jpg"/><Relationship Id="rId20" Type="http://schemas.openxmlformats.org/officeDocument/2006/relationships/image" Target="../media/image19.jpg"/><Relationship Id="rId21" Type="http://schemas.openxmlformats.org/officeDocument/2006/relationships/image" Target="../media/image20.jpg"/><Relationship Id="rId22" Type="http://schemas.openxmlformats.org/officeDocument/2006/relationships/image" Target="../media/image21.jpg"/><Relationship Id="rId23" Type="http://schemas.openxmlformats.org/officeDocument/2006/relationships/image" Target="../media/image22.jpg"/><Relationship Id="rId24" Type="http://schemas.openxmlformats.org/officeDocument/2006/relationships/image" Target="../media/image23.jpg"/><Relationship Id="rId25" Type="http://schemas.openxmlformats.org/officeDocument/2006/relationships/image" Target="../media/image24.jpg"/><Relationship Id="rId26" Type="http://schemas.openxmlformats.org/officeDocument/2006/relationships/image" Target="../media/image25.jpg"/><Relationship Id="rId27" Type="http://schemas.openxmlformats.org/officeDocument/2006/relationships/image" Target="../media/image26.jpg"/><Relationship Id="rId28" Type="http://schemas.openxmlformats.org/officeDocument/2006/relationships/image" Target="../media/image27.jpg"/><Relationship Id="rId29" Type="http://schemas.openxmlformats.org/officeDocument/2006/relationships/image" Target="../media/image28.jpg"/><Relationship Id="rId30" Type="http://schemas.openxmlformats.org/officeDocument/2006/relationships/image" Target="../media/image29.jpg"/><Relationship Id="rId31" Type="http://schemas.openxmlformats.org/officeDocument/2006/relationships/image" Target="../media/image30.jpg"/><Relationship Id="rId32" Type="http://schemas.openxmlformats.org/officeDocument/2006/relationships/image" Target="../media/image31.jpg"/><Relationship Id="rId33" Type="http://schemas.openxmlformats.org/officeDocument/2006/relationships/image" Target="../media/image32.jpg"/><Relationship Id="rId34" Type="http://schemas.openxmlformats.org/officeDocument/2006/relationships/image" Target="../media/image33.jpg"/><Relationship Id="rId35" Type="http://schemas.openxmlformats.org/officeDocument/2006/relationships/image" Target="../media/image34.jpg"/><Relationship Id="rId36" Type="http://schemas.openxmlformats.org/officeDocument/2006/relationships/image" Target="../media/image35.jpg"/><Relationship Id="rId37" Type="http://schemas.openxmlformats.org/officeDocument/2006/relationships/image" Target="../media/image36.jpg"/><Relationship Id="rId38" Type="http://schemas.openxmlformats.org/officeDocument/2006/relationships/image" Target="../media/image37.jpg"/><Relationship Id="rId39" Type="http://schemas.openxmlformats.org/officeDocument/2006/relationships/image" Target="../media/image38.jpg"/><Relationship Id="rId40" Type="http://schemas.openxmlformats.org/officeDocument/2006/relationships/image" Target="../media/image39.jpg"/><Relationship Id="rId41" Type="http://schemas.openxmlformats.org/officeDocument/2006/relationships/image" Target="../media/image40.jpg"/><Relationship Id="rId42" Type="http://schemas.openxmlformats.org/officeDocument/2006/relationships/image" Target="../media/image41.jpg"/><Relationship Id="rId43" Type="http://schemas.openxmlformats.org/officeDocument/2006/relationships/image" Target="../media/image42.jpg"/><Relationship Id="rId44" Type="http://schemas.openxmlformats.org/officeDocument/2006/relationships/image" Target="../media/image43.jpg"/><Relationship Id="rId45" Type="http://schemas.openxmlformats.org/officeDocument/2006/relationships/image" Target="../media/image44.jpg"/><Relationship Id="rId46" Type="http://schemas.openxmlformats.org/officeDocument/2006/relationships/image" Target="../media/image45.jpg"/><Relationship Id="rId47" Type="http://schemas.openxmlformats.org/officeDocument/2006/relationships/image" Target="../media/image46.jpg"/><Relationship Id="rId48" Type="http://schemas.openxmlformats.org/officeDocument/2006/relationships/image" Target="../media/image47.jpg"/><Relationship Id="rId49" Type="http://schemas.openxmlformats.org/officeDocument/2006/relationships/image" Target="../media/image48.jpg"/><Relationship Id="rId50" Type="http://schemas.openxmlformats.org/officeDocument/2006/relationships/image" Target="../media/image49.jpg"/><Relationship Id="rId51" Type="http://schemas.openxmlformats.org/officeDocument/2006/relationships/image" Target="../media/image50.jpg"/><Relationship Id="rId52" Type="http://schemas.openxmlformats.org/officeDocument/2006/relationships/image" Target="../media/image51.jpg"/><Relationship Id="rId53" Type="http://schemas.openxmlformats.org/officeDocument/2006/relationships/image" Target="../media/image52.jpg"/><Relationship Id="rId54" Type="http://schemas.openxmlformats.org/officeDocument/2006/relationships/image" Target="../media/image53.jpg"/><Relationship Id="rId55" Type="http://schemas.openxmlformats.org/officeDocument/2006/relationships/image" Target="../media/image54.jpg"/><Relationship Id="rId56" Type="http://schemas.openxmlformats.org/officeDocument/2006/relationships/image" Target="../media/image55.jpg"/><Relationship Id="rId57" Type="http://schemas.openxmlformats.org/officeDocument/2006/relationships/image" Target="../media/image56.jpg"/><Relationship Id="rId58" Type="http://schemas.openxmlformats.org/officeDocument/2006/relationships/image" Target="../media/image57.jpg"/><Relationship Id="rId59" Type="http://schemas.openxmlformats.org/officeDocument/2006/relationships/image" Target="../media/image58.jpg"/><Relationship Id="rId60" Type="http://schemas.openxmlformats.org/officeDocument/2006/relationships/image" Target="../media/image59.jpg"/><Relationship Id="rId61" Type="http://schemas.openxmlformats.org/officeDocument/2006/relationships/image" Target="../media/image60.jpg"/><Relationship Id="rId62" Type="http://schemas.openxmlformats.org/officeDocument/2006/relationships/image" Target="../media/image61.jpg"/><Relationship Id="rId63" Type="http://schemas.openxmlformats.org/officeDocument/2006/relationships/image" Target="../media/image62.jpg"/><Relationship Id="rId64" Type="http://schemas.openxmlformats.org/officeDocument/2006/relationships/image" Target="../media/image63.jpg"/><Relationship Id="rId65" Type="http://schemas.openxmlformats.org/officeDocument/2006/relationships/image" Target="../media/image64.jpg"/><Relationship Id="rId66" Type="http://schemas.openxmlformats.org/officeDocument/2006/relationships/image" Target="../media/image65.jpg"/><Relationship Id="rId67" Type="http://schemas.openxmlformats.org/officeDocument/2006/relationships/image" Target="../media/image66.jpg"/><Relationship Id="rId68" Type="http://schemas.openxmlformats.org/officeDocument/2006/relationships/image" Target="../media/image67.jpg"/><Relationship Id="rId69" Type="http://schemas.openxmlformats.org/officeDocument/2006/relationships/image" Target="../media/image68.jpg"/><Relationship Id="rId70" Type="http://schemas.openxmlformats.org/officeDocument/2006/relationships/image" Target="../media/image69.jpg"/><Relationship Id="rId71" Type="http://schemas.openxmlformats.org/officeDocument/2006/relationships/image" Target="../media/image70.jpg"/><Relationship Id="rId72" Type="http://schemas.openxmlformats.org/officeDocument/2006/relationships/image" Target="../media/image7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4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6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8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9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0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1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2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3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4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5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6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7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8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9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0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1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2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3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4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5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6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7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8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9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0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1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2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3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4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5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6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7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8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9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0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1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2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3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4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5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6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7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8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9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0.jp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1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2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3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4.jp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5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6.jp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7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8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9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0.jp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1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2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3.jp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4.jp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5.jp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6.jp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7.jp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8.jp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9.jp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0.jp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1.jp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2.jp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noFill/>
          <a:ln w="15240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2336" y="402336"/>
            <a:ext cx="11387023" cy="6053328"/>
          </a:xfrm>
          <a:prstGeom prst="rect">
            <a:avLst/>
          </a:prstGeom>
          <a:noFill/>
          <a:ln w="6350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731520"/>
            <a:ext cx="103628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 spc="300">
                <a:solidFill>
                  <a:srgbClr val="D4AF5E"/>
                </a:solidFill>
                <a:latin typeface="Jost"/>
              </a:rPr>
              <a:t>BIYA GALLERY  ·  THE THIRD 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234440"/>
            <a:ext cx="1036289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800" b="0" i="0">
                <a:solidFill>
                  <a:srgbClr val="F4EFE3"/>
                </a:solidFill>
                <a:latin typeface="Playfair Display"/>
              </a:rPr>
              <a:t>Surah Yaseen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12848"/>
            <a:ext cx="103628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0" spc="300">
                <a:solidFill>
                  <a:srgbClr val="D4AF5E"/>
                </a:solidFill>
                <a:latin typeface="Jost"/>
              </a:rPr>
              <a:t>THE HEART OF THE QUR'AN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80360"/>
            <a:ext cx="103628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0" i="1">
                <a:solidFill>
                  <a:srgbClr val="F4EFE3"/>
                </a:solidFill>
                <a:latin typeface="Playfair Display"/>
              </a:rPr>
              <a:t>Seventy-One Handmade Folios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10047" y="3886200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114800"/>
            <a:ext cx="103628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 spc="250">
                <a:solidFill>
                  <a:srgbClr val="D4AF5E"/>
                </a:solidFill>
                <a:latin typeface="Jost"/>
              </a:rPr>
              <a:t>MASTER ACQUISITION PITCH</a:t>
            </a:r>
          </a:p>
          <a:p>
            <a:pPr algn="ctr"/>
            <a:r>
              <a:rPr sz="1200" b="0" i="1">
                <a:solidFill>
                  <a:srgbClr val="9AA79B"/>
                </a:solidFill>
                <a:latin typeface="Georgia"/>
              </a:rPr>
              <a:t>Prepared for National Assad  ·  Museum &amp; Exhibition Partners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120640"/>
            <a:ext cx="103628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F4EFE3"/>
                </a:solidFill>
                <a:latin typeface="Georgia"/>
              </a:rPr>
              <a:t>One verse, one frame - a complete surah, read wall to wall.</a:t>
            </a:r>
          </a:p>
          <a:p>
            <a:pPr algn="ctr"/>
            <a:r>
              <a:rPr sz="900" b="0" i="0" spc="150">
                <a:solidFill>
                  <a:srgbClr val="9AA79B"/>
                </a:solidFill>
                <a:latin typeface="Jost"/>
              </a:rPr>
              <a:t>Physical display  ·  Digital previews  ·  Investment value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6035040"/>
            <a:ext cx="103628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i="0" spc="250">
                <a:solidFill>
                  <a:srgbClr val="6F6A5C"/>
                </a:solidFill>
                <a:latin typeface="Jost"/>
              </a:rPr>
              <a:t>BIYA GALLERY  ·  LAHORE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566160" cy="6858000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566160" y="0"/>
            <a:ext cx="20116" cy="6858000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50">
                <a:solidFill>
                  <a:srgbClr val="D4AF5E"/>
                </a:solidFill>
                <a:latin typeface="Jost"/>
              </a:rPr>
              <a:t>BIYA GALLERY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28346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0" i="0">
                <a:solidFill>
                  <a:srgbClr val="F4EFE3"/>
                </a:solidFill>
                <a:latin typeface="Playfair Display"/>
              </a:rPr>
              <a:t>Contents</a:t>
            </a:r>
          </a:p>
          <a:p>
            <a:pPr algn="l">
              <a:spcBef>
                <a:spcPts val="600"/>
              </a:spcBef>
            </a:pPr>
            <a:r>
              <a:rPr sz="1600" b="0" i="1">
                <a:solidFill>
                  <a:srgbClr val="D4AF5E"/>
                </a:solidFill>
                <a:latin typeface="Playfair Display"/>
              </a:rPr>
              <a:t>Master Pitch - 71 Folios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017520"/>
            <a:ext cx="2743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9AA79B"/>
                </a:solidFill>
                <a:latin typeface="Georgia"/>
              </a:rPr>
              <a:t>Seventy-one original</a:t>
            </a:r>
          </a:p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9AA79B"/>
                </a:solidFill>
                <a:latin typeface="Georgia"/>
              </a:rPr>
              <a:t>Thread Art panels of the</a:t>
            </a:r>
          </a:p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9AA79B"/>
                </a:solidFill>
                <a:latin typeface="Georgia"/>
              </a:rPr>
              <a:t>Heart of the Quran cycle,</a:t>
            </a:r>
          </a:p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9AA79B"/>
                </a:solidFill>
                <a:latin typeface="Georgia"/>
              </a:rPr>
              <a:t>framed for a national home.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669280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6F6A5C"/>
                </a:solidFill>
                <a:latin typeface="Jost"/>
              </a:rPr>
              <a:t>BIYA GALLERY · ART &amp; CRAFT · LAHORE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68580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B98A2E"/>
                </a:solidFill>
                <a:latin typeface="Jost"/>
              </a:rPr>
              <a:t>PART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941832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0" i="0">
                <a:solidFill>
                  <a:srgbClr val="241B12"/>
                </a:solidFill>
                <a:latin typeface="Playfair Display"/>
              </a:rPr>
              <a:t>Title &amp; Vision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1435607"/>
            <a:ext cx="4754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F6A5C"/>
                </a:solidFill>
                <a:latin typeface="Georgia"/>
              </a:rPr>
              <a:t>The title, the project, why it is a masterpiece, the founder, the vision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941832"/>
            <a:ext cx="1097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100" b="0" i="1">
                <a:solidFill>
                  <a:srgbClr val="D4AF5E"/>
                </a:solidFill>
                <a:latin typeface="Playfair Display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60520" y="2075688"/>
            <a:ext cx="7543800" cy="10972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60520" y="216712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B98A2E"/>
                </a:solidFill>
                <a:latin typeface="Jost"/>
              </a:rPr>
              <a:t>PART 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242316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0" i="0">
                <a:solidFill>
                  <a:srgbClr val="241B12"/>
                </a:solidFill>
                <a:latin typeface="Playfair Display"/>
              </a:rPr>
              <a:t>The Collection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0520" y="2916936"/>
            <a:ext cx="4754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F6A5C"/>
                </a:solidFill>
                <a:latin typeface="Georgia"/>
              </a:rPr>
              <a:t>Complete overview, process, materials, content architecture, exhibition concept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2423160"/>
            <a:ext cx="1097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100" b="0" i="1">
                <a:solidFill>
                  <a:srgbClr val="D4AF5E"/>
                </a:solidFill>
                <a:latin typeface="Playfair Display"/>
              </a:rPr>
              <a:t>09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60520" y="3557016"/>
            <a:ext cx="7543800" cy="10972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60520" y="3648456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B98A2E"/>
                </a:solidFill>
                <a:latin typeface="Jost"/>
              </a:rPr>
              <a:t>PART 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60520" y="3904488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0" i="0">
                <a:solidFill>
                  <a:srgbClr val="241B12"/>
                </a:solidFill>
                <a:latin typeface="Playfair Display"/>
              </a:rPr>
              <a:t>The Seventy-One Folios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0520" y="4398264"/>
            <a:ext cx="4754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F6A5C"/>
                </a:solidFill>
                <a:latin typeface="Georgia"/>
              </a:rPr>
              <a:t>Every folio on its own slide - image attached, verse verified, Arabic and translation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3904488"/>
            <a:ext cx="1097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100" b="0" i="1">
                <a:solidFill>
                  <a:srgbClr val="D4AF5E"/>
                </a:solidFill>
                <a:latin typeface="Playfair Display"/>
              </a:rPr>
              <a:t>17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60520" y="5038344"/>
            <a:ext cx="7543800" cy="10972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60520" y="5129784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B98A2E"/>
                </a:solidFill>
                <a:latin typeface="Jost"/>
              </a:rPr>
              <a:t>PART 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60520" y="5385816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0" i="0">
                <a:solidFill>
                  <a:srgbClr val="241B12"/>
                </a:solidFill>
                <a:latin typeface="Playfair Display"/>
              </a:rPr>
              <a:t>Acquisition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60520" y="5879592"/>
            <a:ext cx="4754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F6A5C"/>
                </a:solidFill>
                <a:latin typeface="Georgia"/>
              </a:rPr>
              <a:t>Investment value, acquisition options, inquiries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0" y="5385816"/>
            <a:ext cx="1097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100" b="0" i="1">
                <a:solidFill>
                  <a:srgbClr val="D4AF5E"/>
                </a:solidFill>
                <a:latin typeface="Playfair Display"/>
              </a:rPr>
              <a:t>89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5840" y="1874519"/>
            <a:ext cx="25603" cy="2514600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93852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 spc="300">
                <a:solidFill>
                  <a:srgbClr val="D4AF5E"/>
                </a:solidFill>
                <a:latin typeface="Jost"/>
              </a:rPr>
              <a:t>PART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53312" y="2286000"/>
            <a:ext cx="98755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000" b="0" i="0">
                <a:solidFill>
                  <a:srgbClr val="F4EFE3"/>
                </a:solidFill>
                <a:latin typeface="Playfair Display"/>
              </a:rPr>
              <a:t>Title &amp; 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703320"/>
            <a:ext cx="8686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9AA79B"/>
                </a:solidFill>
                <a:latin typeface="Georgia"/>
              </a:rPr>
              <a:t>What this collection is, why it is a masterpiece, and who makes it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TITLE &amp; VISION  ·  I.1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0" i="0">
                <a:solidFill>
                  <a:srgbClr val="241B12"/>
                </a:solidFill>
                <a:latin typeface="Playfair Display"/>
              </a:rPr>
              <a:t>The Title &amp; the Vision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691640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920240"/>
            <a:ext cx="594360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B98A2E"/>
                </a:solidFill>
                <a:latin typeface="Playfair Display"/>
              </a:rPr>
              <a:t>Surah Yaseen - The Heart of the Quran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150" b="0" i="0">
                <a:solidFill>
                  <a:srgbClr val="1E1A14"/>
                </a:solidFill>
                <a:latin typeface="Georgia"/>
              </a:rPr>
              <a:t>Seventy-one handmade folios: a complete Quranic verse cycle, one verse per frame, executed in the Third Art thread practice and presented for national acquisition.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150" b="0" i="0">
                <a:solidFill>
                  <a:srgbClr val="1E1A14"/>
                </a:solidFill>
                <a:latin typeface="Georgia"/>
              </a:rPr>
              <a:t>The vision is simple and singular: that a surah called the heart of the Quran should have a national home - wall to wall, folio to folio, readable the way it is recited, and preserved in archive-grade form for the next hundred years.</a:t>
            </a:r>
          </a:p>
          <a:p>
            <a:pPr algn="l">
              <a:lnSpc>
                <a:spcPct val="150000"/>
              </a:lnSpc>
            </a:pPr>
            <a:r>
              <a:rPr sz="1150" b="0" i="1">
                <a:solidFill>
                  <a:srgbClr val="1E1A14"/>
                </a:solidFill>
                <a:latin typeface="Georgia"/>
              </a:rPr>
              <a:t>Each folio is an original work - not a print. The collection is complete, numbered, and catalogued; it can hang as one composition or as a decade of exhibitions.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903720" y="1920240"/>
            <a:ext cx="4800600" cy="4114800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040880" y="2057400"/>
            <a:ext cx="4526280" cy="3840480"/>
          </a:xfrm>
          <a:prstGeom prst="rect">
            <a:avLst/>
          </a:prstGeom>
          <a:noFill/>
          <a:ln w="10160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69480" y="2331720"/>
            <a:ext cx="4069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i="0" spc="200">
                <a:solidFill>
                  <a:srgbClr val="D4AF5E"/>
                </a:solidFill>
                <a:latin typeface="Jost"/>
              </a:rPr>
              <a:t>THE COLLECTION IN ONE 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2834640"/>
            <a:ext cx="43434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0" i="0">
                <a:solidFill>
                  <a:srgbClr val="F4EFE3"/>
                </a:solidFill>
                <a:latin typeface="Playfair Display"/>
              </a:rPr>
              <a:t>FOLIO 01 - 71</a:t>
            </a:r>
          </a:p>
          <a:p>
            <a:pPr algn="ctr"/>
            <a:r>
              <a:rPr sz="900" b="0" i="0" spc="150">
                <a:solidFill>
                  <a:srgbClr val="9AA79B"/>
                </a:solidFill>
                <a:latin typeface="Jost"/>
              </a:rPr>
              <a:t>one verse · one frame · one original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69480" y="4114800"/>
            <a:ext cx="4069080" cy="12801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0" y="4343400"/>
            <a:ext cx="43434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050" b="0" i="0">
                <a:solidFill>
                  <a:srgbClr val="9AA79B"/>
                </a:solidFill>
                <a:latin typeface="Georgia"/>
              </a:rPr>
              <a:t>69 photographed · 2 reserved</a:t>
            </a:r>
          </a:p>
          <a:p>
            <a:pPr algn="ctr">
              <a:spcAft>
                <a:spcPts val="500"/>
              </a:spcAft>
            </a:pPr>
            <a:r>
              <a:rPr sz="1050" b="0" i="0">
                <a:solidFill>
                  <a:srgbClr val="9AA79B"/>
                </a:solidFill>
                <a:latin typeface="Georgia"/>
              </a:rPr>
              <a:t>verses of Surah Ar-Rahman (55)</a:t>
            </a:r>
          </a:p>
          <a:p>
            <a:pPr algn="ctr"/>
            <a:r>
              <a:rPr sz="1050" b="0" i="1">
                <a:solidFill>
                  <a:srgbClr val="9AA79B"/>
                </a:solidFill>
                <a:latin typeface="Georgia"/>
              </a:rPr>
              <a:t>the refrain returns 31 times as a folio of its own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PROJECT  ·  I.2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0" i="0">
                <a:solidFill>
                  <a:srgbClr val="241B12"/>
                </a:solidFill>
                <a:latin typeface="Playfair Display"/>
              </a:rPr>
              <a:t>Introduction - The Project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691640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920240"/>
            <a:ext cx="1115568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 spc="200">
                <a:solidFill>
                  <a:srgbClr val="B98A2E"/>
                </a:solidFill>
                <a:latin typeface="Jost"/>
              </a:rPr>
              <a:t>What this is</a:t>
            </a:r>
          </a:p>
          <a:p>
            <a:pPr algn="l">
              <a:lnSpc>
                <a:spcPct val="155000"/>
              </a:lnSpc>
              <a:spcAft>
                <a:spcPts val="1200"/>
              </a:spcAft>
            </a:pPr>
            <a:r>
              <a:rPr sz="1200" b="0" i="0">
                <a:solidFill>
                  <a:srgbClr val="1E1A14"/>
                </a:solidFill>
                <a:latin typeface="Georgia"/>
              </a:rPr>
              <a:t>A complete, hand-executed Quranic art collection: seventy-one original panels, each painting one verse from the Heart of the Quran cycle, framed in the gallery's signature gold-edge presentation and photographed at archival resolution.</a:t>
            </a:r>
          </a:p>
          <a:p>
            <a:pPr algn="l">
              <a:spcAft>
                <a:spcPts val="600"/>
              </a:spcAft>
            </a:pPr>
            <a:r>
              <a:rPr sz="1000" b="0" i="0" spc="200">
                <a:solidFill>
                  <a:srgbClr val="B98A2E"/>
                </a:solidFill>
                <a:latin typeface="Jost"/>
              </a:rPr>
              <a:t>What makes it different</a:t>
            </a:r>
          </a:p>
          <a:p>
            <a:pPr algn="l">
              <a:lnSpc>
                <a:spcPct val="155000"/>
              </a:lnSpc>
              <a:spcAft>
                <a:spcPts val="1200"/>
              </a:spcAft>
            </a:pPr>
            <a:r>
              <a:rPr sz="1200" b="0" i="0">
                <a:solidFill>
                  <a:srgbClr val="1E1A14"/>
                </a:solidFill>
                <a:latin typeface="Georgia"/>
              </a:rPr>
              <a:t>It is not a print run and not a reproduction. Every panel is worked by hand in the Third Art practice - original art, Thread Art, poetry and craft from Lahore - and every verse is verified against the Uthmani codex and set with its English rendering on the folio record, so the collection stands as both an artwork and a readable surah.</a:t>
            </a:r>
          </a:p>
          <a:p>
            <a:pPr algn="l">
              <a:spcAft>
                <a:spcPts val="600"/>
              </a:spcAft>
            </a:pPr>
            <a:r>
              <a:rPr sz="1000" b="0" i="0" spc="200">
                <a:solidFill>
                  <a:srgbClr val="B98A2E"/>
                </a:solidFill>
                <a:latin typeface="Jost"/>
              </a:rPr>
              <a:t>What this deck is</a:t>
            </a:r>
          </a:p>
          <a:p>
            <a:pPr algn="l">
              <a:lnSpc>
                <a:spcPct val="155000"/>
              </a:lnSpc>
            </a:pPr>
            <a:r>
              <a:rPr sz="1200" b="0" i="0">
                <a:solidFill>
                  <a:srgbClr val="1E1A14"/>
                </a:solidFill>
                <a:latin typeface="Georgia"/>
              </a:rPr>
              <a:t>The master acquisition pitch for national museum and exhibition partners: the complete collection presented folio by folio (71 slides, every image attached), with the physical display strategy, the digital preview system, and the investment case for taking the collection into a national home.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PROJECT  ·  I.3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0" i="0">
                <a:solidFill>
                  <a:srgbClr val="241B12"/>
                </a:solidFill>
                <a:latin typeface="Playfair Display"/>
              </a:rPr>
              <a:t>Why It Is a Masterpiece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691640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965960"/>
            <a:ext cx="2697480" cy="3931920"/>
          </a:xfrm>
          <a:prstGeom prst="rect">
            <a:avLst/>
          </a:prstGeom>
          <a:solidFill>
            <a:srgbClr val="F4EFE3"/>
          </a:solidFill>
          <a:ln w="12700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24028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180">
                <a:solidFill>
                  <a:srgbClr val="B98A2E"/>
                </a:solidFill>
                <a:latin typeface="Jost"/>
              </a:rPr>
              <a:t>VERSE AS IMAGE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" b="0" i="0">
                <a:solidFill>
                  <a:srgbClr val="1E1A14"/>
                </a:solidFill>
                <a:latin typeface="Georgia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97480"/>
            <a:ext cx="233172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1E1A14"/>
                </a:solidFill>
                <a:latin typeface="Georgia"/>
              </a:rPr>
              <a:t>Each panel is a single verse made into a picture: calligraphy, ground, and field composed for that verse alone. The collection cannot be reduced to decoration - it is a reading.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3337560" y="1965960"/>
            <a:ext cx="2697480" cy="3931920"/>
          </a:xfrm>
          <a:prstGeom prst="rect">
            <a:avLst/>
          </a:prstGeom>
          <a:solidFill>
            <a:srgbClr val="F4EFE3"/>
          </a:solidFill>
          <a:ln w="12700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224028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180">
                <a:solidFill>
                  <a:srgbClr val="B98A2E"/>
                </a:solidFill>
                <a:latin typeface="Jost"/>
              </a:rPr>
              <a:t>ONE HAND, ONE CHAPTER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65176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" b="0" i="0">
                <a:solidFill>
                  <a:srgbClr val="1E1A14"/>
                </a:solidFill>
                <a:latin typeface="Georgia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697480"/>
            <a:ext cx="233172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1E1A14"/>
                </a:solidFill>
                <a:latin typeface="Georgia"/>
              </a:rPr>
              <a:t>Seventy-one panels, one artist, one unbroken season of work. The uniformity of hand across the cycle is what makes it a single composition rather than a set.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965960"/>
            <a:ext cx="2697480" cy="3931920"/>
          </a:xfrm>
          <a:prstGeom prst="rect">
            <a:avLst/>
          </a:prstGeom>
          <a:solidFill>
            <a:srgbClr val="F4EFE3"/>
          </a:solidFill>
          <a:ln w="12700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24028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180">
                <a:solidFill>
                  <a:srgbClr val="B98A2E"/>
                </a:solidFill>
                <a:latin typeface="Jost"/>
              </a:rPr>
              <a:t>THE REFRAIN AS HEARTBEAT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65176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" b="0" i="0">
                <a:solidFill>
                  <a:srgbClr val="1E1A14"/>
                </a:solidFill>
                <a:latin typeface="Georgia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697480"/>
            <a:ext cx="233172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1E1A14"/>
                </a:solidFill>
                <a:latin typeface="Georgia"/>
              </a:rPr>
              <a:t>The surah's question - 'Then which of the favours of your Lord will ye deny?' - returns 31 times as a folio of its own: a rhythm built into the architecture of the wall.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06840" y="1965960"/>
            <a:ext cx="2697480" cy="3931920"/>
          </a:xfrm>
          <a:prstGeom prst="rect">
            <a:avLst/>
          </a:prstGeom>
          <a:solidFill>
            <a:srgbClr val="F4EFE3"/>
          </a:solidFill>
          <a:ln w="12700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0" y="224028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180">
                <a:solidFill>
                  <a:srgbClr val="B98A2E"/>
                </a:solidFill>
                <a:latin typeface="Jost"/>
              </a:rPr>
              <a:t>UNREPEATABLE BY DESIGN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265176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" b="0" i="0">
                <a:solidFill>
                  <a:srgbClr val="1E1A14"/>
                </a:solidFill>
                <a:latin typeface="Georgia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2697480"/>
            <a:ext cx="233172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1E1A14"/>
                </a:solidFill>
                <a:latin typeface="Georgia"/>
              </a:rPr>
              <a:t>Handmade originals cannot be re-run. Once acquired and installed, the cycle exists in exactly one place on earth. That scarcity is the basis of its investment value.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663440" cy="6858000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663440" y="0"/>
            <a:ext cx="20116" cy="6858000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914400"/>
            <a:ext cx="3108960" cy="3108960"/>
          </a:xfrm>
          <a:prstGeom prst="rect">
            <a:avLst/>
          </a:prstGeom>
          <a:noFill/>
          <a:ln w="15240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" y="1033271"/>
            <a:ext cx="2871216" cy="2871216"/>
          </a:xfrm>
          <a:prstGeom prst="rect">
            <a:avLst/>
          </a:prstGeom>
          <a:noFill/>
          <a:ln w="6350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234440"/>
            <a:ext cx="31089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0" b="0" i="0">
                <a:solidFill>
                  <a:srgbClr val="D4AF5E"/>
                </a:solidFill>
                <a:latin typeface="Playfair Display"/>
              </a:rPr>
              <a:t>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880360"/>
            <a:ext cx="3108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 spc="300">
                <a:solidFill>
                  <a:srgbClr val="F4EFE3"/>
                </a:solidFill>
                <a:latin typeface="Jost"/>
              </a:rPr>
              <a:t>THE THIRD ART</a:t>
            </a:r>
          </a:p>
          <a:p>
            <a:pPr algn="ctr">
              <a:spcBef>
                <a:spcPts val="400"/>
              </a:spcBef>
            </a:pPr>
            <a:r>
              <a:rPr sz="1000" b="0" i="1">
                <a:solidFill>
                  <a:srgbClr val="9AA79B"/>
                </a:solidFill>
                <a:latin typeface="Georgia"/>
              </a:rPr>
              <a:t>founded &amp; practised in Lahore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434840"/>
            <a:ext cx="31089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0" i="0">
                <a:solidFill>
                  <a:srgbClr val="F4EFE3"/>
                </a:solidFill>
                <a:latin typeface="Playfair Display"/>
              </a:rPr>
              <a:t>BIYA JEE</a:t>
            </a:r>
          </a:p>
          <a:p>
            <a:pPr algn="ctr">
              <a:spcBef>
                <a:spcPts val="600"/>
              </a:spcBef>
            </a:pPr>
            <a:r>
              <a:rPr sz="800" b="0" i="0" spc="150">
                <a:solidFill>
                  <a:srgbClr val="9AA79B"/>
                </a:solidFill>
                <a:latin typeface="Jost"/>
              </a:rPr>
              <a:t>Founder &amp; Artist, Biya Gallery Art &amp; Craft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80644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 spc="200">
                <a:solidFill>
                  <a:srgbClr val="D4AF5E"/>
                </a:solidFill>
                <a:latin typeface="Jost"/>
              </a:rPr>
              <a:t>PRACTICE SINCE 1985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566928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B98A2E"/>
                </a:solidFill>
                <a:latin typeface="Jost"/>
              </a:rPr>
              <a:t>THE FOUNDER  ·  I.4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896112"/>
            <a:ext cx="6400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0" i="0">
                <a:solidFill>
                  <a:srgbClr val="241B12"/>
                </a:solidFill>
                <a:latin typeface="Playfair Display"/>
              </a:rPr>
              <a:t>Biya Jee - First Lady of Third Art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30368" y="1783080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0" y="2011680"/>
            <a:ext cx="644652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  <a:spcAft>
                <a:spcPts val="1000"/>
              </a:spcAft>
            </a:pPr>
            <a:r>
              <a:rPr sz="1150" b="0" i="0">
                <a:solidFill>
                  <a:srgbClr val="1E1A14"/>
                </a:solidFill>
                <a:latin typeface="Georgia"/>
              </a:rPr>
              <a:t>Biya Jee founded Biya Gallery Art &amp; Craft in Lahore and named its practice the Third Art - the joining of original art, Thread Art, poetry and craft into one working discipline. The gallery's archive describes her as the First Lady of Third Art, a practice held since 1985.</a:t>
            </a:r>
          </a:p>
          <a:p>
            <a:pPr algn="l">
              <a:lnSpc>
                <a:spcPct val="155000"/>
              </a:lnSpc>
              <a:spcAft>
                <a:spcPts val="1000"/>
              </a:spcAft>
            </a:pPr>
            <a:r>
              <a:rPr sz="1150" b="0" i="0">
                <a:solidFill>
                  <a:srgbClr val="1E1A14"/>
                </a:solidFill>
                <a:latin typeface="Georgia"/>
              </a:rPr>
              <a:t>The 71-folio Heart of the Quran cycle is her signature work: a complete surah taken verse by verse and executed by hand over a single unbroken campaign, then presented as one composition. It is the first complete handmade Quranic verse cycle of its kind to enter the market.</a:t>
            </a:r>
          </a:p>
          <a:p>
            <a:pPr algn="l">
              <a:lnSpc>
                <a:spcPct val="155000"/>
              </a:lnSpc>
            </a:pPr>
            <a:r>
              <a:rPr sz="1150" b="0" i="1">
                <a:solidFill>
                  <a:srgbClr val="1E1A14"/>
                </a:solidFill>
                <a:latin typeface="Georgia"/>
              </a:rPr>
              <a:t>Every folio in this deck carries her hand. The collection's value is inseparable from its author: one artist, one chapter, one lifetime practice.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PROJECT  ·  I.5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0" i="0">
                <a:solidFill>
                  <a:srgbClr val="241B12"/>
                </a:solidFill>
                <a:latin typeface="Playfair Display"/>
              </a:rPr>
              <a:t>Project Vision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691640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92024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0" i="1">
                <a:solidFill>
                  <a:srgbClr val="B98A2E"/>
                </a:solidFill>
                <a:latin typeface="Playfair Display"/>
              </a:rPr>
              <a:t>Preserve  ·  Legacy  ·  Bridge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834640"/>
            <a:ext cx="548640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 spc="200">
                <a:solidFill>
                  <a:srgbClr val="B98A2E"/>
                </a:solidFill>
                <a:latin typeface="Jost"/>
              </a:rPr>
              <a:t>Preserve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150" b="0" i="0">
                <a:solidFill>
                  <a:srgbClr val="1E1A14"/>
                </a:solidFill>
                <a:latin typeface="Georgia"/>
              </a:rPr>
              <a:t>Archive-grade execution, 4K masters and 1.5x print sets for every folio, so the collection survives as an object and as a record.</a:t>
            </a:r>
          </a:p>
          <a:p>
            <a:pPr algn="l">
              <a:spcAft>
                <a:spcPts val="400"/>
              </a:spcAft>
            </a:pPr>
            <a:r>
              <a:rPr sz="1000" b="0" i="0" spc="200">
                <a:solidFill>
                  <a:srgbClr val="B98A2E"/>
                </a:solidFill>
                <a:latin typeface="Jost"/>
              </a:rPr>
              <a:t>Legacy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150" b="0" i="0">
                <a:solidFill>
                  <a:srgbClr val="1E1A14"/>
                </a:solidFill>
                <a:latin typeface="Georgia"/>
              </a:rPr>
              <a:t>A national home for a complete surah in handmade form - a permanent installation that becomes the city's reading of the Heart of the Quran.</a:t>
            </a:r>
          </a:p>
          <a:p>
            <a:pPr algn="l">
              <a:spcAft>
                <a:spcPts val="400"/>
              </a:spcAft>
            </a:pPr>
            <a:r>
              <a:rPr sz="1000" b="0" i="0" spc="200">
                <a:solidFill>
                  <a:srgbClr val="B98A2E"/>
                </a:solidFill>
                <a:latin typeface="Jost"/>
              </a:rPr>
              <a:t>Bridge</a:t>
            </a:r>
          </a:p>
          <a:p>
            <a:pPr algn="l">
              <a:lnSpc>
                <a:spcPct val="150000"/>
              </a:lnSpc>
            </a:pPr>
            <a:r>
              <a:rPr sz="1150" b="0" i="0">
                <a:solidFill>
                  <a:srgbClr val="1E1A14"/>
                </a:solidFill>
                <a:latin typeface="Georgia"/>
              </a:rPr>
              <a:t>A bridge between the recited word and the seen image: visitors read wall to wall while the surah plays, then carry the digital preview with them.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92240" y="2834640"/>
            <a:ext cx="5120640" cy="3200400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629400" y="2971800"/>
            <a:ext cx="4846320" cy="2926080"/>
          </a:xfrm>
          <a:prstGeom prst="rect">
            <a:avLst/>
          </a:prstGeom>
          <a:noFill/>
          <a:ln w="10160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0" y="3246120"/>
            <a:ext cx="4389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i="0" spc="180">
                <a:solidFill>
                  <a:srgbClr val="D4AF5E"/>
                </a:solidFill>
                <a:latin typeface="Jost"/>
              </a:rPr>
              <a:t>WHAT A NATIONAL PARTNER RECEIVES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3657600"/>
            <a:ext cx="44348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500"/>
              </a:spcAft>
            </a:pPr>
            <a:r>
              <a:rPr sz="1050" b="0" i="0">
                <a:solidFill>
                  <a:srgbClr val="F4EFE3"/>
                </a:solidFill>
                <a:latin typeface="Georgia"/>
              </a:rPr>
              <a:t>71 numbered originals with catalogue record</a:t>
            </a:r>
          </a:p>
          <a:p>
            <a:pPr algn="l">
              <a:lnSpc>
                <a:spcPct val="140000"/>
              </a:lnSpc>
              <a:spcAft>
                <a:spcPts val="500"/>
              </a:spcAft>
            </a:pPr>
            <a:r>
              <a:rPr sz="1050" b="0" i="0">
                <a:solidFill>
                  <a:srgbClr val="F4EFE3"/>
                </a:solidFill>
                <a:latin typeface="Georgia"/>
              </a:rPr>
              <a:t>4K + 1.5x print masters of every folio</a:t>
            </a:r>
          </a:p>
          <a:p>
            <a:pPr algn="l">
              <a:lnSpc>
                <a:spcPct val="140000"/>
              </a:lnSpc>
              <a:spcAft>
                <a:spcPts val="500"/>
              </a:spcAft>
            </a:pPr>
            <a:r>
              <a:rPr sz="1050" b="0" i="0">
                <a:solidFill>
                  <a:srgbClr val="F4EFE3"/>
                </a:solidFill>
                <a:latin typeface="Georgia"/>
              </a:rPr>
              <a:t>Verified verse record (Uthmani codex + English)</a:t>
            </a:r>
          </a:p>
          <a:p>
            <a:pPr algn="l">
              <a:lnSpc>
                <a:spcPct val="140000"/>
              </a:lnSpc>
              <a:spcAft>
                <a:spcPts val="500"/>
              </a:spcAft>
            </a:pPr>
            <a:r>
              <a:rPr sz="1050" b="0" i="0">
                <a:solidFill>
                  <a:srgbClr val="F4EFE3"/>
                </a:solidFill>
                <a:latin typeface="Georgia"/>
              </a:rPr>
              <a:t>Exhibition system: wall plan, lighting, digital previews</a:t>
            </a:r>
          </a:p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F4EFE3"/>
                </a:solidFill>
                <a:latin typeface="Georgia"/>
              </a:rPr>
              <a:t>Touring capability from day one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5840" y="1874519"/>
            <a:ext cx="25603" cy="2514600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93852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 spc="300">
                <a:solidFill>
                  <a:srgbClr val="D4AF5E"/>
                </a:solidFill>
                <a:latin typeface="Jost"/>
              </a:rPr>
              <a:t>PART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53312" y="2286000"/>
            <a:ext cx="98755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000" b="0" i="0">
                <a:solidFill>
                  <a:srgbClr val="F4EFE3"/>
                </a:solidFill>
                <a:latin typeface="Playfair Display"/>
              </a:rPr>
              <a:t>The Collection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703320"/>
            <a:ext cx="8686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9AA79B"/>
                </a:solidFill>
                <a:latin typeface="Georgia"/>
              </a:rPr>
              <a:t>How it was made, what it is made of, how it is organised, and how it hangs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COLLECTION  ·  II.1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0" i="0">
                <a:solidFill>
                  <a:srgbClr val="241B12"/>
                </a:solidFill>
                <a:latin typeface="Playfair Display"/>
              </a:rPr>
              <a:t>Complete Collection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691640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965960"/>
            <a:ext cx="3566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B98A2E"/>
                </a:solidFill>
                <a:latin typeface="Playfair Display"/>
              </a:rPr>
              <a:t>71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624328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80">
                <a:solidFill>
                  <a:srgbClr val="241B12"/>
                </a:solidFill>
                <a:latin typeface="Jost"/>
              </a:rPr>
              <a:t>FOLIOS IN THE CYCLE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898648"/>
            <a:ext cx="3566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6F6A5C"/>
                </a:solidFill>
                <a:latin typeface="Georgia"/>
              </a:rPr>
              <a:t>one verse per frame, F01 - F71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1965960"/>
            <a:ext cx="3566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B98A2E"/>
                </a:solidFill>
                <a:latin typeface="Playfair Display"/>
              </a:rPr>
              <a:t>69 + 2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2624328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80">
                <a:solidFill>
                  <a:srgbClr val="241B12"/>
                </a:solidFill>
                <a:latin typeface="Jost"/>
              </a:rPr>
              <a:t>PHOTOGRAPHED + RESERVED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2898648"/>
            <a:ext cx="3566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6F6A5C"/>
                </a:solidFill>
                <a:latin typeface="Georgia"/>
              </a:rPr>
              <a:t>two frames awaiting final photography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1965960"/>
            <a:ext cx="3566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B98A2E"/>
                </a:solidFill>
                <a:latin typeface="Playfair Display"/>
              </a:rPr>
              <a:t>55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2624328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80">
                <a:solidFill>
                  <a:srgbClr val="241B12"/>
                </a:solidFill>
                <a:latin typeface="Jost"/>
              </a:rPr>
              <a:t>SURAH AR-RAHMAN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2898648"/>
            <a:ext cx="3566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6F6A5C"/>
                </a:solidFill>
                <a:latin typeface="Georgia"/>
              </a:rPr>
              <a:t>Medinan surah · 78 verses · 'The Beneficent'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566160"/>
            <a:ext cx="3566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B98A2E"/>
                </a:solidFill>
                <a:latin typeface="Playfair Display"/>
              </a:rPr>
              <a:t>31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224528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80">
                <a:solidFill>
                  <a:srgbClr val="241B12"/>
                </a:solidFill>
                <a:latin typeface="Jost"/>
              </a:rPr>
              <a:t>REFRAIN FOLIOS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498848"/>
            <a:ext cx="3566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6F6A5C"/>
                </a:solidFill>
                <a:latin typeface="Georgia"/>
              </a:rPr>
              <a:t>the surah's question, each as its own panel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3566160"/>
            <a:ext cx="3566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B98A2E"/>
                </a:solidFill>
                <a:latin typeface="Playfair Display"/>
              </a:rPr>
              <a:t>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4224528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80">
                <a:solidFill>
                  <a:srgbClr val="241B12"/>
                </a:solidFill>
                <a:latin typeface="Jost"/>
              </a:rPr>
              <a:t>CHAPTERS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4498848"/>
            <a:ext cx="3566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6F6A5C"/>
                </a:solidFill>
                <a:latin typeface="Georgia"/>
              </a:rPr>
              <a:t>the collection reads in ten movements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40" y="3566160"/>
            <a:ext cx="3566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B98A2E"/>
                </a:solidFill>
                <a:latin typeface="Playfair Display"/>
              </a:rPr>
              <a:t>4K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2440" y="4224528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80">
                <a:solidFill>
                  <a:srgbClr val="241B12"/>
                </a:solidFill>
                <a:latin typeface="Jost"/>
              </a:rPr>
              <a:t>WORKING MASTERS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4498848"/>
            <a:ext cx="3566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6F6A5C"/>
                </a:solidFill>
                <a:latin typeface="Georgia"/>
              </a:rPr>
              <a:t>1613 x 1314 px per folio · 1.5x print sets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48640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b="0" i="1">
                <a:solidFill>
                  <a:srgbClr val="6F6A5C"/>
                </a:solidFill>
                <a:latin typeface="Georgia"/>
              </a:rPr>
              <a:t>Verse integrity: every folio is labelled with the actual verse it depicts, transcribed from the panel and verified against the Uthmani codex (alquran.cloud, 19 Sep 2026). Refrain panels carry the refrain; 18 refrain panels are flagged 'verify' in the inventory for final numbering against the physical frame before release.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108960" cy="6858000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108960" y="0"/>
            <a:ext cx="20116" cy="6858000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COLLECTION  ·  71 FOLIOS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23774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F4EFE3"/>
                </a:solidFill>
                <a:latin typeface="Playfair Display"/>
              </a:rPr>
              <a:t>Seventy-one</a:t>
            </a:r>
          </a:p>
          <a:p>
            <a:pPr algn="l">
              <a:spcBef>
                <a:spcPts val="500"/>
              </a:spcBef>
            </a:pPr>
            <a:r>
              <a:rPr sz="1400" b="0" i="1">
                <a:solidFill>
                  <a:srgbClr val="D4AF5E"/>
                </a:solidFill>
                <a:latin typeface="Playfair Display"/>
              </a:rPr>
              <a:t>folios, in display order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14600"/>
            <a:ext cx="23774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000" b="0" i="0">
                <a:solidFill>
                  <a:srgbClr val="9AA79B"/>
                </a:solidFill>
                <a:latin typeface="Georgia"/>
              </a:rPr>
              <a:t>Read left to right, top to bottom. Gold-bordered numbers are the folio catalogue numbers.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9AA79B"/>
                </a:solidFill>
                <a:latin typeface="Georgia"/>
              </a:rPr>
              <a:t>Frames 04 and 46 are reserved - photography pending; every other slide in this deck carries its image.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669280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 spc="150">
                <a:solidFill>
                  <a:srgbClr val="6F6A5C"/>
                </a:solidFill>
                <a:latin typeface="Jost"/>
              </a:rPr>
              <a:t>BIYA GALLERY · ART &amp; CRAFT</a:t>
            </a:r>
          </a:p>
        </p:txBody>
      </p:sp>
      <p:pic>
        <p:nvPicPr>
          <p:cNvPr id="8" name="Picture 7" descr="th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77240"/>
            <a:ext cx="731520" cy="594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429000" y="1376172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6F6A5C"/>
                </a:solidFill>
                <a:latin typeface="Jost"/>
              </a:rPr>
              <a:t>01</a:t>
            </a:r>
          </a:p>
        </p:txBody>
      </p:sp>
      <p:pic>
        <p:nvPicPr>
          <p:cNvPr id="10" name="Picture 9" descr="th0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8244" y="777240"/>
            <a:ext cx="731520" cy="5943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238244" y="1376172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6F6A5C"/>
                </a:solidFill>
                <a:latin typeface="Jost"/>
              </a:rPr>
              <a:t>02</a:t>
            </a:r>
          </a:p>
        </p:txBody>
      </p:sp>
      <p:pic>
        <p:nvPicPr>
          <p:cNvPr id="12" name="Picture 11" descr="th0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7488" y="777240"/>
            <a:ext cx="731520" cy="5943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047488" y="1376172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6F6A5C"/>
                </a:solidFill>
                <a:latin typeface="Jost"/>
              </a:rPr>
              <a:t>03</a:t>
            </a:r>
          </a:p>
        </p:txBody>
      </p:sp>
      <p:pic>
        <p:nvPicPr>
          <p:cNvPr id="14" name="Picture 13" descr="th04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6732" y="777240"/>
            <a:ext cx="731520" cy="5943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856732" y="1376172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6F6A5C"/>
                </a:solidFill>
                <a:latin typeface="Jost"/>
              </a:rPr>
              <a:t>04</a:t>
            </a:r>
          </a:p>
        </p:txBody>
      </p:sp>
      <p:pic>
        <p:nvPicPr>
          <p:cNvPr id="16" name="Picture 15" descr="th05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5976" y="777240"/>
            <a:ext cx="731520" cy="5943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665976" y="1376172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6F6A5C"/>
                </a:solidFill>
                <a:latin typeface="Jost"/>
              </a:rPr>
              <a:t>05</a:t>
            </a:r>
          </a:p>
        </p:txBody>
      </p:sp>
      <p:pic>
        <p:nvPicPr>
          <p:cNvPr id="18" name="Picture 17" descr="th06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75220" y="777240"/>
            <a:ext cx="731520" cy="59436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475220" y="1376172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6F6A5C"/>
                </a:solidFill>
                <a:latin typeface="Jost"/>
              </a:rPr>
              <a:t>06</a:t>
            </a:r>
          </a:p>
        </p:txBody>
      </p:sp>
      <p:pic>
        <p:nvPicPr>
          <p:cNvPr id="20" name="Picture 19" descr="th07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84464" y="777240"/>
            <a:ext cx="731520" cy="59436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284464" y="1376172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6F6A5C"/>
                </a:solidFill>
                <a:latin typeface="Jost"/>
              </a:rPr>
              <a:t>07</a:t>
            </a:r>
          </a:p>
        </p:txBody>
      </p:sp>
      <p:pic>
        <p:nvPicPr>
          <p:cNvPr id="22" name="Picture 21" descr="th08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93708" y="777240"/>
            <a:ext cx="731520" cy="59436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093708" y="1376172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6F6A5C"/>
                </a:solidFill>
                <a:latin typeface="Jost"/>
              </a:rPr>
              <a:t>08</a:t>
            </a:r>
          </a:p>
        </p:txBody>
      </p:sp>
      <p:pic>
        <p:nvPicPr>
          <p:cNvPr id="24" name="Picture 23" descr="th09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02952" y="777240"/>
            <a:ext cx="731520" cy="59436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9902952" y="1376172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6F6A5C"/>
                </a:solidFill>
                <a:latin typeface="Jost"/>
              </a:rPr>
              <a:t>09</a:t>
            </a:r>
          </a:p>
        </p:txBody>
      </p:sp>
      <p:pic>
        <p:nvPicPr>
          <p:cNvPr id="26" name="Picture 25" descr="th10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712196" y="777240"/>
            <a:ext cx="731520" cy="59436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0712196" y="1376172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6F6A5C"/>
                </a:solidFill>
                <a:latin typeface="Jost"/>
              </a:rPr>
              <a:t>10</a:t>
            </a:r>
          </a:p>
        </p:txBody>
      </p:sp>
      <p:pic>
        <p:nvPicPr>
          <p:cNvPr id="28" name="Picture 27" descr="th11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429000" y="1449324"/>
            <a:ext cx="731520" cy="59436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3429000" y="2048255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6F6A5C"/>
                </a:solidFill>
                <a:latin typeface="Jost"/>
              </a:rPr>
              <a:t>11</a:t>
            </a:r>
          </a:p>
        </p:txBody>
      </p:sp>
      <p:pic>
        <p:nvPicPr>
          <p:cNvPr id="30" name="Picture 29" descr="th12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238244" y="1449324"/>
            <a:ext cx="731520" cy="59436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4238244" y="2048255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6F6A5C"/>
                </a:solidFill>
                <a:latin typeface="Jost"/>
              </a:rPr>
              <a:t>12</a:t>
            </a:r>
          </a:p>
        </p:txBody>
      </p:sp>
      <p:pic>
        <p:nvPicPr>
          <p:cNvPr id="32" name="Picture 31" descr="th13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047488" y="1449324"/>
            <a:ext cx="731520" cy="59436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047488" y="2048255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6F6A5C"/>
                </a:solidFill>
                <a:latin typeface="Jost"/>
              </a:rPr>
              <a:t>13</a:t>
            </a:r>
          </a:p>
        </p:txBody>
      </p:sp>
      <p:pic>
        <p:nvPicPr>
          <p:cNvPr id="34" name="Picture 33" descr="th14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856732" y="1449324"/>
            <a:ext cx="731520" cy="59436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5856732" y="2048255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6F6A5C"/>
                </a:solidFill>
                <a:latin typeface="Jost"/>
              </a:rPr>
              <a:t>14</a:t>
            </a:r>
          </a:p>
        </p:txBody>
      </p:sp>
      <p:pic>
        <p:nvPicPr>
          <p:cNvPr id="36" name="Picture 35" descr="th15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665976" y="1449324"/>
            <a:ext cx="731520" cy="59436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665976" y="2048255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6F6A5C"/>
                </a:solidFill>
                <a:latin typeface="Jost"/>
              </a:rPr>
              <a:t>15</a:t>
            </a:r>
          </a:p>
        </p:txBody>
      </p:sp>
      <p:pic>
        <p:nvPicPr>
          <p:cNvPr id="38" name="Picture 37" descr="th16.jp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475220" y="1449324"/>
            <a:ext cx="731520" cy="59436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7475220" y="2048255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6F6A5C"/>
                </a:solidFill>
                <a:latin typeface="Jost"/>
              </a:rPr>
              <a:t>16</a:t>
            </a:r>
          </a:p>
        </p:txBody>
      </p:sp>
      <p:pic>
        <p:nvPicPr>
          <p:cNvPr id="40" name="Picture 39" descr="th17.jp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284464" y="1449324"/>
            <a:ext cx="731520" cy="59436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8284464" y="2048255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6F6A5C"/>
                </a:solidFill>
                <a:latin typeface="Jost"/>
              </a:rPr>
              <a:t>17</a:t>
            </a:r>
          </a:p>
        </p:txBody>
      </p:sp>
      <p:pic>
        <p:nvPicPr>
          <p:cNvPr id="42" name="Picture 41" descr="th18.jp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093708" y="1449324"/>
            <a:ext cx="731520" cy="59436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9093708" y="2048255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6F6A5C"/>
                </a:solidFill>
                <a:latin typeface="Jost"/>
              </a:rPr>
              <a:t>18</a:t>
            </a:r>
          </a:p>
        </p:txBody>
      </p:sp>
      <p:pic>
        <p:nvPicPr>
          <p:cNvPr id="44" name="Picture 43" descr="th19.jp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902952" y="1449324"/>
            <a:ext cx="731520" cy="59436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9902952" y="2048255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6F6A5C"/>
                </a:solidFill>
                <a:latin typeface="Jost"/>
              </a:rPr>
              <a:t>19</a:t>
            </a:r>
          </a:p>
        </p:txBody>
      </p:sp>
      <p:pic>
        <p:nvPicPr>
          <p:cNvPr id="46" name="Picture 45" descr="th20.jp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712196" y="1449324"/>
            <a:ext cx="731520" cy="59436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0712196" y="2048255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6F6A5C"/>
                </a:solidFill>
                <a:latin typeface="Jost"/>
              </a:rPr>
              <a:t>20</a:t>
            </a:r>
          </a:p>
        </p:txBody>
      </p:sp>
      <p:pic>
        <p:nvPicPr>
          <p:cNvPr id="48" name="Picture 47" descr="th21.jp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429000" y="2121408"/>
            <a:ext cx="731520" cy="59436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3429000" y="2720339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6F6A5C"/>
                </a:solidFill>
                <a:latin typeface="Jost"/>
              </a:rPr>
              <a:t>21</a:t>
            </a:r>
          </a:p>
        </p:txBody>
      </p:sp>
      <p:pic>
        <p:nvPicPr>
          <p:cNvPr id="50" name="Picture 49" descr="th22.jp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238244" y="2121408"/>
            <a:ext cx="731520" cy="59436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4238244" y="2720339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6F6A5C"/>
                </a:solidFill>
                <a:latin typeface="Jost"/>
              </a:rPr>
              <a:t>22</a:t>
            </a:r>
          </a:p>
        </p:txBody>
      </p:sp>
      <p:pic>
        <p:nvPicPr>
          <p:cNvPr id="52" name="Picture 51" descr="th23.jp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047488" y="2121408"/>
            <a:ext cx="731520" cy="59436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5047488" y="2720339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6F6A5C"/>
                </a:solidFill>
                <a:latin typeface="Jost"/>
              </a:rPr>
              <a:t>23</a:t>
            </a:r>
          </a:p>
        </p:txBody>
      </p:sp>
      <p:pic>
        <p:nvPicPr>
          <p:cNvPr id="54" name="Picture 53" descr="th24.jp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856732" y="2121408"/>
            <a:ext cx="731520" cy="594360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5856732" y="2720339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6F6A5C"/>
                </a:solidFill>
                <a:latin typeface="Jost"/>
              </a:rPr>
              <a:t>24</a:t>
            </a:r>
          </a:p>
        </p:txBody>
      </p:sp>
      <p:pic>
        <p:nvPicPr>
          <p:cNvPr id="56" name="Picture 55" descr="th25.jp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665976" y="2121408"/>
            <a:ext cx="731520" cy="594360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6665976" y="2720339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6F6A5C"/>
                </a:solidFill>
                <a:latin typeface="Jost"/>
              </a:rPr>
              <a:t>25</a:t>
            </a:r>
          </a:p>
        </p:txBody>
      </p:sp>
      <p:pic>
        <p:nvPicPr>
          <p:cNvPr id="58" name="Picture 57" descr="th26.jp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475220" y="2121408"/>
            <a:ext cx="731520" cy="594360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7475220" y="2720339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6F6A5C"/>
                </a:solidFill>
                <a:latin typeface="Jost"/>
              </a:rPr>
              <a:t>26</a:t>
            </a:r>
          </a:p>
        </p:txBody>
      </p:sp>
      <p:pic>
        <p:nvPicPr>
          <p:cNvPr id="60" name="Picture 59" descr="th27.jp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284464" y="2121408"/>
            <a:ext cx="731520" cy="594360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8284464" y="2720339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6F6A5C"/>
                </a:solidFill>
                <a:latin typeface="Jost"/>
              </a:rPr>
              <a:t>27</a:t>
            </a:r>
          </a:p>
        </p:txBody>
      </p:sp>
      <p:pic>
        <p:nvPicPr>
          <p:cNvPr id="62" name="Picture 61" descr="th28.jp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9093708" y="2121408"/>
            <a:ext cx="731520" cy="594360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9093708" y="2720339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6F6A5C"/>
                </a:solidFill>
                <a:latin typeface="Jost"/>
              </a:rPr>
              <a:t>28</a:t>
            </a:r>
          </a:p>
        </p:txBody>
      </p:sp>
      <p:pic>
        <p:nvPicPr>
          <p:cNvPr id="64" name="Picture 63" descr="th29.jp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9902952" y="2121408"/>
            <a:ext cx="731520" cy="594360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9902952" y="2720339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6F6A5C"/>
                </a:solidFill>
                <a:latin typeface="Jost"/>
              </a:rPr>
              <a:t>29</a:t>
            </a:r>
          </a:p>
        </p:txBody>
      </p:sp>
      <p:pic>
        <p:nvPicPr>
          <p:cNvPr id="66" name="Picture 65" descr="th30.jp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0712196" y="2121408"/>
            <a:ext cx="731520" cy="594360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10712196" y="2720339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6F6A5C"/>
                </a:solidFill>
                <a:latin typeface="Jost"/>
              </a:rPr>
              <a:t>30</a:t>
            </a:r>
          </a:p>
        </p:txBody>
      </p:sp>
      <p:pic>
        <p:nvPicPr>
          <p:cNvPr id="68" name="Picture 67" descr="th31.jp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3429000" y="2793492"/>
            <a:ext cx="731520" cy="594360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3429000" y="3392424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6F6A5C"/>
                </a:solidFill>
                <a:latin typeface="Jost"/>
              </a:rPr>
              <a:t>31</a:t>
            </a:r>
          </a:p>
        </p:txBody>
      </p:sp>
      <p:pic>
        <p:nvPicPr>
          <p:cNvPr id="70" name="Picture 69" descr="th32.jp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4238244" y="2793492"/>
            <a:ext cx="731520" cy="594360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4238244" y="3392424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6F6A5C"/>
                </a:solidFill>
                <a:latin typeface="Jost"/>
              </a:rPr>
              <a:t>32</a:t>
            </a:r>
          </a:p>
        </p:txBody>
      </p:sp>
      <p:pic>
        <p:nvPicPr>
          <p:cNvPr id="72" name="Picture 71" descr="th33.jp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5047488" y="2793492"/>
            <a:ext cx="731520" cy="594360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5047488" y="3392424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6F6A5C"/>
                </a:solidFill>
                <a:latin typeface="Jost"/>
              </a:rPr>
              <a:t>33</a:t>
            </a:r>
          </a:p>
        </p:txBody>
      </p:sp>
      <p:pic>
        <p:nvPicPr>
          <p:cNvPr id="74" name="Picture 73" descr="th34.jp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5856732" y="2793492"/>
            <a:ext cx="731520" cy="594360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5856732" y="3392424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6F6A5C"/>
                </a:solidFill>
                <a:latin typeface="Jost"/>
              </a:rPr>
              <a:t>34</a:t>
            </a:r>
          </a:p>
        </p:txBody>
      </p:sp>
      <p:pic>
        <p:nvPicPr>
          <p:cNvPr id="76" name="Picture 75" descr="th35.jp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6665976" y="2793492"/>
            <a:ext cx="731520" cy="594360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6665976" y="3392424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6F6A5C"/>
                </a:solidFill>
                <a:latin typeface="Jost"/>
              </a:rPr>
              <a:t>35</a:t>
            </a:r>
          </a:p>
        </p:txBody>
      </p:sp>
      <p:pic>
        <p:nvPicPr>
          <p:cNvPr id="78" name="Picture 77" descr="th36.jp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7475220" y="2793492"/>
            <a:ext cx="731520" cy="594360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7475220" y="3392424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6F6A5C"/>
                </a:solidFill>
                <a:latin typeface="Jost"/>
              </a:rPr>
              <a:t>36</a:t>
            </a:r>
          </a:p>
        </p:txBody>
      </p:sp>
      <p:pic>
        <p:nvPicPr>
          <p:cNvPr id="80" name="Picture 79" descr="th37.jp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8284464" y="2793492"/>
            <a:ext cx="731520" cy="594360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8284464" y="3392424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6F6A5C"/>
                </a:solidFill>
                <a:latin typeface="Jost"/>
              </a:rPr>
              <a:t>37</a:t>
            </a:r>
          </a:p>
        </p:txBody>
      </p:sp>
      <p:pic>
        <p:nvPicPr>
          <p:cNvPr id="82" name="Picture 81" descr="th38.jp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9093708" y="2793492"/>
            <a:ext cx="731520" cy="594360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9093708" y="3392424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6F6A5C"/>
                </a:solidFill>
                <a:latin typeface="Jost"/>
              </a:rPr>
              <a:t>38</a:t>
            </a:r>
          </a:p>
        </p:txBody>
      </p:sp>
      <p:pic>
        <p:nvPicPr>
          <p:cNvPr id="84" name="Picture 83" descr="th39.jp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9902952" y="2793492"/>
            <a:ext cx="731520" cy="594360"/>
          </a:xfrm>
          <a:prstGeom prst="rect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9902952" y="3392424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6F6A5C"/>
                </a:solidFill>
                <a:latin typeface="Jost"/>
              </a:rPr>
              <a:t>39</a:t>
            </a:r>
          </a:p>
        </p:txBody>
      </p:sp>
      <p:pic>
        <p:nvPicPr>
          <p:cNvPr id="86" name="Picture 85" descr="th40.jpg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10712196" y="2793492"/>
            <a:ext cx="731520" cy="594360"/>
          </a:xfrm>
          <a:prstGeom prst="rect">
            <a:avLst/>
          </a:prstGeom>
        </p:spPr>
      </p:pic>
      <p:sp>
        <p:nvSpPr>
          <p:cNvPr id="87" name="TextBox 86"/>
          <p:cNvSpPr txBox="1"/>
          <p:nvPr/>
        </p:nvSpPr>
        <p:spPr>
          <a:xfrm>
            <a:off x="10712196" y="3392424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6F6A5C"/>
                </a:solidFill>
                <a:latin typeface="Jost"/>
              </a:rPr>
              <a:t>40</a:t>
            </a:r>
          </a:p>
        </p:txBody>
      </p:sp>
      <p:pic>
        <p:nvPicPr>
          <p:cNvPr id="88" name="Picture 87" descr="th41.jpg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3429000" y="3465576"/>
            <a:ext cx="731520" cy="594360"/>
          </a:xfrm>
          <a:prstGeom prst="rect">
            <a:avLst/>
          </a:prstGeom>
        </p:spPr>
      </p:pic>
      <p:sp>
        <p:nvSpPr>
          <p:cNvPr id="89" name="TextBox 88"/>
          <p:cNvSpPr txBox="1"/>
          <p:nvPr/>
        </p:nvSpPr>
        <p:spPr>
          <a:xfrm>
            <a:off x="3429000" y="4064508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6F6A5C"/>
                </a:solidFill>
                <a:latin typeface="Jost"/>
              </a:rPr>
              <a:t>41</a:t>
            </a:r>
          </a:p>
        </p:txBody>
      </p:sp>
      <p:pic>
        <p:nvPicPr>
          <p:cNvPr id="90" name="Picture 89" descr="th42.jpg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4238244" y="3465576"/>
            <a:ext cx="731520" cy="594360"/>
          </a:xfrm>
          <a:prstGeom prst="rect">
            <a:avLst/>
          </a:prstGeom>
        </p:spPr>
      </p:pic>
      <p:sp>
        <p:nvSpPr>
          <p:cNvPr id="91" name="TextBox 90"/>
          <p:cNvSpPr txBox="1"/>
          <p:nvPr/>
        </p:nvSpPr>
        <p:spPr>
          <a:xfrm>
            <a:off x="4238244" y="4064508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6F6A5C"/>
                </a:solidFill>
                <a:latin typeface="Jost"/>
              </a:rPr>
              <a:t>42</a:t>
            </a:r>
          </a:p>
        </p:txBody>
      </p:sp>
      <p:pic>
        <p:nvPicPr>
          <p:cNvPr id="92" name="Picture 91" descr="th43.jpg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5047488" y="3465576"/>
            <a:ext cx="731520" cy="594360"/>
          </a:xfrm>
          <a:prstGeom prst="rect">
            <a:avLst/>
          </a:prstGeom>
        </p:spPr>
      </p:pic>
      <p:sp>
        <p:nvSpPr>
          <p:cNvPr id="93" name="TextBox 92"/>
          <p:cNvSpPr txBox="1"/>
          <p:nvPr/>
        </p:nvSpPr>
        <p:spPr>
          <a:xfrm>
            <a:off x="5047488" y="4064508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6F6A5C"/>
                </a:solidFill>
                <a:latin typeface="Jost"/>
              </a:rPr>
              <a:t>43</a:t>
            </a:r>
          </a:p>
        </p:txBody>
      </p:sp>
      <p:pic>
        <p:nvPicPr>
          <p:cNvPr id="94" name="Picture 93" descr="th44.jpg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5856732" y="3465576"/>
            <a:ext cx="731520" cy="594360"/>
          </a:xfrm>
          <a:prstGeom prst="rect">
            <a:avLst/>
          </a:prstGeom>
        </p:spPr>
      </p:pic>
      <p:sp>
        <p:nvSpPr>
          <p:cNvPr id="95" name="TextBox 94"/>
          <p:cNvSpPr txBox="1"/>
          <p:nvPr/>
        </p:nvSpPr>
        <p:spPr>
          <a:xfrm>
            <a:off x="5856732" y="4064508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6F6A5C"/>
                </a:solidFill>
                <a:latin typeface="Jost"/>
              </a:rPr>
              <a:t>44</a:t>
            </a:r>
          </a:p>
        </p:txBody>
      </p:sp>
      <p:pic>
        <p:nvPicPr>
          <p:cNvPr id="96" name="Picture 95" descr="th45.jpg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6665976" y="3465576"/>
            <a:ext cx="731520" cy="594360"/>
          </a:xfrm>
          <a:prstGeom prst="rect">
            <a:avLst/>
          </a:prstGeom>
        </p:spPr>
      </p:pic>
      <p:sp>
        <p:nvSpPr>
          <p:cNvPr id="97" name="TextBox 96"/>
          <p:cNvSpPr txBox="1"/>
          <p:nvPr/>
        </p:nvSpPr>
        <p:spPr>
          <a:xfrm>
            <a:off x="6665976" y="4064508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6F6A5C"/>
                </a:solidFill>
                <a:latin typeface="Jost"/>
              </a:rPr>
              <a:t>45</a:t>
            </a:r>
          </a:p>
        </p:txBody>
      </p:sp>
      <p:pic>
        <p:nvPicPr>
          <p:cNvPr id="98" name="Picture 97" descr="th46.jpg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7475220" y="3465576"/>
            <a:ext cx="731520" cy="594360"/>
          </a:xfrm>
          <a:prstGeom prst="rect">
            <a:avLst/>
          </a:prstGeom>
        </p:spPr>
      </p:pic>
      <p:sp>
        <p:nvSpPr>
          <p:cNvPr id="99" name="TextBox 98"/>
          <p:cNvSpPr txBox="1"/>
          <p:nvPr/>
        </p:nvSpPr>
        <p:spPr>
          <a:xfrm>
            <a:off x="7475220" y="4064508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6F6A5C"/>
                </a:solidFill>
                <a:latin typeface="Jost"/>
              </a:rPr>
              <a:t>46</a:t>
            </a:r>
          </a:p>
        </p:txBody>
      </p:sp>
      <p:pic>
        <p:nvPicPr>
          <p:cNvPr id="100" name="Picture 99" descr="th47.jpg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8284464" y="3465576"/>
            <a:ext cx="731520" cy="594360"/>
          </a:xfrm>
          <a:prstGeom prst="rect">
            <a:avLst/>
          </a:prstGeom>
        </p:spPr>
      </p:pic>
      <p:sp>
        <p:nvSpPr>
          <p:cNvPr id="101" name="TextBox 100"/>
          <p:cNvSpPr txBox="1"/>
          <p:nvPr/>
        </p:nvSpPr>
        <p:spPr>
          <a:xfrm>
            <a:off x="8284464" y="4064508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6F6A5C"/>
                </a:solidFill>
                <a:latin typeface="Jost"/>
              </a:rPr>
              <a:t>47</a:t>
            </a:r>
          </a:p>
        </p:txBody>
      </p:sp>
      <p:pic>
        <p:nvPicPr>
          <p:cNvPr id="102" name="Picture 101" descr="th48.jpg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9093708" y="3465576"/>
            <a:ext cx="731520" cy="594360"/>
          </a:xfrm>
          <a:prstGeom prst="rect">
            <a:avLst/>
          </a:prstGeom>
        </p:spPr>
      </p:pic>
      <p:sp>
        <p:nvSpPr>
          <p:cNvPr id="103" name="TextBox 102"/>
          <p:cNvSpPr txBox="1"/>
          <p:nvPr/>
        </p:nvSpPr>
        <p:spPr>
          <a:xfrm>
            <a:off x="9093708" y="4064508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6F6A5C"/>
                </a:solidFill>
                <a:latin typeface="Jost"/>
              </a:rPr>
              <a:t>48</a:t>
            </a:r>
          </a:p>
        </p:txBody>
      </p:sp>
      <p:pic>
        <p:nvPicPr>
          <p:cNvPr id="104" name="Picture 103" descr="th49.jpg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9902952" y="3465576"/>
            <a:ext cx="731520" cy="594360"/>
          </a:xfrm>
          <a:prstGeom prst="rect">
            <a:avLst/>
          </a:prstGeom>
        </p:spPr>
      </p:pic>
      <p:sp>
        <p:nvSpPr>
          <p:cNvPr id="105" name="TextBox 104"/>
          <p:cNvSpPr txBox="1"/>
          <p:nvPr/>
        </p:nvSpPr>
        <p:spPr>
          <a:xfrm>
            <a:off x="9902952" y="4064508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6F6A5C"/>
                </a:solidFill>
                <a:latin typeface="Jost"/>
              </a:rPr>
              <a:t>49</a:t>
            </a:r>
          </a:p>
        </p:txBody>
      </p:sp>
      <p:pic>
        <p:nvPicPr>
          <p:cNvPr id="106" name="Picture 105" descr="th50.jpg"/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10712196" y="3465576"/>
            <a:ext cx="731520" cy="594360"/>
          </a:xfrm>
          <a:prstGeom prst="rect">
            <a:avLst/>
          </a:prstGeom>
        </p:spPr>
      </p:pic>
      <p:sp>
        <p:nvSpPr>
          <p:cNvPr id="107" name="TextBox 106"/>
          <p:cNvSpPr txBox="1"/>
          <p:nvPr/>
        </p:nvSpPr>
        <p:spPr>
          <a:xfrm>
            <a:off x="10712196" y="4064508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6F6A5C"/>
                </a:solidFill>
                <a:latin typeface="Jost"/>
              </a:rPr>
              <a:t>50</a:t>
            </a:r>
          </a:p>
        </p:txBody>
      </p:sp>
      <p:pic>
        <p:nvPicPr>
          <p:cNvPr id="108" name="Picture 107" descr="th51.jpg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3429000" y="4137659"/>
            <a:ext cx="731520" cy="594360"/>
          </a:xfrm>
          <a:prstGeom prst="rect">
            <a:avLst/>
          </a:prstGeom>
        </p:spPr>
      </p:pic>
      <p:sp>
        <p:nvSpPr>
          <p:cNvPr id="109" name="TextBox 108"/>
          <p:cNvSpPr txBox="1"/>
          <p:nvPr/>
        </p:nvSpPr>
        <p:spPr>
          <a:xfrm>
            <a:off x="3429000" y="4736592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6F6A5C"/>
                </a:solidFill>
                <a:latin typeface="Jost"/>
              </a:rPr>
              <a:t>51</a:t>
            </a:r>
          </a:p>
        </p:txBody>
      </p:sp>
      <p:pic>
        <p:nvPicPr>
          <p:cNvPr id="110" name="Picture 109" descr="th52.jpg"/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4238244" y="4137659"/>
            <a:ext cx="731520" cy="594360"/>
          </a:xfrm>
          <a:prstGeom prst="rect">
            <a:avLst/>
          </a:prstGeom>
        </p:spPr>
      </p:pic>
      <p:sp>
        <p:nvSpPr>
          <p:cNvPr id="111" name="TextBox 110"/>
          <p:cNvSpPr txBox="1"/>
          <p:nvPr/>
        </p:nvSpPr>
        <p:spPr>
          <a:xfrm>
            <a:off x="4238244" y="4736592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6F6A5C"/>
                </a:solidFill>
                <a:latin typeface="Jost"/>
              </a:rPr>
              <a:t>52</a:t>
            </a:r>
          </a:p>
        </p:txBody>
      </p:sp>
      <p:pic>
        <p:nvPicPr>
          <p:cNvPr id="112" name="Picture 111" descr="th53.jpg"/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5047488" y="4137659"/>
            <a:ext cx="731520" cy="594360"/>
          </a:xfrm>
          <a:prstGeom prst="rect">
            <a:avLst/>
          </a:prstGeom>
        </p:spPr>
      </p:pic>
      <p:sp>
        <p:nvSpPr>
          <p:cNvPr id="113" name="TextBox 112"/>
          <p:cNvSpPr txBox="1"/>
          <p:nvPr/>
        </p:nvSpPr>
        <p:spPr>
          <a:xfrm>
            <a:off x="5047488" y="4736592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6F6A5C"/>
                </a:solidFill>
                <a:latin typeface="Jost"/>
              </a:rPr>
              <a:t>53</a:t>
            </a:r>
          </a:p>
        </p:txBody>
      </p:sp>
      <p:pic>
        <p:nvPicPr>
          <p:cNvPr id="114" name="Picture 113" descr="th54.jpg"/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5856732" y="4137659"/>
            <a:ext cx="731520" cy="594360"/>
          </a:xfrm>
          <a:prstGeom prst="rect">
            <a:avLst/>
          </a:prstGeom>
        </p:spPr>
      </p:pic>
      <p:sp>
        <p:nvSpPr>
          <p:cNvPr id="115" name="TextBox 114"/>
          <p:cNvSpPr txBox="1"/>
          <p:nvPr/>
        </p:nvSpPr>
        <p:spPr>
          <a:xfrm>
            <a:off x="5856732" y="4736592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6F6A5C"/>
                </a:solidFill>
                <a:latin typeface="Jost"/>
              </a:rPr>
              <a:t>54</a:t>
            </a:r>
          </a:p>
        </p:txBody>
      </p:sp>
      <p:pic>
        <p:nvPicPr>
          <p:cNvPr id="116" name="Picture 115" descr="th55.jpg"/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6665976" y="4137659"/>
            <a:ext cx="731520" cy="594360"/>
          </a:xfrm>
          <a:prstGeom prst="rect">
            <a:avLst/>
          </a:prstGeom>
        </p:spPr>
      </p:pic>
      <p:sp>
        <p:nvSpPr>
          <p:cNvPr id="117" name="TextBox 116"/>
          <p:cNvSpPr txBox="1"/>
          <p:nvPr/>
        </p:nvSpPr>
        <p:spPr>
          <a:xfrm>
            <a:off x="6665976" y="4736592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6F6A5C"/>
                </a:solidFill>
                <a:latin typeface="Jost"/>
              </a:rPr>
              <a:t>55</a:t>
            </a:r>
          </a:p>
        </p:txBody>
      </p:sp>
      <p:pic>
        <p:nvPicPr>
          <p:cNvPr id="118" name="Picture 117" descr="th56.jpg"/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7475220" y="4137659"/>
            <a:ext cx="731520" cy="594360"/>
          </a:xfrm>
          <a:prstGeom prst="rect">
            <a:avLst/>
          </a:prstGeom>
        </p:spPr>
      </p:pic>
      <p:sp>
        <p:nvSpPr>
          <p:cNvPr id="119" name="TextBox 118"/>
          <p:cNvSpPr txBox="1"/>
          <p:nvPr/>
        </p:nvSpPr>
        <p:spPr>
          <a:xfrm>
            <a:off x="7475220" y="4736592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6F6A5C"/>
                </a:solidFill>
                <a:latin typeface="Jost"/>
              </a:rPr>
              <a:t>56</a:t>
            </a:r>
          </a:p>
        </p:txBody>
      </p:sp>
      <p:pic>
        <p:nvPicPr>
          <p:cNvPr id="120" name="Picture 119" descr="th57.jpg"/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8284464" y="4137659"/>
            <a:ext cx="731520" cy="594360"/>
          </a:xfrm>
          <a:prstGeom prst="rect">
            <a:avLst/>
          </a:prstGeom>
        </p:spPr>
      </p:pic>
      <p:sp>
        <p:nvSpPr>
          <p:cNvPr id="121" name="TextBox 120"/>
          <p:cNvSpPr txBox="1"/>
          <p:nvPr/>
        </p:nvSpPr>
        <p:spPr>
          <a:xfrm>
            <a:off x="8284464" y="4736592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6F6A5C"/>
                </a:solidFill>
                <a:latin typeface="Jost"/>
              </a:rPr>
              <a:t>57</a:t>
            </a:r>
          </a:p>
        </p:txBody>
      </p:sp>
      <p:pic>
        <p:nvPicPr>
          <p:cNvPr id="122" name="Picture 121" descr="th58.jpg"/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9093708" y="4137659"/>
            <a:ext cx="731520" cy="594360"/>
          </a:xfrm>
          <a:prstGeom prst="rect">
            <a:avLst/>
          </a:prstGeom>
        </p:spPr>
      </p:pic>
      <p:sp>
        <p:nvSpPr>
          <p:cNvPr id="123" name="TextBox 122"/>
          <p:cNvSpPr txBox="1"/>
          <p:nvPr/>
        </p:nvSpPr>
        <p:spPr>
          <a:xfrm>
            <a:off x="9093708" y="4736592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6F6A5C"/>
                </a:solidFill>
                <a:latin typeface="Jost"/>
              </a:rPr>
              <a:t>58</a:t>
            </a:r>
          </a:p>
        </p:txBody>
      </p:sp>
      <p:pic>
        <p:nvPicPr>
          <p:cNvPr id="124" name="Picture 123" descr="th59.jpg"/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9902952" y="4137659"/>
            <a:ext cx="731520" cy="594360"/>
          </a:xfrm>
          <a:prstGeom prst="rect">
            <a:avLst/>
          </a:prstGeom>
        </p:spPr>
      </p:pic>
      <p:sp>
        <p:nvSpPr>
          <p:cNvPr id="125" name="TextBox 124"/>
          <p:cNvSpPr txBox="1"/>
          <p:nvPr/>
        </p:nvSpPr>
        <p:spPr>
          <a:xfrm>
            <a:off x="9902952" y="4736592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6F6A5C"/>
                </a:solidFill>
                <a:latin typeface="Jost"/>
              </a:rPr>
              <a:t>59</a:t>
            </a:r>
          </a:p>
        </p:txBody>
      </p:sp>
      <p:pic>
        <p:nvPicPr>
          <p:cNvPr id="126" name="Picture 125" descr="th60.jpg"/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10712196" y="4137659"/>
            <a:ext cx="731520" cy="594360"/>
          </a:xfrm>
          <a:prstGeom prst="rect">
            <a:avLst/>
          </a:prstGeom>
        </p:spPr>
      </p:pic>
      <p:sp>
        <p:nvSpPr>
          <p:cNvPr id="127" name="TextBox 126"/>
          <p:cNvSpPr txBox="1"/>
          <p:nvPr/>
        </p:nvSpPr>
        <p:spPr>
          <a:xfrm>
            <a:off x="10712196" y="4736592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6F6A5C"/>
                </a:solidFill>
                <a:latin typeface="Jost"/>
              </a:rPr>
              <a:t>60</a:t>
            </a:r>
          </a:p>
        </p:txBody>
      </p:sp>
      <p:pic>
        <p:nvPicPr>
          <p:cNvPr id="128" name="Picture 127" descr="th61.jpg"/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3429000" y="4809744"/>
            <a:ext cx="731520" cy="594360"/>
          </a:xfrm>
          <a:prstGeom prst="rect">
            <a:avLst/>
          </a:prstGeom>
        </p:spPr>
      </p:pic>
      <p:sp>
        <p:nvSpPr>
          <p:cNvPr id="129" name="TextBox 128"/>
          <p:cNvSpPr txBox="1"/>
          <p:nvPr/>
        </p:nvSpPr>
        <p:spPr>
          <a:xfrm>
            <a:off x="3429000" y="5408676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6F6A5C"/>
                </a:solidFill>
                <a:latin typeface="Jost"/>
              </a:rPr>
              <a:t>61</a:t>
            </a:r>
          </a:p>
        </p:txBody>
      </p:sp>
      <p:pic>
        <p:nvPicPr>
          <p:cNvPr id="130" name="Picture 129" descr="th62.jpg"/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4238244" y="4809744"/>
            <a:ext cx="731520" cy="594360"/>
          </a:xfrm>
          <a:prstGeom prst="rect">
            <a:avLst/>
          </a:prstGeom>
        </p:spPr>
      </p:pic>
      <p:sp>
        <p:nvSpPr>
          <p:cNvPr id="131" name="TextBox 130"/>
          <p:cNvSpPr txBox="1"/>
          <p:nvPr/>
        </p:nvSpPr>
        <p:spPr>
          <a:xfrm>
            <a:off x="4238244" y="5408676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6F6A5C"/>
                </a:solidFill>
                <a:latin typeface="Jost"/>
              </a:rPr>
              <a:t>62</a:t>
            </a:r>
          </a:p>
        </p:txBody>
      </p:sp>
      <p:pic>
        <p:nvPicPr>
          <p:cNvPr id="132" name="Picture 131" descr="th63.jpg"/>
          <p:cNvPicPr>
            <a:picLocks noChangeAspect="1"/>
          </p:cNvPicPr>
          <p:nvPr/>
        </p:nvPicPr>
        <p:blipFill>
          <a:blip r:embed="rId64"/>
          <a:stretch>
            <a:fillRect/>
          </a:stretch>
        </p:blipFill>
        <p:spPr>
          <a:xfrm>
            <a:off x="5047488" y="4809744"/>
            <a:ext cx="731520" cy="594360"/>
          </a:xfrm>
          <a:prstGeom prst="rect">
            <a:avLst/>
          </a:prstGeom>
        </p:spPr>
      </p:pic>
      <p:sp>
        <p:nvSpPr>
          <p:cNvPr id="133" name="TextBox 132"/>
          <p:cNvSpPr txBox="1"/>
          <p:nvPr/>
        </p:nvSpPr>
        <p:spPr>
          <a:xfrm>
            <a:off x="5047488" y="5408676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6F6A5C"/>
                </a:solidFill>
                <a:latin typeface="Jost"/>
              </a:rPr>
              <a:t>63</a:t>
            </a:r>
          </a:p>
        </p:txBody>
      </p:sp>
      <p:pic>
        <p:nvPicPr>
          <p:cNvPr id="134" name="Picture 133" descr="th64.jpg"/>
          <p:cNvPicPr>
            <a:picLocks noChangeAspect="1"/>
          </p:cNvPicPr>
          <p:nvPr/>
        </p:nvPicPr>
        <p:blipFill>
          <a:blip r:embed="rId65"/>
          <a:stretch>
            <a:fillRect/>
          </a:stretch>
        </p:blipFill>
        <p:spPr>
          <a:xfrm>
            <a:off x="5856732" y="4809744"/>
            <a:ext cx="731520" cy="594360"/>
          </a:xfrm>
          <a:prstGeom prst="rect">
            <a:avLst/>
          </a:prstGeom>
        </p:spPr>
      </p:pic>
      <p:sp>
        <p:nvSpPr>
          <p:cNvPr id="135" name="TextBox 134"/>
          <p:cNvSpPr txBox="1"/>
          <p:nvPr/>
        </p:nvSpPr>
        <p:spPr>
          <a:xfrm>
            <a:off x="5856732" y="5408676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6F6A5C"/>
                </a:solidFill>
                <a:latin typeface="Jost"/>
              </a:rPr>
              <a:t>64</a:t>
            </a:r>
          </a:p>
        </p:txBody>
      </p:sp>
      <p:pic>
        <p:nvPicPr>
          <p:cNvPr id="136" name="Picture 135" descr="th65.jpg"/>
          <p:cNvPicPr>
            <a:picLocks noChangeAspect="1"/>
          </p:cNvPicPr>
          <p:nvPr/>
        </p:nvPicPr>
        <p:blipFill>
          <a:blip r:embed="rId66"/>
          <a:stretch>
            <a:fillRect/>
          </a:stretch>
        </p:blipFill>
        <p:spPr>
          <a:xfrm>
            <a:off x="6665976" y="4809744"/>
            <a:ext cx="731520" cy="594360"/>
          </a:xfrm>
          <a:prstGeom prst="rect">
            <a:avLst/>
          </a:prstGeom>
        </p:spPr>
      </p:pic>
      <p:sp>
        <p:nvSpPr>
          <p:cNvPr id="137" name="TextBox 136"/>
          <p:cNvSpPr txBox="1"/>
          <p:nvPr/>
        </p:nvSpPr>
        <p:spPr>
          <a:xfrm>
            <a:off x="6665976" y="5408676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6F6A5C"/>
                </a:solidFill>
                <a:latin typeface="Jost"/>
              </a:rPr>
              <a:t>65</a:t>
            </a:r>
          </a:p>
        </p:txBody>
      </p:sp>
      <p:pic>
        <p:nvPicPr>
          <p:cNvPr id="138" name="Picture 137" descr="th66.jpg"/>
          <p:cNvPicPr>
            <a:picLocks noChangeAspect="1"/>
          </p:cNvPicPr>
          <p:nvPr/>
        </p:nvPicPr>
        <p:blipFill>
          <a:blip r:embed="rId67"/>
          <a:stretch>
            <a:fillRect/>
          </a:stretch>
        </p:blipFill>
        <p:spPr>
          <a:xfrm>
            <a:off x="7475220" y="4809744"/>
            <a:ext cx="731520" cy="594360"/>
          </a:xfrm>
          <a:prstGeom prst="rect">
            <a:avLst/>
          </a:prstGeom>
        </p:spPr>
      </p:pic>
      <p:sp>
        <p:nvSpPr>
          <p:cNvPr id="139" name="TextBox 138"/>
          <p:cNvSpPr txBox="1"/>
          <p:nvPr/>
        </p:nvSpPr>
        <p:spPr>
          <a:xfrm>
            <a:off x="7475220" y="5408676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6F6A5C"/>
                </a:solidFill>
                <a:latin typeface="Jost"/>
              </a:rPr>
              <a:t>66</a:t>
            </a:r>
          </a:p>
        </p:txBody>
      </p:sp>
      <p:pic>
        <p:nvPicPr>
          <p:cNvPr id="140" name="Picture 139" descr="th67.jpg"/>
          <p:cNvPicPr>
            <a:picLocks noChangeAspect="1"/>
          </p:cNvPicPr>
          <p:nvPr/>
        </p:nvPicPr>
        <p:blipFill>
          <a:blip r:embed="rId68"/>
          <a:stretch>
            <a:fillRect/>
          </a:stretch>
        </p:blipFill>
        <p:spPr>
          <a:xfrm>
            <a:off x="8284464" y="4809744"/>
            <a:ext cx="731520" cy="594360"/>
          </a:xfrm>
          <a:prstGeom prst="rect">
            <a:avLst/>
          </a:prstGeom>
        </p:spPr>
      </p:pic>
      <p:sp>
        <p:nvSpPr>
          <p:cNvPr id="141" name="TextBox 140"/>
          <p:cNvSpPr txBox="1"/>
          <p:nvPr/>
        </p:nvSpPr>
        <p:spPr>
          <a:xfrm>
            <a:off x="8284464" y="5408676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6F6A5C"/>
                </a:solidFill>
                <a:latin typeface="Jost"/>
              </a:rPr>
              <a:t>67</a:t>
            </a:r>
          </a:p>
        </p:txBody>
      </p:sp>
      <p:pic>
        <p:nvPicPr>
          <p:cNvPr id="142" name="Picture 141" descr="th68.jpg"/>
          <p:cNvPicPr>
            <a:picLocks noChangeAspect="1"/>
          </p:cNvPicPr>
          <p:nvPr/>
        </p:nvPicPr>
        <p:blipFill>
          <a:blip r:embed="rId69"/>
          <a:stretch>
            <a:fillRect/>
          </a:stretch>
        </p:blipFill>
        <p:spPr>
          <a:xfrm>
            <a:off x="9093708" y="4809744"/>
            <a:ext cx="731520" cy="594360"/>
          </a:xfrm>
          <a:prstGeom prst="rect">
            <a:avLst/>
          </a:prstGeom>
        </p:spPr>
      </p:pic>
      <p:sp>
        <p:nvSpPr>
          <p:cNvPr id="143" name="TextBox 142"/>
          <p:cNvSpPr txBox="1"/>
          <p:nvPr/>
        </p:nvSpPr>
        <p:spPr>
          <a:xfrm>
            <a:off x="9093708" y="5408676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6F6A5C"/>
                </a:solidFill>
                <a:latin typeface="Jost"/>
              </a:rPr>
              <a:t>68</a:t>
            </a:r>
          </a:p>
        </p:txBody>
      </p:sp>
      <p:pic>
        <p:nvPicPr>
          <p:cNvPr id="144" name="Picture 143" descr="th69.jpg"/>
          <p:cNvPicPr>
            <a:picLocks noChangeAspect="1"/>
          </p:cNvPicPr>
          <p:nvPr/>
        </p:nvPicPr>
        <p:blipFill>
          <a:blip r:embed="rId70"/>
          <a:stretch>
            <a:fillRect/>
          </a:stretch>
        </p:blipFill>
        <p:spPr>
          <a:xfrm>
            <a:off x="9902952" y="4809744"/>
            <a:ext cx="731520" cy="594360"/>
          </a:xfrm>
          <a:prstGeom prst="rect">
            <a:avLst/>
          </a:prstGeom>
        </p:spPr>
      </p:pic>
      <p:sp>
        <p:nvSpPr>
          <p:cNvPr id="145" name="TextBox 144"/>
          <p:cNvSpPr txBox="1"/>
          <p:nvPr/>
        </p:nvSpPr>
        <p:spPr>
          <a:xfrm>
            <a:off x="9902952" y="5408676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6F6A5C"/>
                </a:solidFill>
                <a:latin typeface="Jost"/>
              </a:rPr>
              <a:t>69</a:t>
            </a:r>
          </a:p>
        </p:txBody>
      </p:sp>
      <p:pic>
        <p:nvPicPr>
          <p:cNvPr id="146" name="Picture 145" descr="th70.jpg"/>
          <p:cNvPicPr>
            <a:picLocks noChangeAspect="1"/>
          </p:cNvPicPr>
          <p:nvPr/>
        </p:nvPicPr>
        <p:blipFill>
          <a:blip r:embed="rId71"/>
          <a:stretch>
            <a:fillRect/>
          </a:stretch>
        </p:blipFill>
        <p:spPr>
          <a:xfrm>
            <a:off x="10712196" y="4809744"/>
            <a:ext cx="731520" cy="594360"/>
          </a:xfrm>
          <a:prstGeom prst="rect">
            <a:avLst/>
          </a:prstGeom>
        </p:spPr>
      </p:pic>
      <p:sp>
        <p:nvSpPr>
          <p:cNvPr id="147" name="TextBox 146"/>
          <p:cNvSpPr txBox="1"/>
          <p:nvPr/>
        </p:nvSpPr>
        <p:spPr>
          <a:xfrm>
            <a:off x="10712196" y="5408676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6F6A5C"/>
                </a:solidFill>
                <a:latin typeface="Jost"/>
              </a:rPr>
              <a:t>70</a:t>
            </a:r>
          </a:p>
        </p:txBody>
      </p:sp>
      <p:pic>
        <p:nvPicPr>
          <p:cNvPr id="148" name="Picture 147" descr="th71.jpg"/>
          <p:cNvPicPr>
            <a:picLocks noChangeAspect="1"/>
          </p:cNvPicPr>
          <p:nvPr/>
        </p:nvPicPr>
        <p:blipFill>
          <a:blip r:embed="rId72"/>
          <a:stretch>
            <a:fillRect/>
          </a:stretch>
        </p:blipFill>
        <p:spPr>
          <a:xfrm>
            <a:off x="3429000" y="5481827"/>
            <a:ext cx="731520" cy="594360"/>
          </a:xfrm>
          <a:prstGeom prst="rect">
            <a:avLst/>
          </a:prstGeom>
        </p:spPr>
      </p:pic>
      <p:sp>
        <p:nvSpPr>
          <p:cNvPr id="149" name="TextBox 148"/>
          <p:cNvSpPr txBox="1"/>
          <p:nvPr/>
        </p:nvSpPr>
        <p:spPr>
          <a:xfrm>
            <a:off x="3429000" y="6080759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6F6A5C"/>
                </a:solidFill>
                <a:latin typeface="Jost"/>
              </a:rPr>
              <a:t>71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COLLECTION  ·  II.2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0" i="0">
                <a:solidFill>
                  <a:srgbClr val="241B12"/>
                </a:solidFill>
                <a:latin typeface="Playfair Display"/>
              </a:rPr>
              <a:t>The Handmade Process &amp; Craftsmanship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691640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103120"/>
            <a:ext cx="2148840" cy="3200400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2103120"/>
            <a:ext cx="2148840" cy="54864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2377440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D4AF5E"/>
                </a:solidFill>
                <a:latin typeface="Playfair Display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880360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 spc="150">
                <a:solidFill>
                  <a:srgbClr val="F4EFE3"/>
                </a:solidFill>
                <a:latin typeface="Jost"/>
              </a:rPr>
              <a:t>THE VERSE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3218688"/>
            <a:ext cx="178308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>
                <a:solidFill>
                  <a:srgbClr val="9AA79B"/>
                </a:solidFill>
                <a:latin typeface="Georgia"/>
              </a:rPr>
              <a:t>The verse is verified against the Uthmani codex and set into the panel's composition - calligraphy, ground and field planned for that verse alone.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33472" y="3383280"/>
            <a:ext cx="274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 i="0">
                <a:solidFill>
                  <a:srgbClr val="B98A2E"/>
                </a:solidFill>
                <a:latin typeface="Georgia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07208" y="2103120"/>
            <a:ext cx="2148840" cy="3200400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07208" y="2103120"/>
            <a:ext cx="2148840" cy="54864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08376" y="2377440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D4AF5E"/>
                </a:solidFill>
                <a:latin typeface="Playfair Display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08376" y="2880360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 spc="150">
                <a:solidFill>
                  <a:srgbClr val="F4EFE3"/>
                </a:solidFill>
                <a:latin typeface="Jost"/>
              </a:rPr>
              <a:t>GROUND &amp; PIGMENT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08376" y="3218688"/>
            <a:ext cx="178308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>
                <a:solidFill>
                  <a:srgbClr val="9AA79B"/>
                </a:solidFill>
                <a:latin typeface="Georgia"/>
              </a:rPr>
              <a:t>The panel ground is built up by hand; pigments are ground and mixed for the work, layered rather than printed.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3383280"/>
            <a:ext cx="274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 i="0">
                <a:solidFill>
                  <a:srgbClr val="B98A2E"/>
                </a:solidFill>
                <a:latin typeface="Georgia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11496" y="2103120"/>
            <a:ext cx="2148840" cy="3200400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11496" y="2103120"/>
            <a:ext cx="2148840" cy="54864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12664" y="2377440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D4AF5E"/>
                </a:solidFill>
                <a:latin typeface="Playfair Display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12664" y="2880360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 spc="150">
                <a:solidFill>
                  <a:srgbClr val="F4EFE3"/>
                </a:solidFill>
                <a:latin typeface="Jost"/>
              </a:rPr>
              <a:t>THREAD ART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12664" y="3218688"/>
            <a:ext cx="178308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>
                <a:solidFill>
                  <a:srgbClr val="9AA79B"/>
                </a:solidFill>
                <a:latin typeface="Georgia"/>
              </a:rPr>
              <a:t>The Third Art thread practice: worked by hand across the field, the texture that carries light differently at every angle.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42048" y="3383280"/>
            <a:ext cx="274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 i="0">
                <a:solidFill>
                  <a:srgbClr val="B98A2E"/>
                </a:solidFill>
                <a:latin typeface="Georgia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15783" y="2103120"/>
            <a:ext cx="2148840" cy="3200400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15783" y="2103120"/>
            <a:ext cx="2148840" cy="54864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16952" y="2377440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D4AF5E"/>
                </a:solidFill>
                <a:latin typeface="Playfair Display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16952" y="2880360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 spc="150">
                <a:solidFill>
                  <a:srgbClr val="F4EFE3"/>
                </a:solidFill>
                <a:latin typeface="Jost"/>
              </a:rPr>
              <a:t>GOLD &amp; FINISH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16952" y="3218688"/>
            <a:ext cx="178308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>
                <a:solidFill>
                  <a:srgbClr val="9AA79B"/>
                </a:solidFill>
                <a:latin typeface="Georgia"/>
              </a:rPr>
              <a:t>Gold detailing and the final hand finish; the panel is rested and inspected before it is framed.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46336" y="3383280"/>
            <a:ext cx="274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 i="0">
                <a:solidFill>
                  <a:srgbClr val="B98A2E"/>
                </a:solidFill>
                <a:latin typeface="Georgia"/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720072" y="2103120"/>
            <a:ext cx="2148840" cy="3200400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720072" y="2103120"/>
            <a:ext cx="2148840" cy="54864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21240" y="2377440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D4AF5E"/>
                </a:solidFill>
                <a:latin typeface="Playfair Display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21240" y="2880360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 spc="150">
                <a:solidFill>
                  <a:srgbClr val="F4EFE3"/>
                </a:solidFill>
                <a:latin typeface="Jost"/>
              </a:rPr>
              <a:t>FRAME &amp; RECORD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21240" y="3218688"/>
            <a:ext cx="178308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>
                <a:solidFill>
                  <a:srgbClr val="9AA79B"/>
                </a:solidFill>
                <a:latin typeface="Georgia"/>
              </a:rPr>
              <a:t>Gold-edge frame on cream; photographed, polished, and saved at 4K working master and 1.5x print resolution.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5623560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6F6A5C"/>
                </a:solidFill>
                <a:latin typeface="Georgia"/>
              </a:rPr>
              <a:t>Many weeks of handwork per folio, one artist, one unbroken campaign across all 71. No machine reproduction exists for any panel in the cycle.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COLLECTION  ·  II.3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0" i="0">
                <a:solidFill>
                  <a:srgbClr val="241B12"/>
                </a:solidFill>
                <a:latin typeface="Playfair Display"/>
              </a:rPr>
              <a:t>Materials &amp; Techniques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691640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920240"/>
            <a:ext cx="548640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 spc="200">
                <a:solidFill>
                  <a:srgbClr val="B98A2E"/>
                </a:solidFill>
                <a:latin typeface="Jost"/>
              </a:rPr>
              <a:t>Materials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100" b="0" i="0">
                <a:solidFill>
                  <a:srgbClr val="1E1A14"/>
                </a:solidFill>
                <a:latin typeface="Georgia"/>
              </a:rPr>
              <a:t>·  Hand-ground pigments and natural colour on prepared panel ground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100" b="0" i="0">
                <a:solidFill>
                  <a:srgbClr val="1E1A14"/>
                </a:solidFill>
                <a:latin typeface="Georgia"/>
              </a:rPr>
              <a:t>·  Thread work in the Third Art practice - the gallery's signature medium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100" b="0" i="0">
                <a:solidFill>
                  <a:srgbClr val="1E1A14"/>
                </a:solidFill>
                <a:latin typeface="Georgia"/>
              </a:rPr>
              <a:t>·  Gold detailing in the gold-edge presentation</a:t>
            </a:r>
          </a:p>
          <a:p>
            <a:pPr algn="l">
              <a:lnSpc>
                <a:spcPct val="150000"/>
              </a:lnSpc>
              <a:spcAft>
                <a:spcPts val="1200"/>
              </a:spcAft>
            </a:pPr>
            <a:r>
              <a:rPr sz="1100" b="0" i="0">
                <a:solidFill>
                  <a:srgbClr val="1E1A14"/>
                </a:solidFill>
                <a:latin typeface="Georgia"/>
              </a:rPr>
              <a:t>·  Archival mounting, cream presentation, solid frame</a:t>
            </a:r>
          </a:p>
          <a:p>
            <a:pPr algn="l">
              <a:spcAft>
                <a:spcPts val="600"/>
              </a:spcAft>
            </a:pPr>
            <a:r>
              <a:rPr sz="1000" b="0" i="0" spc="200">
                <a:solidFill>
                  <a:srgbClr val="B98A2E"/>
                </a:solidFill>
                <a:latin typeface="Jost"/>
              </a:rPr>
              <a:t>Techniques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100" b="0" i="0">
                <a:solidFill>
                  <a:srgbClr val="1E1A14"/>
                </a:solidFill>
                <a:latin typeface="Georgia"/>
              </a:rPr>
              <a:t>·  Verse composition: each panel is drawn for its single verse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100" b="0" i="0">
                <a:solidFill>
                  <a:srgbClr val="1E1A14"/>
                </a:solidFill>
                <a:latin typeface="Georgia"/>
              </a:rPr>
              <a:t>·  Layered ground and texture, worked to hold raking light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1E1A14"/>
                </a:solidFill>
                <a:latin typeface="Georgia"/>
              </a:rPr>
              <a:t>·  Hand finishing and inspection, panel by panel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920240"/>
            <a:ext cx="5212080" cy="4114800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37960" y="2057400"/>
            <a:ext cx="4937760" cy="3840480"/>
          </a:xfrm>
          <a:prstGeom prst="rect">
            <a:avLst/>
          </a:prstGeom>
          <a:noFill/>
          <a:ln w="10160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2331720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i="0" spc="180">
                <a:solidFill>
                  <a:srgbClr val="D4AF5E"/>
                </a:solidFill>
                <a:latin typeface="Jost"/>
              </a:rPr>
              <a:t>WHAT THE HAND LEAVES BEHIND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2788920"/>
            <a:ext cx="45720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100" b="0" i="0">
                <a:solidFill>
                  <a:srgbClr val="F4EFE3"/>
                </a:solidFill>
                <a:latin typeface="Georgia"/>
              </a:rPr>
              <a:t>No two panels share a machine pass. The thread field changes under moving light; the gold reads at gallery distance; the ground keeps its depth up close.</a:t>
            </a:r>
          </a:p>
          <a:p>
            <a:pPr algn="l">
              <a:lnSpc>
                <a:spcPct val="150000"/>
              </a:lnSpc>
            </a:pPr>
            <a:r>
              <a:rPr sz="1100" b="0" i="1">
                <a:solidFill>
                  <a:srgbClr val="F4EFE3"/>
                </a:solidFill>
                <a:latin typeface="Georgia"/>
              </a:rPr>
              <a:t>This is why the cycle is described as a masterpiece rather than a series: the hand is visible in every folio, and the uniformity of that hand across 71 verses is the work itself.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COLLECTION  ·  II.4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0" i="0">
                <a:solidFill>
                  <a:srgbClr val="241B12"/>
                </a:solidFill>
                <a:latin typeface="Playfair Display"/>
              </a:rPr>
              <a:t>Material Excellence &amp; Specifications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691640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96596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80">
                <a:solidFill>
                  <a:srgbClr val="B98A2E"/>
                </a:solidFill>
                <a:latin typeface="Jost"/>
              </a:rPr>
              <a:t>WORKING MASTER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71800" y="1965960"/>
            <a:ext cx="3200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241B12"/>
                </a:solidFill>
                <a:latin typeface="Georgia"/>
              </a:rPr>
              <a:t>1613 x 1314 px per folio (4K-class archival scan)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770632"/>
            <a:ext cx="5577840" cy="10972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196596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80">
                <a:solidFill>
                  <a:srgbClr val="B98A2E"/>
                </a:solidFill>
                <a:latin typeface="Jost"/>
              </a:rPr>
              <a:t>PRINT 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1965960"/>
            <a:ext cx="3200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241B12"/>
                </a:solidFill>
                <a:latin typeface="Georgia"/>
              </a:rPr>
              <a:t>1.5x masters - 2420 x 1971 px - for museum-scale reproduction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770632"/>
            <a:ext cx="5577840" cy="10972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92608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80">
                <a:solidFill>
                  <a:srgbClr val="B98A2E"/>
                </a:solidFill>
                <a:latin typeface="Jost"/>
              </a:rPr>
              <a:t>PANEL RATIO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800" y="2926080"/>
            <a:ext cx="3200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241B12"/>
                </a:solidFill>
                <a:latin typeface="Georgia"/>
              </a:rPr>
              <a:t>4 : 3.3 - the framed presentation ratio, uniform across all 71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730752"/>
            <a:ext cx="5577840" cy="10972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292608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80">
                <a:solidFill>
                  <a:srgbClr val="B98A2E"/>
                </a:solidFill>
                <a:latin typeface="Jost"/>
              </a:rPr>
              <a:t>PRESENTATION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2926080"/>
            <a:ext cx="3200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241B12"/>
                </a:solidFill>
                <a:latin typeface="Georgia"/>
              </a:rPr>
              <a:t>Gold-edge frame on cream; uniform sight-line across the wall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3730752"/>
            <a:ext cx="5577840" cy="10972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88620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80">
                <a:solidFill>
                  <a:srgbClr val="B98A2E"/>
                </a:solidFill>
                <a:latin typeface="Jost"/>
              </a:rPr>
              <a:t>LIGHTING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1800" y="3886200"/>
            <a:ext cx="3200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241B12"/>
                </a:solidFill>
                <a:latin typeface="Georgia"/>
              </a:rPr>
              <a:t>Warm 3000K, even grazing; gold detail reads at 3m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690872"/>
            <a:ext cx="5577840" cy="10972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388620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80">
                <a:solidFill>
                  <a:srgbClr val="B98A2E"/>
                </a:solidFill>
                <a:latin typeface="Jost"/>
              </a:rPr>
              <a:t>VERBATIM RECORD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3886200"/>
            <a:ext cx="3200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241B12"/>
                </a:solidFill>
                <a:latin typeface="Georgia"/>
              </a:rPr>
              <a:t>Uthmani Arabic + English rendering per folio, codex-verified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4690872"/>
            <a:ext cx="5577840" cy="10972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84632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80">
                <a:solidFill>
                  <a:srgbClr val="B98A2E"/>
                </a:solidFill>
                <a:latin typeface="Jost"/>
              </a:rPr>
              <a:t>CATALOGUE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4846320"/>
            <a:ext cx="3200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241B12"/>
                </a:solidFill>
                <a:latin typeface="Georgia"/>
              </a:rPr>
              <a:t>F01 - F71 catalogue numbers on every folio and plate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5650992"/>
            <a:ext cx="5577840" cy="10972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484632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80">
                <a:solidFill>
                  <a:srgbClr val="B98A2E"/>
                </a:solidFill>
                <a:latin typeface="Jost"/>
              </a:rPr>
              <a:t>CONDITION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4846320"/>
            <a:ext cx="3200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241B12"/>
                </a:solidFill>
                <a:latin typeface="Georgia"/>
              </a:rPr>
              <a:t>69 photographed and archived · 2 reserved for final photography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5650992"/>
            <a:ext cx="5577840" cy="10972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594360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6F6A5C"/>
                </a:solidFill>
                <a:latin typeface="Georgia"/>
              </a:rPr>
              <a:t>All figures are the production standard of the cycle; per-folio condition reports accompany any acquisition.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COLLECTION  ·  II.5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0" i="0">
                <a:solidFill>
                  <a:srgbClr val="241B12"/>
                </a:solidFill>
                <a:latin typeface="Playfair Display"/>
              </a:rPr>
              <a:t>Content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691640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920240"/>
            <a:ext cx="576072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 spc="200">
                <a:solidFill>
                  <a:srgbClr val="B98A2E"/>
                </a:solidFill>
                <a:latin typeface="Jost"/>
              </a:rPr>
              <a:t>How the collection is organised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100" b="0" i="0">
                <a:solidFill>
                  <a:srgbClr val="1E1A14"/>
                </a:solidFill>
                <a:latin typeface="Georgia"/>
              </a:rPr>
              <a:t>·  Catalogue order F01 - F71, the order in which the surah reads on the wall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100" b="0" i="0">
                <a:solidFill>
                  <a:srgbClr val="1E1A14"/>
                </a:solidFill>
                <a:latin typeface="Georgia"/>
              </a:rPr>
              <a:t>·  Ten chapters: the natural movements of the surah, from the Beneficent who teaches to the blessing that closes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100" b="0" i="0">
                <a:solidFill>
                  <a:srgbClr val="1E1A14"/>
                </a:solidFill>
                <a:latin typeface="Georgia"/>
              </a:rPr>
              <a:t>·  40 verse folios + 31 refrain folios - the refrain is a structural element, not a gap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100" b="0" i="0">
                <a:solidFill>
                  <a:srgbClr val="1E1A14"/>
                </a:solidFill>
                <a:latin typeface="Georgia"/>
              </a:rPr>
              <a:t>·  Each folio record: catalogue number, title, verse reference, Uthmani Arabic, English rendering, verification status</a:t>
            </a:r>
          </a:p>
          <a:p>
            <a:pPr algn="l">
              <a:lnSpc>
                <a:spcPct val="140000"/>
              </a:lnSpc>
            </a:pPr>
            <a:r>
              <a:rPr sz="1000" b="0" i="1">
                <a:solidFill>
                  <a:srgbClr val="6F6A5C"/>
                </a:solidFill>
                <a:latin typeface="Georgia"/>
              </a:rPr>
              <a:t>·  Release checklist: 18 refrain panels flagged 'verify' for final verse numbering against the physical frame before public release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6629400" y="1965960"/>
            <a:ext cx="2286000" cy="4023360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0" y="2148840"/>
            <a:ext cx="20116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 i="0" spc="150">
                <a:solidFill>
                  <a:srgbClr val="D4AF5E"/>
                </a:solidFill>
                <a:latin typeface="Jost"/>
              </a:rPr>
              <a:t>FOLIO 47 / 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2395728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4EFE3"/>
                </a:solidFill>
                <a:latin typeface="Playfair Display"/>
              </a:rPr>
              <a:t>Two Springs Flowing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2880360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1">
                <a:solidFill>
                  <a:srgbClr val="D4AF5E"/>
                </a:solidFill>
                <a:latin typeface="Georgia"/>
              </a:rPr>
              <a:t>In them (each) will be two Springs flowing (free).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361188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فِيهِمَا عَيْنَانِ تَجْرِيَانِ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4297680"/>
            <a:ext cx="2011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550" b="0" i="0" spc="100">
                <a:solidFill>
                  <a:srgbClr val="9AA79B"/>
                </a:solidFill>
                <a:latin typeface="Jost"/>
              </a:rPr>
              <a:t>SURAH AR-RAHMAN (55)</a:t>
            </a:r>
          </a:p>
          <a:p>
            <a:pPr algn="l"/>
            <a:r>
              <a:rPr sz="550" b="0" i="0" spc="100">
                <a:solidFill>
                  <a:srgbClr val="D4AF5E"/>
                </a:solidFill>
                <a:latin typeface="Jost"/>
              </a:rPr>
              <a:t>VERSE 55:50 · VERIFIED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0" y="1965960"/>
            <a:ext cx="2514600" cy="4023360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217152" y="2039112"/>
            <a:ext cx="2368296" cy="3877056"/>
          </a:xfrm>
          <a:prstGeom prst="rect">
            <a:avLst/>
          </a:prstGeom>
          <a:noFill/>
          <a:ln w="20320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0" y="3749039"/>
            <a:ext cx="2148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i="0" spc="200">
                <a:solidFill>
                  <a:srgbClr val="B98A2E"/>
                </a:solidFill>
                <a:latin typeface="Jost"/>
              </a:rPr>
              <a:t>THE PANEL</a:t>
            </a:r>
          </a:p>
          <a:p>
            <a:pPr algn="ctr">
              <a:spcBef>
                <a:spcPts val="300"/>
              </a:spcBef>
            </a:pPr>
            <a:r>
              <a:rPr sz="800" b="0" i="1">
                <a:solidFill>
                  <a:srgbClr val="6F6A5C"/>
                </a:solidFill>
                <a:latin typeface="Georgia"/>
              </a:rPr>
              <a:t>image attached on every folio slide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42832" y="3108960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 i="0">
                <a:solidFill>
                  <a:srgbClr val="B98A2E"/>
                </a:solidFill>
                <a:latin typeface="Georgia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COLLECTION  ·  II.6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0" i="0">
                <a:solidFill>
                  <a:srgbClr val="241B12"/>
                </a:solidFill>
                <a:latin typeface="Playfair Display"/>
              </a:rPr>
              <a:t>Exhibition Concept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691640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74519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241B12"/>
                </a:solidFill>
                <a:latin typeface="Georgia"/>
              </a:rPr>
              <a:t>One room, one wall, one reading - physical display, digital previews and storytelling as a single system.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697480"/>
            <a:ext cx="3611880" cy="2926080"/>
          </a:xfrm>
          <a:prstGeom prst="rect">
            <a:avLst/>
          </a:prstGeom>
          <a:solidFill>
            <a:srgbClr val="F4EFE3"/>
          </a:solidFill>
          <a:ln w="12700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180">
                <a:solidFill>
                  <a:srgbClr val="B98A2E"/>
                </a:solidFill>
                <a:latin typeface="Jost"/>
              </a:rPr>
              <a:t>PHYSICAL DISPLAY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91840"/>
            <a:ext cx="32004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 i="0">
                <a:solidFill>
                  <a:srgbClr val="1E1A14"/>
                </a:solidFill>
                <a:latin typeface="Georgia"/>
              </a:rPr>
              <a:t>All 71 folios hang in catalogue order along the long wall in three courses. Evergreen walls, warm 3000K grazing light, a single reading line. Chapter markers at the ten movement boundaries; the wall opens and closes on the refrain.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2697480"/>
            <a:ext cx="3611880" cy="2926080"/>
          </a:xfrm>
          <a:prstGeom prst="rect">
            <a:avLst/>
          </a:prstGeom>
          <a:solidFill>
            <a:srgbClr val="F4EFE3"/>
          </a:solidFill>
          <a:ln w="12700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2926080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180">
                <a:solidFill>
                  <a:srgbClr val="B98A2E"/>
                </a:solidFill>
                <a:latin typeface="Jost"/>
              </a:rPr>
              <a:t>DIGITAL PREVIEWS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3291840"/>
            <a:ext cx="32004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 i="0">
                <a:solidFill>
                  <a:srgbClr val="1E1A14"/>
                </a:solidFill>
                <a:latin typeface="Georgia"/>
              </a:rPr>
              <a:t>Each wall label carries a QR: high-resolution folio preview, the verse in Uthmani script and English, and the recitation of that verse. The room extends into the pocket - visitors carry the collection home.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92440" y="2697480"/>
            <a:ext cx="3611880" cy="2926080"/>
          </a:xfrm>
          <a:prstGeom prst="rect">
            <a:avLst/>
          </a:prstGeom>
          <a:solidFill>
            <a:srgbClr val="F4EFE3"/>
          </a:solidFill>
          <a:ln w="12700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2926080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180">
                <a:solidFill>
                  <a:srgbClr val="B98A2E"/>
                </a:solidFill>
                <a:latin typeface="Jost"/>
              </a:rPr>
              <a:t>STORYTELLING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3291840"/>
            <a:ext cx="32004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 i="0">
                <a:solidFill>
                  <a:srgbClr val="1E1A14"/>
                </a:solidFill>
                <a:latin typeface="Georgia"/>
              </a:rPr>
              <a:t>An audio line follows the wall: the surah recites itself as the visitor walks, so the eye reads the image while the ear reads the word. The refrain - 31 times on the wall - is the heartbeat of the room.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71500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6F6A5C"/>
                </a:solidFill>
                <a:latin typeface="Jost"/>
              </a:rPr>
              <a:t>WALL PLAN - 71 FRAMES IN SURAH ORDER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98932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 i="0" spc="100">
                <a:solidFill>
                  <a:srgbClr val="6F6A5C"/>
                </a:solidFill>
                <a:latin typeface="Jost"/>
              </a:rPr>
              <a:t>cream = verse folio  ·  gold = refrain folio</a:t>
            </a:r>
          </a:p>
          <a:p>
            <a:pPr algn="l">
              <a:spcBef>
                <a:spcPts val="200"/>
              </a:spcBef>
            </a:pPr>
            <a:r>
              <a:rPr sz="800" b="0" i="1">
                <a:solidFill>
                  <a:srgbClr val="6F6A5C"/>
                </a:solidFill>
                <a:latin typeface="Georgia"/>
              </a:rPr>
              <a:t>three courses; refrain panels mark the rhythm of the reading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91840" y="5577840"/>
            <a:ext cx="429768" cy="10515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53612" y="5577840"/>
            <a:ext cx="429768" cy="10515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15384" y="5577840"/>
            <a:ext cx="429768" cy="10515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677156" y="5577840"/>
            <a:ext cx="429768" cy="10515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38928" y="5577840"/>
            <a:ext cx="429768" cy="10515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00700" y="5577840"/>
            <a:ext cx="429768" cy="10515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62472" y="5577840"/>
            <a:ext cx="429768" cy="10515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24244" y="5577840"/>
            <a:ext cx="429768" cy="10515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86016" y="5577840"/>
            <a:ext cx="429768" cy="105156"/>
          </a:xfrm>
          <a:prstGeom prst="rect">
            <a:avLst/>
          </a:prstGeom>
          <a:solidFill>
            <a:srgbClr val="D4A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47788" y="5577840"/>
            <a:ext cx="429768" cy="10515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909560" y="5577840"/>
            <a:ext cx="429768" cy="10515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371331" y="5577840"/>
            <a:ext cx="429768" cy="10515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91840" y="5728716"/>
            <a:ext cx="429768" cy="10515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753612" y="5728716"/>
            <a:ext cx="429768" cy="105156"/>
          </a:xfrm>
          <a:prstGeom prst="rect">
            <a:avLst/>
          </a:prstGeom>
          <a:solidFill>
            <a:srgbClr val="D4A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15384" y="5728716"/>
            <a:ext cx="429768" cy="10515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677156" y="5728716"/>
            <a:ext cx="429768" cy="105156"/>
          </a:xfrm>
          <a:prstGeom prst="rect">
            <a:avLst/>
          </a:prstGeom>
          <a:solidFill>
            <a:srgbClr val="D4A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138928" y="5728716"/>
            <a:ext cx="429768" cy="10515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00700" y="5728716"/>
            <a:ext cx="429768" cy="105156"/>
          </a:xfrm>
          <a:prstGeom prst="rect">
            <a:avLst/>
          </a:prstGeom>
          <a:solidFill>
            <a:srgbClr val="D4A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062472" y="5728716"/>
            <a:ext cx="429768" cy="10515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24244" y="5728716"/>
            <a:ext cx="429768" cy="105156"/>
          </a:xfrm>
          <a:prstGeom prst="rect">
            <a:avLst/>
          </a:prstGeom>
          <a:solidFill>
            <a:srgbClr val="D4A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986016" y="5728716"/>
            <a:ext cx="429768" cy="10515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447788" y="5728716"/>
            <a:ext cx="429768" cy="105156"/>
          </a:xfrm>
          <a:prstGeom prst="rect">
            <a:avLst/>
          </a:prstGeom>
          <a:solidFill>
            <a:srgbClr val="D4A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909560" y="5728716"/>
            <a:ext cx="429768" cy="10515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371331" y="5728716"/>
            <a:ext cx="429768" cy="105156"/>
          </a:xfrm>
          <a:prstGeom prst="rect">
            <a:avLst/>
          </a:prstGeom>
          <a:solidFill>
            <a:srgbClr val="D4A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291840" y="5879592"/>
            <a:ext cx="429768" cy="10515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753612" y="5879592"/>
            <a:ext cx="429768" cy="105156"/>
          </a:xfrm>
          <a:prstGeom prst="rect">
            <a:avLst/>
          </a:prstGeom>
          <a:solidFill>
            <a:srgbClr val="D4A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215384" y="5879592"/>
            <a:ext cx="429768" cy="105156"/>
          </a:xfrm>
          <a:prstGeom prst="rect">
            <a:avLst/>
          </a:prstGeom>
          <a:solidFill>
            <a:srgbClr val="D4A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677156" y="5879592"/>
            <a:ext cx="429768" cy="105156"/>
          </a:xfrm>
          <a:prstGeom prst="rect">
            <a:avLst/>
          </a:prstGeom>
          <a:solidFill>
            <a:srgbClr val="D4A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138928" y="5879592"/>
            <a:ext cx="429768" cy="10515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600700" y="5879592"/>
            <a:ext cx="429768" cy="105156"/>
          </a:xfrm>
          <a:prstGeom prst="rect">
            <a:avLst/>
          </a:prstGeom>
          <a:solidFill>
            <a:srgbClr val="D4A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062472" y="5879592"/>
            <a:ext cx="429768" cy="10515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524244" y="5879592"/>
            <a:ext cx="429768" cy="105156"/>
          </a:xfrm>
          <a:prstGeom prst="rect">
            <a:avLst/>
          </a:prstGeom>
          <a:solidFill>
            <a:srgbClr val="D4A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986016" y="5879592"/>
            <a:ext cx="429768" cy="10515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447788" y="5879592"/>
            <a:ext cx="429768" cy="105156"/>
          </a:xfrm>
          <a:prstGeom prst="rect">
            <a:avLst/>
          </a:prstGeom>
          <a:solidFill>
            <a:srgbClr val="D4A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909560" y="5879592"/>
            <a:ext cx="429768" cy="105156"/>
          </a:xfrm>
          <a:prstGeom prst="rect">
            <a:avLst/>
          </a:prstGeom>
          <a:solidFill>
            <a:srgbClr val="D4A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371331" y="5879592"/>
            <a:ext cx="429768" cy="105156"/>
          </a:xfrm>
          <a:prstGeom prst="rect">
            <a:avLst/>
          </a:prstGeom>
          <a:solidFill>
            <a:srgbClr val="D4A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291840" y="6030468"/>
            <a:ext cx="429768" cy="10515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753612" y="6030468"/>
            <a:ext cx="429768" cy="105156"/>
          </a:xfrm>
          <a:prstGeom prst="rect">
            <a:avLst/>
          </a:prstGeom>
          <a:solidFill>
            <a:srgbClr val="D4A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215384" y="6030468"/>
            <a:ext cx="429768" cy="105156"/>
          </a:xfrm>
          <a:prstGeom prst="rect">
            <a:avLst/>
          </a:prstGeom>
          <a:solidFill>
            <a:srgbClr val="D4A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677156" y="6030468"/>
            <a:ext cx="429768" cy="10515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138928" y="6030468"/>
            <a:ext cx="429768" cy="10515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600700" y="6030468"/>
            <a:ext cx="429768" cy="105156"/>
          </a:xfrm>
          <a:prstGeom prst="rect">
            <a:avLst/>
          </a:prstGeom>
          <a:solidFill>
            <a:srgbClr val="D4A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062472" y="6030468"/>
            <a:ext cx="429768" cy="10515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524244" y="6030468"/>
            <a:ext cx="429768" cy="105156"/>
          </a:xfrm>
          <a:prstGeom prst="rect">
            <a:avLst/>
          </a:prstGeom>
          <a:solidFill>
            <a:srgbClr val="D4A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986016" y="6030468"/>
            <a:ext cx="429768" cy="10515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447788" y="6030468"/>
            <a:ext cx="429768" cy="10515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909560" y="6030468"/>
            <a:ext cx="429768" cy="10515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371331" y="6030468"/>
            <a:ext cx="429768" cy="105156"/>
          </a:xfrm>
          <a:prstGeom prst="rect">
            <a:avLst/>
          </a:prstGeom>
          <a:solidFill>
            <a:srgbClr val="D4A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3291840" y="6181344"/>
            <a:ext cx="429768" cy="10515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3753612" y="6181344"/>
            <a:ext cx="429768" cy="105156"/>
          </a:xfrm>
          <a:prstGeom prst="rect">
            <a:avLst/>
          </a:prstGeom>
          <a:solidFill>
            <a:srgbClr val="D4A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215384" y="6181344"/>
            <a:ext cx="429768" cy="10515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4677156" y="6181344"/>
            <a:ext cx="429768" cy="105156"/>
          </a:xfrm>
          <a:prstGeom prst="rect">
            <a:avLst/>
          </a:prstGeom>
          <a:solidFill>
            <a:srgbClr val="D4A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138928" y="6181344"/>
            <a:ext cx="429768" cy="10515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600700" y="6181344"/>
            <a:ext cx="429768" cy="105156"/>
          </a:xfrm>
          <a:prstGeom prst="rect">
            <a:avLst/>
          </a:prstGeom>
          <a:solidFill>
            <a:srgbClr val="D4A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062472" y="6181344"/>
            <a:ext cx="429768" cy="10515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524244" y="6181344"/>
            <a:ext cx="429768" cy="105156"/>
          </a:xfrm>
          <a:prstGeom prst="rect">
            <a:avLst/>
          </a:prstGeom>
          <a:solidFill>
            <a:srgbClr val="D4A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986016" y="6181344"/>
            <a:ext cx="429768" cy="10515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447788" y="6181344"/>
            <a:ext cx="429768" cy="10515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909560" y="6181344"/>
            <a:ext cx="429768" cy="105156"/>
          </a:xfrm>
          <a:prstGeom prst="rect">
            <a:avLst/>
          </a:prstGeom>
          <a:solidFill>
            <a:srgbClr val="D4A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8371331" y="6181344"/>
            <a:ext cx="429768" cy="10515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3291840" y="6332220"/>
            <a:ext cx="429768" cy="105156"/>
          </a:xfrm>
          <a:prstGeom prst="rect">
            <a:avLst/>
          </a:prstGeom>
          <a:solidFill>
            <a:srgbClr val="D4A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3753612" y="6332220"/>
            <a:ext cx="429768" cy="10515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4215384" y="6332220"/>
            <a:ext cx="429768" cy="105156"/>
          </a:xfrm>
          <a:prstGeom prst="rect">
            <a:avLst/>
          </a:prstGeom>
          <a:solidFill>
            <a:srgbClr val="D4A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4677156" y="6332220"/>
            <a:ext cx="429768" cy="10515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5138928" y="6332220"/>
            <a:ext cx="429768" cy="10515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5600700" y="6332220"/>
            <a:ext cx="429768" cy="105156"/>
          </a:xfrm>
          <a:prstGeom prst="rect">
            <a:avLst/>
          </a:prstGeom>
          <a:solidFill>
            <a:srgbClr val="D4A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062472" y="6332220"/>
            <a:ext cx="429768" cy="105156"/>
          </a:xfrm>
          <a:prstGeom prst="rect">
            <a:avLst/>
          </a:prstGeom>
          <a:solidFill>
            <a:srgbClr val="D4A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524244" y="6332220"/>
            <a:ext cx="429768" cy="105156"/>
          </a:xfrm>
          <a:prstGeom prst="rect">
            <a:avLst/>
          </a:prstGeom>
          <a:solidFill>
            <a:srgbClr val="D4A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986016" y="6332220"/>
            <a:ext cx="429768" cy="105156"/>
          </a:xfrm>
          <a:prstGeom prst="rect">
            <a:avLst/>
          </a:prstGeom>
          <a:solidFill>
            <a:srgbClr val="D4A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447788" y="6332220"/>
            <a:ext cx="429768" cy="10515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909560" y="6332220"/>
            <a:ext cx="429768" cy="10515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5840" y="1874519"/>
            <a:ext cx="25603" cy="2514600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93852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 spc="300">
                <a:solidFill>
                  <a:srgbClr val="D4AF5E"/>
                </a:solidFill>
                <a:latin typeface="Jost"/>
              </a:rPr>
              <a:t>PART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53312" y="2286000"/>
            <a:ext cx="98755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000" b="0" i="0">
                <a:solidFill>
                  <a:srgbClr val="F4EFE3"/>
                </a:solidFill>
                <a:latin typeface="Playfair Display"/>
              </a:rPr>
              <a:t>The Seventy-One Folios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703320"/>
            <a:ext cx="8686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9AA79B"/>
                </a:solidFill>
                <a:latin typeface="Georgia"/>
              </a:rPr>
              <a:t>Every folio on its own slide - image attached, verse verified, Arabic and English on the record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FOLIO 01 / 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11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0" i="0">
                <a:solidFill>
                  <a:srgbClr val="F4EFE3"/>
                </a:solidFill>
                <a:latin typeface="Playfair Display"/>
              </a:rPr>
              <a:t>The Beneficent Teaches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1">
                <a:solidFill>
                  <a:srgbClr val="D4AF5E"/>
                </a:solidFill>
                <a:latin typeface="Georgia"/>
              </a:rPr>
              <a:t>"(Allah) Most Gracious! It is He Who has taught the Qur'an."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20440"/>
            <a:ext cx="37947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5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ٱلرَّحْمَٰنُ عَلَّمَ ٱلْقُرْءَانَ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10">
                <a:solidFill>
                  <a:srgbClr val="9AA79B"/>
                </a:solidFill>
                <a:latin typeface="Jost"/>
              </a:rPr>
              <a:t>SURAH AR-RAHMAN (55)  ·  MEDINAN  ·  JUZ 27  ·  PAGES 531-534</a:t>
            </a:r>
          </a:p>
          <a:p>
            <a:pPr algn="l"/>
            <a:r>
              <a:rPr sz="750" b="0" i="0" spc="110">
                <a:solidFill>
                  <a:srgbClr val="D4AF5E"/>
                </a:solidFill>
                <a:latin typeface="Jost"/>
              </a:rPr>
              <a:t>VERSE 55:01–02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FOLIO 02 / 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11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0" i="0">
                <a:solidFill>
                  <a:srgbClr val="F4EFE3"/>
                </a:solidFill>
                <a:latin typeface="Playfair Display"/>
              </a:rPr>
              <a:t>Created Man, Taught Speech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1">
                <a:solidFill>
                  <a:srgbClr val="D4AF5E"/>
                </a:solidFill>
                <a:latin typeface="Georgia"/>
              </a:rPr>
              <a:t>"He has created man: He has taught him speech (and intelligence)."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20440"/>
            <a:ext cx="37947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5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خَلَقَ ٱلْإِنسَٰنَ عَلَّمَهُ ٱلْبَيَانَ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10">
                <a:solidFill>
                  <a:srgbClr val="9AA79B"/>
                </a:solidFill>
                <a:latin typeface="Jost"/>
              </a:rPr>
              <a:t>SURAH AR-RAHMAN (55)  ·  MEDINAN  ·  JUZ 27  ·  PAGES 531-534</a:t>
            </a:r>
          </a:p>
          <a:p>
            <a:pPr algn="l"/>
            <a:r>
              <a:rPr sz="750" b="0" i="0" spc="110">
                <a:solidFill>
                  <a:srgbClr val="D4AF5E"/>
                </a:solidFill>
                <a:latin typeface="Jost"/>
              </a:rPr>
              <a:t>VERSE 55:03–04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FOLIO 03 / 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11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0" i="0">
                <a:solidFill>
                  <a:srgbClr val="F4EFE3"/>
                </a:solidFill>
                <a:latin typeface="Playfair Display"/>
              </a:rPr>
              <a:t>The Computed Course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1">
                <a:solidFill>
                  <a:srgbClr val="D4AF5E"/>
                </a:solidFill>
                <a:latin typeface="Georgia"/>
              </a:rPr>
              <a:t>"The sun and the moon follow courses (exactly) computed."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20440"/>
            <a:ext cx="37947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5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ٱلشَّمْسُ وَٱلْقَمَرُ بِحُسْبَانٍۢ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10">
                <a:solidFill>
                  <a:srgbClr val="9AA79B"/>
                </a:solidFill>
                <a:latin typeface="Jost"/>
              </a:rPr>
              <a:t>SURAH AR-RAHMAN (55)  ·  MEDINAN  ·  JUZ 27  ·  PAGES 531-534</a:t>
            </a:r>
          </a:p>
          <a:p>
            <a:pPr algn="l"/>
            <a:r>
              <a:rPr sz="750" b="0" i="0" spc="110">
                <a:solidFill>
                  <a:srgbClr val="D4AF5E"/>
                </a:solidFill>
                <a:latin typeface="Jost"/>
              </a:rPr>
              <a:t>VERSE 55:05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FOLIO 04 / 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11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0" i="0">
                <a:solidFill>
                  <a:srgbClr val="F4EFE3"/>
                </a:solidFill>
                <a:latin typeface="Playfair Display"/>
              </a:rPr>
              <a:t>Frame Reserved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1">
                <a:solidFill>
                  <a:srgbClr val="D4AF5E"/>
                </a:solidFill>
                <a:latin typeface="Georgia"/>
              </a:rPr>
              <a:t>"Photography pending - frame reserved."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749039"/>
            <a:ext cx="3794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1100" b="0" i="1">
                <a:solidFill>
                  <a:srgbClr val="9AA79B"/>
                </a:solidFill>
                <a:latin typeface="Georgia"/>
              </a:rPr>
              <a:t>Arabic text to be entered from the physical frame.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10">
                <a:solidFill>
                  <a:srgbClr val="9AA79B"/>
                </a:solidFill>
                <a:latin typeface="Jost"/>
              </a:rPr>
              <a:t>FRAME RESERVED  ·  PHOTOGRAPHY PENDING</a:t>
            </a:r>
          </a:p>
          <a:p>
            <a:pPr algn="l"/>
            <a:r>
              <a:rPr sz="750" b="0" i="0" spc="110">
                <a:solidFill>
                  <a:srgbClr val="D4AF5E"/>
                </a:solidFill>
                <a:latin typeface="Jost"/>
              </a:rPr>
              <a:t>VERSE TO BE ENTERED FROM FRAME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FOLIO 05 / 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11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0" i="0">
                <a:solidFill>
                  <a:srgbClr val="F4EFE3"/>
                </a:solidFill>
                <a:latin typeface="Playfair Display"/>
              </a:rPr>
              <a:t>The Raised Firmament, the Balance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1">
                <a:solidFill>
                  <a:srgbClr val="D4AF5E"/>
                </a:solidFill>
                <a:latin typeface="Georgia"/>
              </a:rPr>
              <a:t>"And the Firmament has He raised high, and He has set up the Balance (of Justice), in order that ye may not transgress (due) balance."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20440"/>
            <a:ext cx="37947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0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وَٱلسَّمَآءَ رَفَعَهَا وَوَضَعَ ٱلْمِيزَانَ أَلَّا تَطْغَوْا۟ فِى ٱلْمِيزَانِ وَأَقِيمُوا۟ ٱلْوَزْنَ بِٱلْقِسْطِ وَلَا تُخْسِرُوا۟ ٱلْمِيزَانَ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10">
                <a:solidFill>
                  <a:srgbClr val="9AA79B"/>
                </a:solidFill>
                <a:latin typeface="Jost"/>
              </a:rPr>
              <a:t>SURAH AR-RAHMAN (55)  ·  MEDINAN  ·  JUZ 27  ·  PAGES 531-534</a:t>
            </a:r>
          </a:p>
          <a:p>
            <a:pPr algn="l"/>
            <a:r>
              <a:rPr sz="750" b="0" i="0" spc="110">
                <a:solidFill>
                  <a:srgbClr val="D4AF5E"/>
                </a:solidFill>
                <a:latin typeface="Jost"/>
              </a:rPr>
              <a:t>VERSE 55:07–09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FOLIO 06 / 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11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0" i="0">
                <a:solidFill>
                  <a:srgbClr val="F4EFE3"/>
                </a:solidFill>
                <a:latin typeface="Playfair Display"/>
              </a:rPr>
              <a:t>The Earth Spread Out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1">
                <a:solidFill>
                  <a:srgbClr val="D4AF5E"/>
                </a:solidFill>
                <a:latin typeface="Georgia"/>
              </a:rPr>
              <a:t>"It is He Who has spread out the earth for (His) creatures."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20440"/>
            <a:ext cx="37947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5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وَٱلْأَرْضَ وَضَعَهَا لِلْأَنَامِ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10">
                <a:solidFill>
                  <a:srgbClr val="9AA79B"/>
                </a:solidFill>
                <a:latin typeface="Jost"/>
              </a:rPr>
              <a:t>SURAH AR-RAHMAN (55)  ·  MEDINAN  ·  JUZ 27  ·  PAGES 531-534</a:t>
            </a:r>
          </a:p>
          <a:p>
            <a:pPr algn="l"/>
            <a:r>
              <a:rPr sz="750" b="0" i="0" spc="110">
                <a:solidFill>
                  <a:srgbClr val="D4AF5E"/>
                </a:solidFill>
                <a:latin typeface="Jost"/>
              </a:rPr>
              <a:t>VERSE 55:10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FOLIO 07 / 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11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0" i="0">
                <a:solidFill>
                  <a:srgbClr val="F4EFE3"/>
                </a:solidFill>
                <a:latin typeface="Playfair Display"/>
              </a:rPr>
              <a:t>Fruit and Sheathed Palms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1">
                <a:solidFill>
                  <a:srgbClr val="D4AF5E"/>
                </a:solidFill>
                <a:latin typeface="Georgia"/>
              </a:rPr>
              <a:t>"Therein is fruit and date-palms, producing spathes (enclosing dates)."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20440"/>
            <a:ext cx="37947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3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فِيهَا فَٰكِهَةٌۭ وَٱلنَّخْلُ ذَاتُ ٱلْأَكْمَامِ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10">
                <a:solidFill>
                  <a:srgbClr val="9AA79B"/>
                </a:solidFill>
                <a:latin typeface="Jost"/>
              </a:rPr>
              <a:t>SURAH AR-RAHMAN (55)  ·  MEDINAN  ·  JUZ 27  ·  PAGES 531-534</a:t>
            </a:r>
          </a:p>
          <a:p>
            <a:pPr algn="l"/>
            <a:r>
              <a:rPr sz="750" b="0" i="0" spc="110">
                <a:solidFill>
                  <a:srgbClr val="D4AF5E"/>
                </a:solidFill>
                <a:latin typeface="Jost"/>
              </a:rPr>
              <a:t>VERSE 55:11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FOLIO 08 / 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11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0" i="0">
                <a:solidFill>
                  <a:srgbClr val="F4EFE3"/>
                </a:solidFill>
                <a:latin typeface="Playfair Display"/>
              </a:rPr>
              <a:t>Husked Grain, Scented Herb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1">
                <a:solidFill>
                  <a:srgbClr val="D4AF5E"/>
                </a:solidFill>
                <a:latin typeface="Georgia"/>
              </a:rPr>
              <a:t>"Also corn, with (its) leaves and stalk for fodder, and sweet-smelling plants."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20440"/>
            <a:ext cx="37947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5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وَٱلْحَبُّ ذُو ٱلْعَصْفِ وَٱلرَّيْحَانُ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10">
                <a:solidFill>
                  <a:srgbClr val="9AA79B"/>
                </a:solidFill>
                <a:latin typeface="Jost"/>
              </a:rPr>
              <a:t>SURAH AR-RAHMAN (55)  ·  MEDINAN  ·  JUZ 27  ·  PAGES 531-534</a:t>
            </a:r>
          </a:p>
          <a:p>
            <a:pPr algn="l"/>
            <a:r>
              <a:rPr sz="750" b="0" i="0" spc="110">
                <a:solidFill>
                  <a:srgbClr val="D4AF5E"/>
                </a:solidFill>
                <a:latin typeface="Jost"/>
              </a:rPr>
              <a:t>VERSE 55:12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FOLIO 09 / 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11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0" i="0">
                <a:solidFill>
                  <a:srgbClr val="F4EFE3"/>
                </a:solidFill>
                <a:latin typeface="Playfair Display"/>
              </a:rPr>
              <a:t>The Recurring Question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1">
                <a:solidFill>
                  <a:srgbClr val="D4AF5E"/>
                </a:solidFill>
                <a:latin typeface="Georgia"/>
              </a:rPr>
              <a:t>"Then which of the favours of your Lord will ye deny?"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20440"/>
            <a:ext cx="37947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3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فَبِأَىِّ ءَالَآءِ رَبِّكُمَا تُكَذِّبَانِ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10">
                <a:solidFill>
                  <a:srgbClr val="9AA79B"/>
                </a:solidFill>
                <a:latin typeface="Jost"/>
              </a:rPr>
              <a:t>THE RECURRENT REFRAIN OF THE SURAH</a:t>
            </a:r>
          </a:p>
          <a:p>
            <a:pPr algn="l"/>
            <a:r>
              <a:rPr sz="750" b="0" i="0" spc="110">
                <a:solidFill>
                  <a:srgbClr val="D4AF5E"/>
                </a:solidFill>
                <a:latin typeface="Jost"/>
              </a:rPr>
              <a:t>VERSE NUMBER - VERIFIED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FOLIO 10 / 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11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0" i="0">
                <a:solidFill>
                  <a:srgbClr val="F4EFE3"/>
                </a:solidFill>
                <a:latin typeface="Playfair Display"/>
              </a:rPr>
              <a:t>Man of Sounding Clay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1">
                <a:solidFill>
                  <a:srgbClr val="D4AF5E"/>
                </a:solidFill>
                <a:latin typeface="Georgia"/>
              </a:rPr>
              <a:t>"He created man from sounding clay like unto pottery."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20440"/>
            <a:ext cx="37947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3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خَلَقَ ٱلْإِنسَٰنَ مِن صَلْصَٰلٍۢ كَٱلْفَخَّارِ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10">
                <a:solidFill>
                  <a:srgbClr val="9AA79B"/>
                </a:solidFill>
                <a:latin typeface="Jost"/>
              </a:rPr>
              <a:t>SURAH AR-RAHMAN (55)  ·  MEDINAN  ·  JUZ 27  ·  PAGES 531-534</a:t>
            </a:r>
          </a:p>
          <a:p>
            <a:pPr algn="l"/>
            <a:r>
              <a:rPr sz="750" b="0" i="0" spc="110">
                <a:solidFill>
                  <a:srgbClr val="D4AF5E"/>
                </a:solidFill>
                <a:latin typeface="Jost"/>
              </a:rPr>
              <a:t>VERSE 55:14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FOLIO 11 / 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11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0" i="0">
                <a:solidFill>
                  <a:srgbClr val="F4EFE3"/>
                </a:solidFill>
                <a:latin typeface="Playfair Display"/>
              </a:rPr>
              <a:t>Jinn of Smokeless Fire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1">
                <a:solidFill>
                  <a:srgbClr val="D4AF5E"/>
                </a:solidFill>
                <a:latin typeface="Georgia"/>
              </a:rPr>
              <a:t>"And He created Jinns from fire free of smoke."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20440"/>
            <a:ext cx="37947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3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وَخَلَقَ ٱلْجَآنَّ مِن مَّارِجٍۢ مِّن نَّارٍۢ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10">
                <a:solidFill>
                  <a:srgbClr val="9AA79B"/>
                </a:solidFill>
                <a:latin typeface="Jost"/>
              </a:rPr>
              <a:t>SURAH AR-RAHMAN (55)  ·  MEDINAN  ·  JUZ 27  ·  PAGES 531-534</a:t>
            </a:r>
          </a:p>
          <a:p>
            <a:pPr algn="l"/>
            <a:r>
              <a:rPr sz="750" b="0" i="0" spc="110">
                <a:solidFill>
                  <a:srgbClr val="D4AF5E"/>
                </a:solidFill>
                <a:latin typeface="Jost"/>
              </a:rPr>
              <a:t>VERSE 55:15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FOLIO 12 / 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11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0" i="0">
                <a:solidFill>
                  <a:srgbClr val="F4EFE3"/>
                </a:solidFill>
                <a:latin typeface="Playfair Display"/>
              </a:rPr>
              <a:t>Soon Shall We Settle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1">
                <a:solidFill>
                  <a:srgbClr val="D4AF5E"/>
                </a:solidFill>
                <a:latin typeface="Georgia"/>
              </a:rPr>
              <a:t>"Soon shall We settle your affairs, O both ye worlds!"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20440"/>
            <a:ext cx="37947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5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سَنَفْرُغُ لَكُمْ أَيُّهَ ٱلثَّقَلَانِ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10">
                <a:solidFill>
                  <a:srgbClr val="9AA79B"/>
                </a:solidFill>
                <a:latin typeface="Jost"/>
              </a:rPr>
              <a:t>SURAH AR-RAHMAN (55)  ·  MEDINAN  ·  JUZ 27  ·  PAGES 531-534</a:t>
            </a:r>
          </a:p>
          <a:p>
            <a:pPr algn="l"/>
            <a:r>
              <a:rPr sz="750" b="0" i="0" spc="110">
                <a:solidFill>
                  <a:srgbClr val="D4AF5E"/>
                </a:solidFill>
                <a:latin typeface="Jost"/>
              </a:rPr>
              <a:t>VERSE 55:31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FOLIO 13 / 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11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0" i="0">
                <a:solidFill>
                  <a:srgbClr val="F4EFE3"/>
                </a:solidFill>
                <a:latin typeface="Playfair Display"/>
              </a:rPr>
              <a:t>Lord of the Two Easts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1">
                <a:solidFill>
                  <a:srgbClr val="D4AF5E"/>
                </a:solidFill>
                <a:latin typeface="Georgia"/>
              </a:rPr>
              <a:t>"(He is) Lord of the two Easts and Lord of the two Wests."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20440"/>
            <a:ext cx="37947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3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رَبُّ ٱلْمَشْرِقَيْنِ وَرَبُّ ٱلْمَغْرِبَيْنِ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10">
                <a:solidFill>
                  <a:srgbClr val="9AA79B"/>
                </a:solidFill>
                <a:latin typeface="Jost"/>
              </a:rPr>
              <a:t>SURAH AR-RAHMAN (55)  ·  MEDINAN  ·  JUZ 27  ·  PAGES 531-534</a:t>
            </a:r>
          </a:p>
          <a:p>
            <a:pPr algn="l"/>
            <a:r>
              <a:rPr sz="750" b="0" i="0" spc="110">
                <a:solidFill>
                  <a:srgbClr val="D4AF5E"/>
                </a:solidFill>
                <a:latin typeface="Jost"/>
              </a:rPr>
              <a:t>VERSE 55:17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FOLIO 14 / 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11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0" i="0">
                <a:solidFill>
                  <a:srgbClr val="F4EFE3"/>
                </a:solidFill>
                <a:latin typeface="Playfair Display"/>
              </a:rPr>
              <a:t>The Recurring Question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1">
                <a:solidFill>
                  <a:srgbClr val="D4AF5E"/>
                </a:solidFill>
                <a:latin typeface="Georgia"/>
              </a:rPr>
              <a:t>"Then which of the favours of your Lord will ye deny?"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20440"/>
            <a:ext cx="37947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3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فَبِأَىِّ ءَالَآءِ رَبِّكُمَا تُكَذِّبَانِ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10">
                <a:solidFill>
                  <a:srgbClr val="9AA79B"/>
                </a:solidFill>
                <a:latin typeface="Jost"/>
              </a:rPr>
              <a:t>THE RECURRENT REFRAIN OF THE SURAH</a:t>
            </a:r>
          </a:p>
          <a:p>
            <a:pPr algn="l"/>
            <a:r>
              <a:rPr sz="750" b="0" i="0" spc="110">
                <a:solidFill>
                  <a:srgbClr val="D4AF5E"/>
                </a:solidFill>
                <a:latin typeface="Jost"/>
              </a:rPr>
              <a:t>VERSE NUMBER - VERIFIED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FOLIO 15 / 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11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0" i="0">
                <a:solidFill>
                  <a:srgbClr val="F4EFE3"/>
                </a:solidFill>
                <a:latin typeface="Playfair Display"/>
              </a:rPr>
              <a:t>The Two Seas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1">
                <a:solidFill>
                  <a:srgbClr val="D4AF5E"/>
                </a:solidFill>
                <a:latin typeface="Georgia"/>
              </a:rPr>
              <a:t>"He has let free the two bodies of flowing water, meeting together: between them is a barrier which they do not transgress."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20440"/>
            <a:ext cx="37947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15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مَرَجَ ٱلْبَحْرَيْنِ يَلْتَقِيَانِ بَيْنَهُمَا بَرْزَخٌۭ لَّا يَبْغِيَانِ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10">
                <a:solidFill>
                  <a:srgbClr val="9AA79B"/>
                </a:solidFill>
                <a:latin typeface="Jost"/>
              </a:rPr>
              <a:t>SURAH AR-RAHMAN (55)  ·  MEDINAN  ·  JUZ 27  ·  PAGES 531-534</a:t>
            </a:r>
          </a:p>
          <a:p>
            <a:pPr algn="l"/>
            <a:r>
              <a:rPr sz="750" b="0" i="0" spc="110">
                <a:solidFill>
                  <a:srgbClr val="D4AF5E"/>
                </a:solidFill>
                <a:latin typeface="Jost"/>
              </a:rPr>
              <a:t>VERSE 55:19–20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FOLIO 16 / 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11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0" i="0">
                <a:solidFill>
                  <a:srgbClr val="F4EFE3"/>
                </a:solidFill>
                <a:latin typeface="Playfair Display"/>
              </a:rPr>
              <a:t>The Recurring Question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1">
                <a:solidFill>
                  <a:srgbClr val="D4AF5E"/>
                </a:solidFill>
                <a:latin typeface="Georgia"/>
              </a:rPr>
              <a:t>"Then which of the favours of your Lord will ye deny?"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20440"/>
            <a:ext cx="37947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3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فَبِأَىِّ ءَالَآءِ رَبِّكُمَا تُكَذِّبَانِ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10">
                <a:solidFill>
                  <a:srgbClr val="9AA79B"/>
                </a:solidFill>
                <a:latin typeface="Jost"/>
              </a:rPr>
              <a:t>THE RECURRENT REFRAIN OF THE SURAH</a:t>
            </a:r>
          </a:p>
          <a:p>
            <a:pPr algn="l"/>
            <a:r>
              <a:rPr sz="750" b="0" i="0" spc="110">
                <a:solidFill>
                  <a:srgbClr val="D4AF5E"/>
                </a:solidFill>
                <a:latin typeface="Jost"/>
              </a:rPr>
              <a:t>VERSE NUMBER - VERIFIED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FOLIO 17 / 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11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0" i="0">
                <a:solidFill>
                  <a:srgbClr val="F4EFE3"/>
                </a:solidFill>
                <a:latin typeface="Playfair Display"/>
              </a:rPr>
              <a:t>Pearl and Coral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1">
                <a:solidFill>
                  <a:srgbClr val="D4AF5E"/>
                </a:solidFill>
                <a:latin typeface="Georgia"/>
              </a:rPr>
              <a:t>"Out of them come Pearls and Coral."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20440"/>
            <a:ext cx="37947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3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يَخْرُجُ مِنْهُمَا ٱللُّؤْلُؤُ وَٱلْمَرْجَانُ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10">
                <a:solidFill>
                  <a:srgbClr val="9AA79B"/>
                </a:solidFill>
                <a:latin typeface="Jost"/>
              </a:rPr>
              <a:t>SURAH AR-RAHMAN (55)  ·  MEDINAN  ·  JUZ 27  ·  PAGES 531-534</a:t>
            </a:r>
          </a:p>
          <a:p>
            <a:pPr algn="l"/>
            <a:r>
              <a:rPr sz="750" b="0" i="0" spc="110">
                <a:solidFill>
                  <a:srgbClr val="D4AF5E"/>
                </a:solidFill>
                <a:latin typeface="Jost"/>
              </a:rPr>
              <a:t>VERSE 55:22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FOLIO 18 / 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11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0" i="0">
                <a:solidFill>
                  <a:srgbClr val="F4EFE3"/>
                </a:solidFill>
                <a:latin typeface="Playfair Display"/>
              </a:rPr>
              <a:t>The Recurring Question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1">
                <a:solidFill>
                  <a:srgbClr val="D4AF5E"/>
                </a:solidFill>
                <a:latin typeface="Georgia"/>
              </a:rPr>
              <a:t>"Then which of the favours of your Lord will ye deny?"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20440"/>
            <a:ext cx="37947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3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فَبِأَىِّ ءَالَآءِ رَبِّكُمَا تُكَذِّبَانِ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10">
                <a:solidFill>
                  <a:srgbClr val="9AA79B"/>
                </a:solidFill>
                <a:latin typeface="Jost"/>
              </a:rPr>
              <a:t>THE RECURRENT REFRAIN OF THE SURAH</a:t>
            </a:r>
          </a:p>
          <a:p>
            <a:pPr algn="l"/>
            <a:r>
              <a:rPr sz="750" b="0" i="0" spc="110">
                <a:solidFill>
                  <a:srgbClr val="D4AF5E"/>
                </a:solidFill>
                <a:latin typeface="Jost"/>
              </a:rPr>
              <a:t>VERSE NUMBER - VERIFIED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FOLIO 19 / 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11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0" i="0">
                <a:solidFill>
                  <a:srgbClr val="F4EFE3"/>
                </a:solidFill>
                <a:latin typeface="Playfair Display"/>
              </a:rPr>
              <a:t>Ships Like Banners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1">
                <a:solidFill>
                  <a:srgbClr val="D4AF5E"/>
                </a:solidFill>
                <a:latin typeface="Georgia"/>
              </a:rPr>
              <a:t>"And His are the Ships sailing smoothly through the seas, lofty as mountains."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20440"/>
            <a:ext cx="37947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3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وَلَهُ ٱلْجَوَارِ ٱلْمُنشَـَٔاتُ فِى ٱلْبَحْرِ كَٱلْأَعْلَٰمِ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10">
                <a:solidFill>
                  <a:srgbClr val="9AA79B"/>
                </a:solidFill>
                <a:latin typeface="Jost"/>
              </a:rPr>
              <a:t>SURAH AR-RAHMAN (55)  ·  MEDINAN  ·  JUZ 27  ·  PAGES 531-534</a:t>
            </a:r>
          </a:p>
          <a:p>
            <a:pPr algn="l"/>
            <a:r>
              <a:rPr sz="750" b="0" i="0" spc="110">
                <a:solidFill>
                  <a:srgbClr val="D4AF5E"/>
                </a:solidFill>
                <a:latin typeface="Jost"/>
              </a:rPr>
              <a:t>VERSE 55:24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FOLIO 20 / 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11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0" i="0">
                <a:solidFill>
                  <a:srgbClr val="F4EFE3"/>
                </a:solidFill>
                <a:latin typeface="Playfair Display"/>
              </a:rPr>
              <a:t>The Recurring Question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1">
                <a:solidFill>
                  <a:srgbClr val="D4AF5E"/>
                </a:solidFill>
                <a:latin typeface="Georgia"/>
              </a:rPr>
              <a:t>"Then which of the favours of your Lord will ye deny?"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20440"/>
            <a:ext cx="37947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3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فَبِأَىِّ ءَالَآءِ رَبِّكُمَا تُكَذِّبَانِ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10">
                <a:solidFill>
                  <a:srgbClr val="9AA79B"/>
                </a:solidFill>
                <a:latin typeface="Jost"/>
              </a:rPr>
              <a:t>THE RECURRENT REFRAIN OF THE SURAH</a:t>
            </a:r>
          </a:p>
          <a:p>
            <a:pPr algn="l"/>
            <a:r>
              <a:rPr sz="750" b="0" i="0" spc="110">
                <a:solidFill>
                  <a:srgbClr val="D4AF5E"/>
                </a:solidFill>
                <a:latin typeface="Jost"/>
              </a:rPr>
              <a:t>VERSE NUMBER - VERIFIED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FOLIO 21 / 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11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0" i="0">
                <a:solidFill>
                  <a:srgbClr val="F4EFE3"/>
                </a:solidFill>
                <a:latin typeface="Playfair Display"/>
              </a:rPr>
              <a:t>All Shall Pass Away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1">
                <a:solidFill>
                  <a:srgbClr val="D4AF5E"/>
                </a:solidFill>
                <a:latin typeface="Georgia"/>
              </a:rPr>
              <a:t>"All that is on earth will perish."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20440"/>
            <a:ext cx="37947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5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كُلُّ مَنْ عَلَيْهَا فَانٍۢ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10">
                <a:solidFill>
                  <a:srgbClr val="9AA79B"/>
                </a:solidFill>
                <a:latin typeface="Jost"/>
              </a:rPr>
              <a:t>SURAH AR-RAHMAN (55)  ·  MEDINAN  ·  JUZ 27  ·  PAGES 531-534</a:t>
            </a:r>
          </a:p>
          <a:p>
            <a:pPr algn="l"/>
            <a:r>
              <a:rPr sz="750" b="0" i="0" spc="110">
                <a:solidFill>
                  <a:srgbClr val="D4AF5E"/>
                </a:solidFill>
                <a:latin typeface="Jost"/>
              </a:rPr>
              <a:t>VERSE 55:26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FOLIO 22 / 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11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0" i="0">
                <a:solidFill>
                  <a:srgbClr val="F4EFE3"/>
                </a:solidFill>
                <a:latin typeface="Playfair Display"/>
              </a:rPr>
              <a:t>The Recurring Question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1">
                <a:solidFill>
                  <a:srgbClr val="D4AF5E"/>
                </a:solidFill>
                <a:latin typeface="Georgia"/>
              </a:rPr>
              <a:t>"Then which of the favours of your Lord will ye deny?"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20440"/>
            <a:ext cx="37947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3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فَبِأَىِّ ءَالَآءِ رَبِّكُمَا تُكَذِّبَانِ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10">
                <a:solidFill>
                  <a:srgbClr val="9AA79B"/>
                </a:solidFill>
                <a:latin typeface="Jost"/>
              </a:rPr>
              <a:t>THE RECURRENT REFRAIN OF THE SURAH</a:t>
            </a:r>
          </a:p>
          <a:p>
            <a:pPr algn="l"/>
            <a:r>
              <a:rPr sz="750" b="0" i="0" spc="110">
                <a:solidFill>
                  <a:srgbClr val="D4AF5E"/>
                </a:solidFill>
                <a:latin typeface="Jost"/>
              </a:rPr>
              <a:t>VERSE NUMBER - PENDING VERIFICATION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FOLIO 23 / 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11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0" i="0">
                <a:solidFill>
                  <a:srgbClr val="F4EFE3"/>
                </a:solidFill>
                <a:latin typeface="Playfair Display"/>
              </a:rPr>
              <a:t>The Face of Thy Lord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1">
                <a:solidFill>
                  <a:srgbClr val="D4AF5E"/>
                </a:solidFill>
                <a:latin typeface="Georgia"/>
              </a:rPr>
              <a:t>"But will abide (for ever) the Face of thy Lord, full of Majesty, Bounty and Honour."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20440"/>
            <a:ext cx="37947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3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وَيَبْقَىٰ وَجْهُ رَبِّكَ ذُو ٱلْجَلَٰلِ وَٱلْإِكْرَامِ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10">
                <a:solidFill>
                  <a:srgbClr val="9AA79B"/>
                </a:solidFill>
                <a:latin typeface="Jost"/>
              </a:rPr>
              <a:t>SURAH AR-RAHMAN (55)  ·  MEDINAN  ·  JUZ 27  ·  PAGES 531-534</a:t>
            </a:r>
          </a:p>
          <a:p>
            <a:pPr algn="l"/>
            <a:r>
              <a:rPr sz="750" b="0" i="0" spc="110">
                <a:solidFill>
                  <a:srgbClr val="D4AF5E"/>
                </a:solidFill>
                <a:latin typeface="Jost"/>
              </a:rPr>
              <a:t>VERSE 55:27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FOLIO 24 / 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11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0" i="0">
                <a:solidFill>
                  <a:srgbClr val="F4EFE3"/>
                </a:solidFill>
                <a:latin typeface="Playfair Display"/>
              </a:rPr>
              <a:t>The Recurring Question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1">
                <a:solidFill>
                  <a:srgbClr val="D4AF5E"/>
                </a:solidFill>
                <a:latin typeface="Georgia"/>
              </a:rPr>
              <a:t>"Then which of the favours of your Lord will ye deny?"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20440"/>
            <a:ext cx="37947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3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فَبِأَىِّ ءَالَآءِ رَبِّكُمَا تُكَذِّبَانِ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10">
                <a:solidFill>
                  <a:srgbClr val="9AA79B"/>
                </a:solidFill>
                <a:latin typeface="Jost"/>
              </a:rPr>
              <a:t>THE RECURRENT REFRAIN OF THE SURAH</a:t>
            </a:r>
          </a:p>
          <a:p>
            <a:pPr algn="l"/>
            <a:r>
              <a:rPr sz="750" b="0" i="0" spc="110">
                <a:solidFill>
                  <a:srgbClr val="D4AF5E"/>
                </a:solidFill>
                <a:latin typeface="Jost"/>
              </a:rPr>
              <a:t>VERSE NUMBER - VERIFIED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FOLIO 25 / 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11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0" i="0">
                <a:solidFill>
                  <a:srgbClr val="F4EFE3"/>
                </a:solidFill>
                <a:latin typeface="Playfair Display"/>
              </a:rPr>
              <a:t>Every Day a New Splendour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1">
                <a:solidFill>
                  <a:srgbClr val="D4AF5E"/>
                </a:solidFill>
                <a:latin typeface="Georgia"/>
              </a:rPr>
              <a:t>"Of Him seeks (its need) every creature in the heavens and on earth: every day in (new) Splendour."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20440"/>
            <a:ext cx="37947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15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يَسْـَٔلُهُۥ مَن فِى ٱلسَّمَٰوَٰتِ وَٱلْأَرْضِ ۚ كُلَّ يَوْمٍ هُوَ فِى شَأْنٍۢ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10">
                <a:solidFill>
                  <a:srgbClr val="9AA79B"/>
                </a:solidFill>
                <a:latin typeface="Jost"/>
              </a:rPr>
              <a:t>SURAH AR-RAHMAN (55)  ·  MEDINAN  ·  JUZ 27  ·  PAGES 531-534</a:t>
            </a:r>
          </a:p>
          <a:p>
            <a:pPr algn="l"/>
            <a:r>
              <a:rPr sz="750" b="0" i="0" spc="110">
                <a:solidFill>
                  <a:srgbClr val="D4AF5E"/>
                </a:solidFill>
                <a:latin typeface="Jost"/>
              </a:rPr>
              <a:t>VERSE 55:29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FOLIO 26 / 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11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0" i="0">
                <a:solidFill>
                  <a:srgbClr val="F4EFE3"/>
                </a:solidFill>
                <a:latin typeface="Playfair Display"/>
              </a:rPr>
              <a:t>The Recurring Question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1">
                <a:solidFill>
                  <a:srgbClr val="D4AF5E"/>
                </a:solidFill>
                <a:latin typeface="Georgia"/>
              </a:rPr>
              <a:t>"Then which of the favours of your Lord will ye deny?"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20440"/>
            <a:ext cx="37947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3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فَبِأَىِّ ءَالَآءِ رَبِّكُمَا تُكَذِّبَانِ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10">
                <a:solidFill>
                  <a:srgbClr val="9AA79B"/>
                </a:solidFill>
                <a:latin typeface="Jost"/>
              </a:rPr>
              <a:t>THE RECURRENT REFRAIN OF THE SURAH</a:t>
            </a:r>
          </a:p>
          <a:p>
            <a:pPr algn="l"/>
            <a:r>
              <a:rPr sz="750" b="0" i="0" spc="110">
                <a:solidFill>
                  <a:srgbClr val="D4AF5E"/>
                </a:solidFill>
                <a:latin typeface="Jost"/>
              </a:rPr>
              <a:t>VERSE NUMBER - PENDING VERIFICATION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FOLIO 27 / 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11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0" i="0">
                <a:solidFill>
                  <a:srgbClr val="F4EFE3"/>
                </a:solidFill>
                <a:latin typeface="Playfair Display"/>
              </a:rPr>
              <a:t>The Recurring Question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1">
                <a:solidFill>
                  <a:srgbClr val="D4AF5E"/>
                </a:solidFill>
                <a:latin typeface="Georgia"/>
              </a:rPr>
              <a:t>"Then which of the favours of your Lord will ye deny?"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20440"/>
            <a:ext cx="37947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3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فَبِأَىِّ ءَالَآءِ رَبِّكُمَا تُكَذِّبَانِ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10">
                <a:solidFill>
                  <a:srgbClr val="9AA79B"/>
                </a:solidFill>
                <a:latin typeface="Jost"/>
              </a:rPr>
              <a:t>THE RECURRENT REFRAIN OF THE SURAH</a:t>
            </a:r>
          </a:p>
          <a:p>
            <a:pPr algn="l"/>
            <a:r>
              <a:rPr sz="750" b="0" i="0" spc="110">
                <a:solidFill>
                  <a:srgbClr val="D4AF5E"/>
                </a:solidFill>
                <a:latin typeface="Jost"/>
              </a:rPr>
              <a:t>VERSE NUMBER - PENDING VERIFICATION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FOLIO 28 / 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11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0" i="0">
                <a:solidFill>
                  <a:srgbClr val="F4EFE3"/>
                </a:solidFill>
                <a:latin typeface="Playfair Display"/>
              </a:rPr>
              <a:t>The Recurring Question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1">
                <a:solidFill>
                  <a:srgbClr val="D4AF5E"/>
                </a:solidFill>
                <a:latin typeface="Georgia"/>
              </a:rPr>
              <a:t>"Then which of the favours of your Lord will ye deny?"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20440"/>
            <a:ext cx="37947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3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فَبِأَىِّ ءَالَآءِ رَبِّكُمَا تُكَذِّبَانِ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10">
                <a:solidFill>
                  <a:srgbClr val="9AA79B"/>
                </a:solidFill>
                <a:latin typeface="Jost"/>
              </a:rPr>
              <a:t>THE RECURRENT REFRAIN OF THE SURAH</a:t>
            </a:r>
          </a:p>
          <a:p>
            <a:pPr algn="l"/>
            <a:r>
              <a:rPr sz="750" b="0" i="0" spc="110">
                <a:solidFill>
                  <a:srgbClr val="D4AF5E"/>
                </a:solidFill>
                <a:latin typeface="Jost"/>
              </a:rPr>
              <a:t>VERSE NUMBER - PENDING VERIFICATION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29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FOLIO 29 / 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11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0" i="0">
                <a:solidFill>
                  <a:srgbClr val="F4EFE3"/>
                </a:solidFill>
                <a:latin typeface="Playfair Display"/>
              </a:rPr>
              <a:t>Penetrate the Regions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1">
                <a:solidFill>
                  <a:srgbClr val="D4AF5E"/>
                </a:solidFill>
                <a:latin typeface="Georgia"/>
              </a:rPr>
              <a:t>"O ye assembly of Jinns and men! If it be ye can pass beyond the zones of the heavens and the earth, pass (them)!"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20440"/>
            <a:ext cx="37947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0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يَٰمَعْشَرَ ٱلْجِنِّ وَٱلْإِنسِ إِنِ ٱسْتَطَعْتُمْ أَن تَنفُذُوا۟ مِنْ أَقْطَارِ ٱلسَّمَٰوَٰتِ وَٱلْأَرْضِ فَٱنفُذُوا۟ ۚ لَا تَنفُذُونَ إِلَّا بِسُلْطَٰنٍۢ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10">
                <a:solidFill>
                  <a:srgbClr val="9AA79B"/>
                </a:solidFill>
                <a:latin typeface="Jost"/>
              </a:rPr>
              <a:t>SURAH AR-RAHMAN (55)  ·  MEDINAN  ·  JUZ 27  ·  PAGES 531-534</a:t>
            </a:r>
          </a:p>
          <a:p>
            <a:pPr algn="l"/>
            <a:r>
              <a:rPr sz="750" b="0" i="0" spc="110">
                <a:solidFill>
                  <a:srgbClr val="D4AF5E"/>
                </a:solidFill>
                <a:latin typeface="Jost"/>
              </a:rPr>
              <a:t>VERSE 55:33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FOLIO 30 / 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11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0" i="0">
                <a:solidFill>
                  <a:srgbClr val="F4EFE3"/>
                </a:solidFill>
                <a:latin typeface="Playfair Display"/>
              </a:rPr>
              <a:t>The Recurring Question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1">
                <a:solidFill>
                  <a:srgbClr val="D4AF5E"/>
                </a:solidFill>
                <a:latin typeface="Georgia"/>
              </a:rPr>
              <a:t>"Then which of the favours of your Lord will ye deny?"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20440"/>
            <a:ext cx="37947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3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فَبِأَىِّ ءَالَآءِ رَبِّكُمَا تُكَذِّبَانِ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10">
                <a:solidFill>
                  <a:srgbClr val="9AA79B"/>
                </a:solidFill>
                <a:latin typeface="Jost"/>
              </a:rPr>
              <a:t>THE RECURRENT REFRAIN OF THE SURAH</a:t>
            </a:r>
          </a:p>
          <a:p>
            <a:pPr algn="l"/>
            <a:r>
              <a:rPr sz="750" b="0" i="0" spc="110">
                <a:solidFill>
                  <a:srgbClr val="D4AF5E"/>
                </a:solidFill>
                <a:latin typeface="Jost"/>
              </a:rPr>
              <a:t>VERSE NUMBER - PENDING VERIFICATION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FOLIO 31 / 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11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0" i="0">
                <a:solidFill>
                  <a:srgbClr val="F4EFE3"/>
                </a:solidFill>
                <a:latin typeface="Playfair Display"/>
              </a:rPr>
              <a:t>Flame of Fire, Flash of Brass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1">
                <a:solidFill>
                  <a:srgbClr val="D4AF5E"/>
                </a:solidFill>
                <a:latin typeface="Georgia"/>
              </a:rPr>
              <a:t>"On you will be sent a flame of fire and a smoke of brass: neither can ye resist."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20440"/>
            <a:ext cx="37947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15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يُرْسَلُ عَلَيْكُمَا شُوَاظٌۭ مِّن نَّارٍۢ وَنُحَاسٌۭ فَلَا تَنتَصِرَانِ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10">
                <a:solidFill>
                  <a:srgbClr val="9AA79B"/>
                </a:solidFill>
                <a:latin typeface="Jost"/>
              </a:rPr>
              <a:t>SURAH AR-RAHMAN (55)  ·  MEDINAN  ·  JUZ 27  ·  PAGES 531-534</a:t>
            </a:r>
          </a:p>
          <a:p>
            <a:pPr algn="l"/>
            <a:r>
              <a:rPr sz="750" b="0" i="0" spc="110">
                <a:solidFill>
                  <a:srgbClr val="D4AF5E"/>
                </a:solidFill>
                <a:latin typeface="Jost"/>
              </a:rPr>
              <a:t>VERSE 55:35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FOLIO 32 / 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11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0" i="0">
                <a:solidFill>
                  <a:srgbClr val="F4EFE3"/>
                </a:solidFill>
                <a:latin typeface="Playfair Display"/>
              </a:rPr>
              <a:t>The Recurring Question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1">
                <a:solidFill>
                  <a:srgbClr val="D4AF5E"/>
                </a:solidFill>
                <a:latin typeface="Georgia"/>
              </a:rPr>
              <a:t>"Then which of the favours of your Lord will ye deny?"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20440"/>
            <a:ext cx="37947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3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فَبِأَىِّ ءَالَآءِ رَبِّكُمَا تُكَذِّبَانِ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10">
                <a:solidFill>
                  <a:srgbClr val="9AA79B"/>
                </a:solidFill>
                <a:latin typeface="Jost"/>
              </a:rPr>
              <a:t>THE RECURRENT REFRAIN OF THE SURAH</a:t>
            </a:r>
          </a:p>
          <a:p>
            <a:pPr algn="l"/>
            <a:r>
              <a:rPr sz="750" b="0" i="0" spc="110">
                <a:solidFill>
                  <a:srgbClr val="D4AF5E"/>
                </a:solidFill>
                <a:latin typeface="Jost"/>
              </a:rPr>
              <a:t>VERSE NUMBER - PENDING VERIFICATION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FOLIO 33 / 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11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0" i="0">
                <a:solidFill>
                  <a:srgbClr val="F4EFE3"/>
                </a:solidFill>
                <a:latin typeface="Playfair Display"/>
              </a:rPr>
              <a:t>The Sky Rent asunder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1">
                <a:solidFill>
                  <a:srgbClr val="D4AF5E"/>
                </a:solidFill>
                <a:latin typeface="Georgia"/>
              </a:rPr>
              <a:t>"When the sky is rent asunder, and it becomes red like ointment."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20440"/>
            <a:ext cx="37947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3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فَإِذَا ٱنشَقَّتِ ٱلسَّمَآءُ فَكَانَتْ وَرْدَةًۭ كَٱلدِّهَانِ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10">
                <a:solidFill>
                  <a:srgbClr val="9AA79B"/>
                </a:solidFill>
                <a:latin typeface="Jost"/>
              </a:rPr>
              <a:t>SURAH AR-RAHMAN (55)  ·  MEDINAN  ·  JUZ 27  ·  PAGES 531-534</a:t>
            </a:r>
          </a:p>
          <a:p>
            <a:pPr algn="l"/>
            <a:r>
              <a:rPr sz="750" b="0" i="0" spc="110">
                <a:solidFill>
                  <a:srgbClr val="D4AF5E"/>
                </a:solidFill>
                <a:latin typeface="Jost"/>
              </a:rPr>
              <a:t>VERSE 55:37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34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FOLIO 34 / 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11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0" i="0">
                <a:solidFill>
                  <a:srgbClr val="F4EFE3"/>
                </a:solidFill>
                <a:latin typeface="Playfair Display"/>
              </a:rPr>
              <a:t>The Recurring Question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1">
                <a:solidFill>
                  <a:srgbClr val="D4AF5E"/>
                </a:solidFill>
                <a:latin typeface="Georgia"/>
              </a:rPr>
              <a:t>"Then which of the favours of your Lord will ye deny?"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20440"/>
            <a:ext cx="37947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3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فَبِأَىِّ ءَالَآءِ رَبِّكُمَا تُكَذِّبَانِ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10">
                <a:solidFill>
                  <a:srgbClr val="9AA79B"/>
                </a:solidFill>
                <a:latin typeface="Jost"/>
              </a:rPr>
              <a:t>THE RECURRENT REFRAIN OF THE SURAH</a:t>
            </a:r>
          </a:p>
          <a:p>
            <a:pPr algn="l"/>
            <a:r>
              <a:rPr sz="750" b="0" i="0" spc="110">
                <a:solidFill>
                  <a:srgbClr val="D4AF5E"/>
                </a:solidFill>
                <a:latin typeface="Jost"/>
              </a:rPr>
              <a:t>VERSE NUMBER - PENDING VERIFICATION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35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FOLIO 35 / 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11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0" i="0">
                <a:solidFill>
                  <a:srgbClr val="F4EFE3"/>
                </a:solidFill>
                <a:latin typeface="Playfair Display"/>
              </a:rPr>
              <a:t>The Recurring Question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1">
                <a:solidFill>
                  <a:srgbClr val="D4AF5E"/>
                </a:solidFill>
                <a:latin typeface="Georgia"/>
              </a:rPr>
              <a:t>"Then which of the favours of your Lord will ye deny?"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20440"/>
            <a:ext cx="37947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3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فَبِأَىِّ ءَالَآءِ رَبِّكُمَا تُكَذِّبَانِ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10">
                <a:solidFill>
                  <a:srgbClr val="9AA79B"/>
                </a:solidFill>
                <a:latin typeface="Jost"/>
              </a:rPr>
              <a:t>THE RECURRENT REFRAIN OF THE SURAH</a:t>
            </a:r>
          </a:p>
          <a:p>
            <a:pPr algn="l"/>
            <a:r>
              <a:rPr sz="750" b="0" i="0" spc="110">
                <a:solidFill>
                  <a:srgbClr val="D4AF5E"/>
                </a:solidFill>
                <a:latin typeface="Jost"/>
              </a:rPr>
              <a:t>VERSE NUMBER - PENDING VERIFICATION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36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FOLIO 36 / 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11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0" i="0">
                <a:solidFill>
                  <a:srgbClr val="F4EFE3"/>
                </a:solidFill>
                <a:latin typeface="Playfair Display"/>
              </a:rPr>
              <a:t>The Recurring Question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1">
                <a:solidFill>
                  <a:srgbClr val="D4AF5E"/>
                </a:solidFill>
                <a:latin typeface="Georgia"/>
              </a:rPr>
              <a:t>"Then which of the favours of your Lord will ye deny?"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20440"/>
            <a:ext cx="37947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3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فَبِأَىِّ ءَالَآءِ رَبِّكُمَا تُكَذِّبَانِ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10">
                <a:solidFill>
                  <a:srgbClr val="9AA79B"/>
                </a:solidFill>
                <a:latin typeface="Jost"/>
              </a:rPr>
              <a:t>THE RECURRENT REFRAIN OF THE SURAH</a:t>
            </a:r>
          </a:p>
          <a:p>
            <a:pPr algn="l"/>
            <a:r>
              <a:rPr sz="750" b="0" i="0" spc="110">
                <a:solidFill>
                  <a:srgbClr val="D4AF5E"/>
                </a:solidFill>
                <a:latin typeface="Jost"/>
              </a:rPr>
              <a:t>VERSE NUMBER - PENDING VERIFICATION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37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FOLIO 37 / 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11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0" i="0">
                <a:solidFill>
                  <a:srgbClr val="F4EFE3"/>
                </a:solidFill>
                <a:latin typeface="Playfair Display"/>
              </a:rPr>
              <a:t>The Marks of the Guilty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1">
                <a:solidFill>
                  <a:srgbClr val="D4AF5E"/>
                </a:solidFill>
                <a:latin typeface="Georgia"/>
              </a:rPr>
              <a:t>"The sinners will be known by their marks, and they will be seized by their forelocks and their feet."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20440"/>
            <a:ext cx="37947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15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يُعْرَفُ ٱلْمُجْرِمُونَ بِسِيمَٰهُمْ فَيُؤْخَذُ بِٱلنَّوَٰصِى وَٱلْأَقْدَامِ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10">
                <a:solidFill>
                  <a:srgbClr val="9AA79B"/>
                </a:solidFill>
                <a:latin typeface="Jost"/>
              </a:rPr>
              <a:t>SURAH AR-RAHMAN (55)  ·  MEDINAN  ·  JUZ 27  ·  PAGES 531-534</a:t>
            </a:r>
          </a:p>
          <a:p>
            <a:pPr algn="l"/>
            <a:r>
              <a:rPr sz="750" b="0" i="0" spc="110">
                <a:solidFill>
                  <a:srgbClr val="D4AF5E"/>
                </a:solidFill>
                <a:latin typeface="Jost"/>
              </a:rPr>
              <a:t>VERSE 55:41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3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38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FOLIO 38 / 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11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0" i="0">
                <a:solidFill>
                  <a:srgbClr val="F4EFE3"/>
                </a:solidFill>
                <a:latin typeface="Playfair Display"/>
              </a:rPr>
              <a:t>The Recurring Question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1">
                <a:solidFill>
                  <a:srgbClr val="D4AF5E"/>
                </a:solidFill>
                <a:latin typeface="Georgia"/>
              </a:rPr>
              <a:t>"Then which of the favours of your Lord will ye deny?"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20440"/>
            <a:ext cx="37947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3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فَبِأَىِّ ءَالَآءِ رَبِّكُمَا تُكَذِّبَانِ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10">
                <a:solidFill>
                  <a:srgbClr val="9AA79B"/>
                </a:solidFill>
                <a:latin typeface="Jost"/>
              </a:rPr>
              <a:t>THE RECURRENT REFRAIN OF THE SURAH</a:t>
            </a:r>
          </a:p>
          <a:p>
            <a:pPr algn="l"/>
            <a:r>
              <a:rPr sz="750" b="0" i="0" spc="110">
                <a:solidFill>
                  <a:srgbClr val="D4AF5E"/>
                </a:solidFill>
                <a:latin typeface="Jost"/>
              </a:rPr>
              <a:t>VERSE NUMBER - PENDING VERIFICATION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39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FOLIO 39 / 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11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0" i="0">
                <a:solidFill>
                  <a:srgbClr val="F4EFE3"/>
                </a:solidFill>
                <a:latin typeface="Playfair Display"/>
              </a:rPr>
              <a:t>The Recurring Question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1">
                <a:solidFill>
                  <a:srgbClr val="D4AF5E"/>
                </a:solidFill>
                <a:latin typeface="Georgia"/>
              </a:rPr>
              <a:t>"Then which of the favours of your Lord will ye deny?"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20440"/>
            <a:ext cx="37947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3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فَبِأَىِّ ءَالَآءِ رَبِّكُمَا تُكَذِّبَانِ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10">
                <a:solidFill>
                  <a:srgbClr val="9AA79B"/>
                </a:solidFill>
                <a:latin typeface="Jost"/>
              </a:rPr>
              <a:t>THE RECURRENT REFRAIN OF THE SURAH</a:t>
            </a:r>
          </a:p>
          <a:p>
            <a:pPr algn="l"/>
            <a:r>
              <a:rPr sz="750" b="0" i="0" spc="110">
                <a:solidFill>
                  <a:srgbClr val="D4AF5E"/>
                </a:solidFill>
                <a:latin typeface="Jost"/>
              </a:rPr>
              <a:t>VERSE NUMBER - PENDING VERIFICATION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40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FOLIO 40 / 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11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0" i="0">
                <a:solidFill>
                  <a:srgbClr val="F4EFE3"/>
                </a:solidFill>
                <a:latin typeface="Playfair Display"/>
              </a:rPr>
              <a:t>This Is Hell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1">
                <a:solidFill>
                  <a:srgbClr val="D4AF5E"/>
                </a:solidFill>
                <a:latin typeface="Georgia"/>
              </a:rPr>
              <a:t>"This is the Hell which the Sinners deny."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20440"/>
            <a:ext cx="37947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3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هَٰذِهِۦ جَهَنَّمُ ٱلَّتِى يُكَذِّبُ بِهَا ٱلْمُجْرِمُونَ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10">
                <a:solidFill>
                  <a:srgbClr val="9AA79B"/>
                </a:solidFill>
                <a:latin typeface="Jost"/>
              </a:rPr>
              <a:t>SURAH AR-RAHMAN (55)  ·  MEDINAN  ·  JUZ 27  ·  PAGES 531-534</a:t>
            </a:r>
          </a:p>
          <a:p>
            <a:pPr algn="l"/>
            <a:r>
              <a:rPr sz="750" b="0" i="0" spc="110">
                <a:solidFill>
                  <a:srgbClr val="D4AF5E"/>
                </a:solidFill>
                <a:latin typeface="Jost"/>
              </a:rPr>
              <a:t>VERSE 55:43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4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41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FOLIO 41 / 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11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0" i="0">
                <a:solidFill>
                  <a:srgbClr val="F4EFE3"/>
                </a:solidFill>
                <a:latin typeface="Playfair Display"/>
              </a:rPr>
              <a:t>Between It and the Boiling Water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1">
                <a:solidFill>
                  <a:srgbClr val="D4AF5E"/>
                </a:solidFill>
                <a:latin typeface="Georgia"/>
              </a:rPr>
              <a:t>"In its midst and in the midst of boiling hot water will they wander round!"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20440"/>
            <a:ext cx="37947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3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يَطُوفُونَ بَيْنَهَا وَبَيْنَ حَمِيمٍ ءَانٍۢ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10">
                <a:solidFill>
                  <a:srgbClr val="9AA79B"/>
                </a:solidFill>
                <a:latin typeface="Jost"/>
              </a:rPr>
              <a:t>SURAH AR-RAHMAN (55)  ·  MEDINAN  ·  JUZ 27  ·  PAGES 531-534</a:t>
            </a:r>
          </a:p>
          <a:p>
            <a:pPr algn="l"/>
            <a:r>
              <a:rPr sz="750" b="0" i="0" spc="110">
                <a:solidFill>
                  <a:srgbClr val="D4AF5E"/>
                </a:solidFill>
                <a:latin typeface="Jost"/>
              </a:rPr>
              <a:t>VERSE 55:44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4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42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FOLIO 42 / 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11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0" i="0">
                <a:solidFill>
                  <a:srgbClr val="F4EFE3"/>
                </a:solidFill>
                <a:latin typeface="Playfair Display"/>
              </a:rPr>
              <a:t>The Recurring Question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1">
                <a:solidFill>
                  <a:srgbClr val="D4AF5E"/>
                </a:solidFill>
                <a:latin typeface="Georgia"/>
              </a:rPr>
              <a:t>"Then which of the favours of your Lord will ye deny?"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20440"/>
            <a:ext cx="37947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3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فَبِأَىِّ ءَالَآءِ رَبِّكُمَا تُكَذِّبَانِ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10">
                <a:solidFill>
                  <a:srgbClr val="9AA79B"/>
                </a:solidFill>
                <a:latin typeface="Jost"/>
              </a:rPr>
              <a:t>THE RECURRENT REFRAIN OF THE SURAH</a:t>
            </a:r>
          </a:p>
          <a:p>
            <a:pPr algn="l"/>
            <a:r>
              <a:rPr sz="750" b="0" i="0" spc="110">
                <a:solidFill>
                  <a:srgbClr val="D4AF5E"/>
                </a:solidFill>
                <a:latin typeface="Jost"/>
              </a:rPr>
              <a:t>VERSE NUMBER - PENDING VERIFICATION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4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43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FOLIO 43 / 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11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0" i="0">
                <a:solidFill>
                  <a:srgbClr val="F4EFE3"/>
                </a:solidFill>
                <a:latin typeface="Playfair Display"/>
              </a:rPr>
              <a:t>For Such as Fear, Two Gardens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1">
                <a:solidFill>
                  <a:srgbClr val="D4AF5E"/>
                </a:solidFill>
                <a:latin typeface="Georgia"/>
              </a:rPr>
              <a:t>"But for such as fear the time when they will stand before the Judgment Seat of their Lord, theirs will be two Gardens."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20440"/>
            <a:ext cx="37947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3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وَلِمَن خَافَ مَقَامَ رَبِّهِۦ جَنَّتَانِ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10">
                <a:solidFill>
                  <a:srgbClr val="9AA79B"/>
                </a:solidFill>
                <a:latin typeface="Jost"/>
              </a:rPr>
              <a:t>SURAH AR-RAHMAN (55)  ·  MEDINAN  ·  JUZ 27  ·  PAGES 531-534</a:t>
            </a:r>
          </a:p>
          <a:p>
            <a:pPr algn="l"/>
            <a:r>
              <a:rPr sz="750" b="0" i="0" spc="110">
                <a:solidFill>
                  <a:srgbClr val="D4AF5E"/>
                </a:solidFill>
                <a:latin typeface="Jost"/>
              </a:rPr>
              <a:t>VERSE 55:46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44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FOLIO 44 / 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11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0" i="0">
                <a:solidFill>
                  <a:srgbClr val="F4EFE3"/>
                </a:solidFill>
                <a:latin typeface="Playfair Display"/>
              </a:rPr>
              <a:t>The Recurring Question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1">
                <a:solidFill>
                  <a:srgbClr val="D4AF5E"/>
                </a:solidFill>
                <a:latin typeface="Georgia"/>
              </a:rPr>
              <a:t>"Then which of the favours of your Lord will ye deny?"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20440"/>
            <a:ext cx="37947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3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فَبِأَىِّ ءَالَآءِ رَبِّكُمَا تُكَذِّبَانِ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10">
                <a:solidFill>
                  <a:srgbClr val="9AA79B"/>
                </a:solidFill>
                <a:latin typeface="Jost"/>
              </a:rPr>
              <a:t>THE RECURRENT REFRAIN OF THE SURAH</a:t>
            </a:r>
          </a:p>
          <a:p>
            <a:pPr algn="l"/>
            <a:r>
              <a:rPr sz="750" b="0" i="0" spc="110">
                <a:solidFill>
                  <a:srgbClr val="D4AF5E"/>
                </a:solidFill>
                <a:latin typeface="Jost"/>
              </a:rPr>
              <a:t>VERSE NUMBER - PENDING VERIFICATION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4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FOLIO 45 / 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11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0" i="0">
                <a:solidFill>
                  <a:srgbClr val="F4EFE3"/>
                </a:solidFill>
                <a:latin typeface="Playfair Display"/>
              </a:rPr>
              <a:t>Spreading Branches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1">
                <a:solidFill>
                  <a:srgbClr val="D4AF5E"/>
                </a:solidFill>
                <a:latin typeface="Georgia"/>
              </a:rPr>
              <a:t>"Containing all kinds (of trees and delights)."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20440"/>
            <a:ext cx="37947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5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ذَوَاتَآ أَفْنَانٍۢ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10">
                <a:solidFill>
                  <a:srgbClr val="9AA79B"/>
                </a:solidFill>
                <a:latin typeface="Jost"/>
              </a:rPr>
              <a:t>SURAH AR-RAHMAN (55)  ·  MEDINAN  ·  JUZ 27  ·  PAGES 531-534</a:t>
            </a:r>
          </a:p>
          <a:p>
            <a:pPr algn="l"/>
            <a:r>
              <a:rPr sz="750" b="0" i="0" spc="110">
                <a:solidFill>
                  <a:srgbClr val="D4AF5E"/>
                </a:solidFill>
                <a:latin typeface="Jost"/>
              </a:rPr>
              <a:t>VERSE 55:48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4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46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FOLIO 46 / 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11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0" i="0">
                <a:solidFill>
                  <a:srgbClr val="F4EFE3"/>
                </a:solidFill>
                <a:latin typeface="Playfair Display"/>
              </a:rPr>
              <a:t>Frame Reserved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1">
                <a:solidFill>
                  <a:srgbClr val="D4AF5E"/>
                </a:solidFill>
                <a:latin typeface="Georgia"/>
              </a:rPr>
              <a:t>"Photography pending - frame reserved."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749039"/>
            <a:ext cx="3794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1100" b="0" i="1">
                <a:solidFill>
                  <a:srgbClr val="9AA79B"/>
                </a:solidFill>
                <a:latin typeface="Georgia"/>
              </a:rPr>
              <a:t>Arabic text to be entered from the physical frame.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10">
                <a:solidFill>
                  <a:srgbClr val="9AA79B"/>
                </a:solidFill>
                <a:latin typeface="Jost"/>
              </a:rPr>
              <a:t>FRAME RESERVED  ·  PHOTOGRAPHY PENDING</a:t>
            </a:r>
          </a:p>
          <a:p>
            <a:pPr algn="l"/>
            <a:r>
              <a:rPr sz="750" b="0" i="0" spc="110">
                <a:solidFill>
                  <a:srgbClr val="D4AF5E"/>
                </a:solidFill>
                <a:latin typeface="Jost"/>
              </a:rPr>
              <a:t>VERSE TO BE ENTERED FROM FRAME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4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47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FOLIO 47 / 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11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0" i="0">
                <a:solidFill>
                  <a:srgbClr val="F4EFE3"/>
                </a:solidFill>
                <a:latin typeface="Playfair Display"/>
              </a:rPr>
              <a:t>Two Springs Flowing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1">
                <a:solidFill>
                  <a:srgbClr val="D4AF5E"/>
                </a:solidFill>
                <a:latin typeface="Georgia"/>
              </a:rPr>
              <a:t>"In them (each) will be two Springs flowing (free)."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20440"/>
            <a:ext cx="37947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5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فِيهِمَا عَيْنَانِ تَجْرِيَانِ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10">
                <a:solidFill>
                  <a:srgbClr val="9AA79B"/>
                </a:solidFill>
                <a:latin typeface="Jost"/>
              </a:rPr>
              <a:t>SURAH AR-RAHMAN (55)  ·  MEDINAN  ·  JUZ 27  ·  PAGES 531-534</a:t>
            </a:r>
          </a:p>
          <a:p>
            <a:pPr algn="l"/>
            <a:r>
              <a:rPr sz="750" b="0" i="0" spc="110">
                <a:solidFill>
                  <a:srgbClr val="D4AF5E"/>
                </a:solidFill>
                <a:latin typeface="Jost"/>
              </a:rPr>
              <a:t>VERSE 55:50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4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48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FOLIO 48 / 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11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0" i="0">
                <a:solidFill>
                  <a:srgbClr val="F4EFE3"/>
                </a:solidFill>
                <a:latin typeface="Playfair Display"/>
              </a:rPr>
              <a:t>The Recurring Question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1">
                <a:solidFill>
                  <a:srgbClr val="D4AF5E"/>
                </a:solidFill>
                <a:latin typeface="Georgia"/>
              </a:rPr>
              <a:t>"Then which of the favours of your Lord will ye deny?"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20440"/>
            <a:ext cx="37947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3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فَبِأَىِّ ءَالَآءِ رَبِّكُمَا تُكَذِّبَانِ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10">
                <a:solidFill>
                  <a:srgbClr val="9AA79B"/>
                </a:solidFill>
                <a:latin typeface="Jost"/>
              </a:rPr>
              <a:t>THE RECURRENT REFRAIN OF THE SURAH</a:t>
            </a:r>
          </a:p>
          <a:p>
            <a:pPr algn="l"/>
            <a:r>
              <a:rPr sz="750" b="0" i="0" spc="110">
                <a:solidFill>
                  <a:srgbClr val="D4AF5E"/>
                </a:solidFill>
                <a:latin typeface="Jost"/>
              </a:rPr>
              <a:t>VERSE NUMBER - PENDING VERIFICATION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49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FOLIO 49 / 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11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0" i="0">
                <a:solidFill>
                  <a:srgbClr val="F4EFE3"/>
                </a:solidFill>
                <a:latin typeface="Playfair Display"/>
              </a:rPr>
              <a:t>Fruits in Pairs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1">
                <a:solidFill>
                  <a:srgbClr val="D4AF5E"/>
                </a:solidFill>
                <a:latin typeface="Georgia"/>
              </a:rPr>
              <a:t>"In them (each) will be Fruits of every kind, two and two."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20440"/>
            <a:ext cx="37947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5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فِيهِمَا مِن كُلِّ فَٰكِهَةٍۭ زَوْجَانِ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10">
                <a:solidFill>
                  <a:srgbClr val="9AA79B"/>
                </a:solidFill>
                <a:latin typeface="Jost"/>
              </a:rPr>
              <a:t>SURAH AR-RAHMAN (55)  ·  MEDINAN  ·  JUZ 27  ·  PAGES 531-534</a:t>
            </a:r>
          </a:p>
          <a:p>
            <a:pPr algn="l"/>
            <a:r>
              <a:rPr sz="750" b="0" i="0" spc="110">
                <a:solidFill>
                  <a:srgbClr val="D4AF5E"/>
                </a:solidFill>
                <a:latin typeface="Jost"/>
              </a:rPr>
              <a:t>VERSE 55:52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4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50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FOLIO 50 / 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11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0" i="0">
                <a:solidFill>
                  <a:srgbClr val="F4EFE3"/>
                </a:solidFill>
                <a:latin typeface="Playfair Display"/>
              </a:rPr>
              <a:t>The Recurring Question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1">
                <a:solidFill>
                  <a:srgbClr val="D4AF5E"/>
                </a:solidFill>
                <a:latin typeface="Georgia"/>
              </a:rPr>
              <a:t>"Then which of the favours of your Lord will ye deny?"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20440"/>
            <a:ext cx="37947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3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فَبِأَىِّ ءَالَآءِ رَبِّكُمَا تُكَذِّبَانِ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10">
                <a:solidFill>
                  <a:srgbClr val="9AA79B"/>
                </a:solidFill>
                <a:latin typeface="Jost"/>
              </a:rPr>
              <a:t>THE RECURRENT REFRAIN OF THE SURAH</a:t>
            </a:r>
          </a:p>
          <a:p>
            <a:pPr algn="l"/>
            <a:r>
              <a:rPr sz="750" b="0" i="0" spc="110">
                <a:solidFill>
                  <a:srgbClr val="D4AF5E"/>
                </a:solidFill>
                <a:latin typeface="Jost"/>
              </a:rPr>
              <a:t>VERSE NUMBER - VERIFIED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51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FOLIO 51 / 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11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0" i="0">
                <a:solidFill>
                  <a:srgbClr val="F4EFE3"/>
                </a:solidFill>
                <a:latin typeface="Playfair Display"/>
              </a:rPr>
              <a:t>Reclining on Silk Brocade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1">
                <a:solidFill>
                  <a:srgbClr val="D4AF5E"/>
                </a:solidFill>
                <a:latin typeface="Georgia"/>
              </a:rPr>
              <a:t>"They will recline on Carpets, whose inner linings will be of rich brocade; the Fruit of the Gardens will be near and easy of reach."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20440"/>
            <a:ext cx="37947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0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مُتَّكِـِٔينَ عَلَىٰ فُرُشٍۭ بَطَآئِنُهَا مِنْ إِسْتَبْرَقٍۢ ۚ وَجَنَى ٱلْجَنَّتَيْنِ دَانٍۢ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10">
                <a:solidFill>
                  <a:srgbClr val="9AA79B"/>
                </a:solidFill>
                <a:latin typeface="Jost"/>
              </a:rPr>
              <a:t>SURAH AR-RAHMAN (55)  ·  MEDINAN  ·  JUZ 27  ·  PAGES 531-534</a:t>
            </a:r>
          </a:p>
          <a:p>
            <a:pPr algn="l"/>
            <a:r>
              <a:rPr sz="750" b="0" i="0" spc="110">
                <a:solidFill>
                  <a:srgbClr val="D4AF5E"/>
                </a:solidFill>
                <a:latin typeface="Jost"/>
              </a:rPr>
              <a:t>VERSE 55:54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5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52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FOLIO 52 / 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11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0" i="0">
                <a:solidFill>
                  <a:srgbClr val="F4EFE3"/>
                </a:solidFill>
                <a:latin typeface="Playfair Display"/>
              </a:rPr>
              <a:t>The Recurring Question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1">
                <a:solidFill>
                  <a:srgbClr val="D4AF5E"/>
                </a:solidFill>
                <a:latin typeface="Georgia"/>
              </a:rPr>
              <a:t>"Then which of the favours of your Lord will ye deny?"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20440"/>
            <a:ext cx="37947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3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فَبِأَىِّ ءَالَآءِ رَبِّكُمَا تُكَذِّبَانِ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10">
                <a:solidFill>
                  <a:srgbClr val="9AA79B"/>
                </a:solidFill>
                <a:latin typeface="Jost"/>
              </a:rPr>
              <a:t>THE RECURRENT REFRAIN OF THE SURAH</a:t>
            </a:r>
          </a:p>
          <a:p>
            <a:pPr algn="l"/>
            <a:r>
              <a:rPr sz="750" b="0" i="0" spc="110">
                <a:solidFill>
                  <a:srgbClr val="D4AF5E"/>
                </a:solidFill>
                <a:latin typeface="Jost"/>
              </a:rPr>
              <a:t>VERSE NUMBER - VERIFIED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5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53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FOLIO 53 / 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11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0" i="0">
                <a:solidFill>
                  <a:srgbClr val="F4EFE3"/>
                </a:solidFill>
                <a:latin typeface="Playfair Display"/>
              </a:rPr>
              <a:t>As Sapphire and Coral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1">
                <a:solidFill>
                  <a:srgbClr val="D4AF5E"/>
                </a:solidFill>
                <a:latin typeface="Georgia"/>
              </a:rPr>
              <a:t>"Like unto Rubies and coral."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20440"/>
            <a:ext cx="37947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5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كَأَنَّهُنَّ ٱلْيَاقُوتُ وَٱلْمَرْجَانُ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10">
                <a:solidFill>
                  <a:srgbClr val="9AA79B"/>
                </a:solidFill>
                <a:latin typeface="Jost"/>
              </a:rPr>
              <a:t>SURAH AR-RAHMAN (55)  ·  MEDINAN  ·  JUZ 27  ·  PAGES 531-534</a:t>
            </a:r>
          </a:p>
          <a:p>
            <a:pPr algn="l"/>
            <a:r>
              <a:rPr sz="750" b="0" i="0" spc="110">
                <a:solidFill>
                  <a:srgbClr val="D4AF5E"/>
                </a:solidFill>
                <a:latin typeface="Jost"/>
              </a:rPr>
              <a:t>VERSE 55:58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5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54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FOLIO 54 / 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11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0" i="0">
                <a:solidFill>
                  <a:srgbClr val="F4EFE3"/>
                </a:solidFill>
                <a:latin typeface="Playfair Display"/>
              </a:rPr>
              <a:t>The Recurring Question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1">
                <a:solidFill>
                  <a:srgbClr val="D4AF5E"/>
                </a:solidFill>
                <a:latin typeface="Georgia"/>
              </a:rPr>
              <a:t>"Then which of the favours of your Lord will ye deny?"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20440"/>
            <a:ext cx="37947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3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فَبِأَىِّ ءَالَآءِ رَبِّكُمَا تُكَذِّبَانِ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10">
                <a:solidFill>
                  <a:srgbClr val="9AA79B"/>
                </a:solidFill>
                <a:latin typeface="Jost"/>
              </a:rPr>
              <a:t>THE RECURRENT REFRAIN OF THE SURAH</a:t>
            </a:r>
          </a:p>
          <a:p>
            <a:pPr algn="l"/>
            <a:r>
              <a:rPr sz="750" b="0" i="0" spc="110">
                <a:solidFill>
                  <a:srgbClr val="D4AF5E"/>
                </a:solidFill>
                <a:latin typeface="Jost"/>
              </a:rPr>
              <a:t>VERSE NUMBER - VERIFIED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5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55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FOLIO 55 / 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11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0" i="0">
                <a:solidFill>
                  <a:srgbClr val="F4EFE3"/>
                </a:solidFill>
                <a:latin typeface="Playfair Display"/>
              </a:rPr>
              <a:t>The Reward of Goodness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1">
                <a:solidFill>
                  <a:srgbClr val="D4AF5E"/>
                </a:solidFill>
                <a:latin typeface="Georgia"/>
              </a:rPr>
              <a:t>"Is there any Reward for Good - other than Good?"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20440"/>
            <a:ext cx="37947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3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هَلْ جَزَآءُ ٱلْإِحْسَٰنِ إِلَّا ٱلْإِحْسَٰنُ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10">
                <a:solidFill>
                  <a:srgbClr val="9AA79B"/>
                </a:solidFill>
                <a:latin typeface="Jost"/>
              </a:rPr>
              <a:t>SURAH AR-RAHMAN (55)  ·  MEDINAN  ·  JUZ 27  ·  PAGES 531-534</a:t>
            </a:r>
          </a:p>
          <a:p>
            <a:pPr algn="l"/>
            <a:r>
              <a:rPr sz="750" b="0" i="0" spc="110">
                <a:solidFill>
                  <a:srgbClr val="D4AF5E"/>
                </a:solidFill>
                <a:latin typeface="Jost"/>
              </a:rPr>
              <a:t>VERSE 55:60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5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56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FOLIO 56 / 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11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0" i="0">
                <a:solidFill>
                  <a:srgbClr val="F4EFE3"/>
                </a:solidFill>
                <a:latin typeface="Playfair Display"/>
              </a:rPr>
              <a:t>The Recurring Question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1">
                <a:solidFill>
                  <a:srgbClr val="D4AF5E"/>
                </a:solidFill>
                <a:latin typeface="Georgia"/>
              </a:rPr>
              <a:t>"Then which of the favours of your Lord will ye deny?"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20440"/>
            <a:ext cx="37947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3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فَبِأَىِّ ءَالَآءِ رَبِّكُمَا تُكَذِّبَانِ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10">
                <a:solidFill>
                  <a:srgbClr val="9AA79B"/>
                </a:solidFill>
                <a:latin typeface="Jost"/>
              </a:rPr>
              <a:t>THE RECURRENT REFRAIN OF THE SURAH</a:t>
            </a:r>
          </a:p>
          <a:p>
            <a:pPr algn="l"/>
            <a:r>
              <a:rPr sz="750" b="0" i="0" spc="110">
                <a:solidFill>
                  <a:srgbClr val="D4AF5E"/>
                </a:solidFill>
                <a:latin typeface="Jost"/>
              </a:rPr>
              <a:t>VERSE NUMBER - VERIFIED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5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FOLIO 57 / 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11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0" i="0">
                <a:solidFill>
                  <a:srgbClr val="F4EFE3"/>
                </a:solidFill>
                <a:latin typeface="Playfair Display"/>
              </a:rPr>
              <a:t>Two Gardens Beside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1">
                <a:solidFill>
                  <a:srgbClr val="D4AF5E"/>
                </a:solidFill>
                <a:latin typeface="Georgia"/>
              </a:rPr>
              <a:t>"But for such as fear the time when they will stand before the Judgment Seat of their Lord, theirs will be two Gardens."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20440"/>
            <a:ext cx="37947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5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وَمِن دُونِهِمَا جَنَّتَانِ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10">
                <a:solidFill>
                  <a:srgbClr val="9AA79B"/>
                </a:solidFill>
                <a:latin typeface="Jost"/>
              </a:rPr>
              <a:t>SURAH AR-RAHMAN (55)  ·  MEDINAN  ·  JUZ 27  ·  PAGES 531-534</a:t>
            </a:r>
          </a:p>
          <a:p>
            <a:pPr algn="l"/>
            <a:r>
              <a:rPr sz="750" b="0" i="0" spc="110">
                <a:solidFill>
                  <a:srgbClr val="D4AF5E"/>
                </a:solidFill>
                <a:latin typeface="Jost"/>
              </a:rPr>
              <a:t>VERSE 55:62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5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58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FOLIO 58 / 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11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0" i="0">
                <a:solidFill>
                  <a:srgbClr val="F4EFE3"/>
                </a:solidFill>
                <a:latin typeface="Playfair Display"/>
              </a:rPr>
              <a:t>Dark Green with Foliage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1">
                <a:solidFill>
                  <a:srgbClr val="D4AF5E"/>
                </a:solidFill>
                <a:latin typeface="Georgia"/>
              </a:rPr>
              <a:t>"Dark green in colour (from vegetation)."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20440"/>
            <a:ext cx="37947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5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مُدْهَآمَّتَانِ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10">
                <a:solidFill>
                  <a:srgbClr val="9AA79B"/>
                </a:solidFill>
                <a:latin typeface="Jost"/>
              </a:rPr>
              <a:t>SURAH AR-RAHMAN (55)  ·  MEDINAN  ·  JUZ 27  ·  PAGES 531-534</a:t>
            </a:r>
          </a:p>
          <a:p>
            <a:pPr algn="l"/>
            <a:r>
              <a:rPr sz="750" b="0" i="0" spc="110">
                <a:solidFill>
                  <a:srgbClr val="D4AF5E"/>
                </a:solidFill>
                <a:latin typeface="Jost"/>
              </a:rPr>
              <a:t>VERSE 55:64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5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59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FOLIO 59 / 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11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0" i="0">
                <a:solidFill>
                  <a:srgbClr val="F4EFE3"/>
                </a:solidFill>
                <a:latin typeface="Playfair Display"/>
              </a:rPr>
              <a:t>The Recurring Question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1">
                <a:solidFill>
                  <a:srgbClr val="D4AF5E"/>
                </a:solidFill>
                <a:latin typeface="Georgia"/>
              </a:rPr>
              <a:t>"Then which of the favours of your Lord will ye deny?"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20440"/>
            <a:ext cx="37947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3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فَبِأَىِّ ءَالَآءِ رَبِّكُمَا تُكَذِّبَانِ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10">
                <a:solidFill>
                  <a:srgbClr val="9AA79B"/>
                </a:solidFill>
                <a:latin typeface="Jost"/>
              </a:rPr>
              <a:t>THE RECURRENT REFRAIN OF THE SURAH</a:t>
            </a:r>
          </a:p>
          <a:p>
            <a:pPr algn="l"/>
            <a:r>
              <a:rPr sz="750" b="0" i="0" spc="110">
                <a:solidFill>
                  <a:srgbClr val="D4AF5E"/>
                </a:solidFill>
                <a:latin typeface="Jost"/>
              </a:rPr>
              <a:t>VERSE NUMBER - VERIFIED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5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FOLIO 60 / 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11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0" i="0">
                <a:solidFill>
                  <a:srgbClr val="F4EFE3"/>
                </a:solidFill>
                <a:latin typeface="Playfair Display"/>
              </a:rPr>
              <a:t>Two Springs of Fresh Water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1">
                <a:solidFill>
                  <a:srgbClr val="D4AF5E"/>
                </a:solidFill>
                <a:latin typeface="Georgia"/>
              </a:rPr>
              <a:t>"Therein (each) will be two Springs, (both) of unfailing waters."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20440"/>
            <a:ext cx="37947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5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فِيهِمَا عَيْنَانِ نَضَّاخَتَانِ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10">
                <a:solidFill>
                  <a:srgbClr val="9AA79B"/>
                </a:solidFill>
                <a:latin typeface="Jost"/>
              </a:rPr>
              <a:t>SURAH AR-RAHMAN (55)  ·  MEDINAN  ·  JUZ 27  ·  PAGES 531-534</a:t>
            </a:r>
          </a:p>
          <a:p>
            <a:pPr algn="l"/>
            <a:r>
              <a:rPr sz="750" b="0" i="0" spc="110">
                <a:solidFill>
                  <a:srgbClr val="D4AF5E"/>
                </a:solidFill>
                <a:latin typeface="Jost"/>
              </a:rPr>
              <a:t>VERSE 55:66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6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61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FOLIO 61 / 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11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0" i="0">
                <a:solidFill>
                  <a:srgbClr val="F4EFE3"/>
                </a:solidFill>
                <a:latin typeface="Playfair Display"/>
              </a:rPr>
              <a:t>The Recurring Question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1">
                <a:solidFill>
                  <a:srgbClr val="D4AF5E"/>
                </a:solidFill>
                <a:latin typeface="Georgia"/>
              </a:rPr>
              <a:t>"Then which of the favours of your Lord will ye deny?"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20440"/>
            <a:ext cx="37947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3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فَبِأَىِّ ءَالَآءِ رَبِّكُمَا تُكَذِّبَانِ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10">
                <a:solidFill>
                  <a:srgbClr val="9AA79B"/>
                </a:solidFill>
                <a:latin typeface="Jost"/>
              </a:rPr>
              <a:t>THE RECURRENT REFRAIN OF THE SURAH</a:t>
            </a:r>
          </a:p>
          <a:p>
            <a:pPr algn="l"/>
            <a:r>
              <a:rPr sz="750" b="0" i="0" spc="110">
                <a:solidFill>
                  <a:srgbClr val="D4AF5E"/>
                </a:solidFill>
                <a:latin typeface="Jost"/>
              </a:rPr>
              <a:t>VERSE NUMBER - VERIFIED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6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62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FOLIO 62 / 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11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0" i="0">
                <a:solidFill>
                  <a:srgbClr val="F4EFE3"/>
                </a:solidFill>
                <a:latin typeface="Playfair Display"/>
              </a:rPr>
              <a:t>Whom None Has Touched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1">
                <a:solidFill>
                  <a:srgbClr val="D4AF5E"/>
                </a:solidFill>
                <a:latin typeface="Georgia"/>
              </a:rPr>
              <a:t>"Whom no man or Jinn before them has touched."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20440"/>
            <a:ext cx="37947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3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لَمْ يَطْمِثْهُنَّ إِنسٌۭ قَبْلَهُمْ وَلَا جَآنٌّۭ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10">
                <a:solidFill>
                  <a:srgbClr val="9AA79B"/>
                </a:solidFill>
                <a:latin typeface="Jost"/>
              </a:rPr>
              <a:t>SURAH AR-RAHMAN (55)  ·  MEDINAN  ·  JUZ 27  ·  PAGES 531-534</a:t>
            </a:r>
          </a:p>
          <a:p>
            <a:pPr algn="l"/>
            <a:r>
              <a:rPr sz="750" b="0" i="0" spc="110">
                <a:solidFill>
                  <a:srgbClr val="D4AF5E"/>
                </a:solidFill>
                <a:latin typeface="Jost"/>
              </a:rPr>
              <a:t>VERSE 55:74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6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63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FOLIO 63 / 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11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0" i="0">
                <a:solidFill>
                  <a:srgbClr val="F4EFE3"/>
                </a:solidFill>
                <a:latin typeface="Playfair Display"/>
              </a:rPr>
              <a:t>The Recurring Question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1">
                <a:solidFill>
                  <a:srgbClr val="D4AF5E"/>
                </a:solidFill>
                <a:latin typeface="Georgia"/>
              </a:rPr>
              <a:t>"Then which of the favours of your Lord will ye deny?"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20440"/>
            <a:ext cx="37947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3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فَبِأَىِّ ءَالَآءِ رَبِّكُمَا تُكَذِّبَانِ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10">
                <a:solidFill>
                  <a:srgbClr val="9AA79B"/>
                </a:solidFill>
                <a:latin typeface="Jost"/>
              </a:rPr>
              <a:t>THE RECURRENT REFRAIN OF THE SURAH</a:t>
            </a:r>
          </a:p>
          <a:p>
            <a:pPr algn="l"/>
            <a:r>
              <a:rPr sz="750" b="0" i="0" spc="110">
                <a:solidFill>
                  <a:srgbClr val="D4AF5E"/>
                </a:solidFill>
                <a:latin typeface="Jost"/>
              </a:rPr>
              <a:t>VERSE NUMBER - VERIFIED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6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64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FOLIO 64 / 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11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0" i="0">
                <a:solidFill>
                  <a:srgbClr val="F4EFE3"/>
                </a:solidFill>
                <a:latin typeface="Playfair Display"/>
              </a:rPr>
              <a:t>Green Cushions, Fair Carpets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1">
                <a:solidFill>
                  <a:srgbClr val="D4AF5E"/>
                </a:solidFill>
                <a:latin typeface="Georgia"/>
              </a:rPr>
              <a:t>"Reclining on green Cushions and rich Carpets of Variety."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20440"/>
            <a:ext cx="37947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3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مُتَّكِـِٔينَ عَلَىٰ رَفْرَفٍ خُضْرٍۢ وَعَبْقَرِىٍّ حِسَانٍۢ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10">
                <a:solidFill>
                  <a:srgbClr val="9AA79B"/>
                </a:solidFill>
                <a:latin typeface="Jost"/>
              </a:rPr>
              <a:t>SURAH AR-RAHMAN (55)  ·  MEDINAN  ·  JUZ 27  ·  PAGES 531-534</a:t>
            </a:r>
          </a:p>
          <a:p>
            <a:pPr algn="l"/>
            <a:r>
              <a:rPr sz="750" b="0" i="0" spc="110">
                <a:solidFill>
                  <a:srgbClr val="D4AF5E"/>
                </a:solidFill>
                <a:latin typeface="Jost"/>
              </a:rPr>
              <a:t>VERSE 55:76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6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65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FOLIO 65 / 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11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0" i="0">
                <a:solidFill>
                  <a:srgbClr val="F4EFE3"/>
                </a:solidFill>
                <a:latin typeface="Playfair Display"/>
              </a:rPr>
              <a:t>Blessed Be the Name of Thy Lord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1">
                <a:solidFill>
                  <a:srgbClr val="D4AF5E"/>
                </a:solidFill>
                <a:latin typeface="Georgia"/>
              </a:rPr>
              <a:t>"Blessed be the name of thy Lord, full of Majesty, Bounty and honour."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20440"/>
            <a:ext cx="37947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3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تَبَٰرَكَ ٱسْمُ رَبِّكَ ذِى ٱلْجَلَٰلِ وَٱلْإِكْرَامِ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10">
                <a:solidFill>
                  <a:srgbClr val="9AA79B"/>
                </a:solidFill>
                <a:latin typeface="Jost"/>
              </a:rPr>
              <a:t>SURAH AR-RAHMAN (55)  ·  MEDINAN  ·  JUZ 27  ·  PAGES 531-534</a:t>
            </a:r>
          </a:p>
          <a:p>
            <a:pPr algn="l"/>
            <a:r>
              <a:rPr sz="750" b="0" i="0" spc="110">
                <a:solidFill>
                  <a:srgbClr val="D4AF5E"/>
                </a:solidFill>
                <a:latin typeface="Jost"/>
              </a:rPr>
              <a:t>VERSE 55:78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6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66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FOLIO 66 / 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11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0" i="0">
                <a:solidFill>
                  <a:srgbClr val="F4EFE3"/>
                </a:solidFill>
                <a:latin typeface="Playfair Display"/>
              </a:rPr>
              <a:t>The Recurring Question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1">
                <a:solidFill>
                  <a:srgbClr val="D4AF5E"/>
                </a:solidFill>
                <a:latin typeface="Georgia"/>
              </a:rPr>
              <a:t>"Then which of the favours of your Lord will ye deny?"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20440"/>
            <a:ext cx="37947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3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فَبِأَىِّ ءَالَآءِ رَبِّكُمَا تُكَذِّبَانِ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10">
                <a:solidFill>
                  <a:srgbClr val="9AA79B"/>
                </a:solidFill>
                <a:latin typeface="Jost"/>
              </a:rPr>
              <a:t>THE RECURRENT REFRAIN OF THE SURAH</a:t>
            </a:r>
          </a:p>
          <a:p>
            <a:pPr algn="l"/>
            <a:r>
              <a:rPr sz="750" b="0" i="0" spc="110">
                <a:solidFill>
                  <a:srgbClr val="D4AF5E"/>
                </a:solidFill>
                <a:latin typeface="Jost"/>
              </a:rPr>
              <a:t>VERSE NUMBER - PENDING VERIFICATION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6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67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FOLIO 67 / 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11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0" i="0">
                <a:solidFill>
                  <a:srgbClr val="F4EFE3"/>
                </a:solidFill>
                <a:latin typeface="Playfair Display"/>
              </a:rPr>
              <a:t>The Recurring Question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1">
                <a:solidFill>
                  <a:srgbClr val="D4AF5E"/>
                </a:solidFill>
                <a:latin typeface="Georgia"/>
              </a:rPr>
              <a:t>"Then which of the favours of your Lord will ye deny?"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20440"/>
            <a:ext cx="37947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3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فَبِأَىِّ ءَالَآءِ رَبِّكُمَا تُكَذِّبَانِ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10">
                <a:solidFill>
                  <a:srgbClr val="9AA79B"/>
                </a:solidFill>
                <a:latin typeface="Jost"/>
              </a:rPr>
              <a:t>THE RECURRENT REFRAIN OF THE SURAH</a:t>
            </a:r>
          </a:p>
          <a:p>
            <a:pPr algn="l"/>
            <a:r>
              <a:rPr sz="750" b="0" i="0" spc="110">
                <a:solidFill>
                  <a:srgbClr val="D4AF5E"/>
                </a:solidFill>
                <a:latin typeface="Jost"/>
              </a:rPr>
              <a:t>VERSE NUMBER - PENDING VERIFICATION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6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68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FOLIO 68 / 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11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0" i="0">
                <a:solidFill>
                  <a:srgbClr val="F4EFE3"/>
                </a:solidFill>
                <a:latin typeface="Playfair Display"/>
              </a:rPr>
              <a:t>The Recurring Question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1">
                <a:solidFill>
                  <a:srgbClr val="D4AF5E"/>
                </a:solidFill>
                <a:latin typeface="Georgia"/>
              </a:rPr>
              <a:t>"Then which of the favours of your Lord will ye deny?"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20440"/>
            <a:ext cx="37947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3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فَبِأَىِّ ءَالَآءِ رَبِّكُمَا تُكَذِّبَانِ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10">
                <a:solidFill>
                  <a:srgbClr val="9AA79B"/>
                </a:solidFill>
                <a:latin typeface="Jost"/>
              </a:rPr>
              <a:t>THE RECURRENT REFRAIN OF THE SURAH</a:t>
            </a:r>
          </a:p>
          <a:p>
            <a:pPr algn="l"/>
            <a:r>
              <a:rPr sz="750" b="0" i="0" spc="110">
                <a:solidFill>
                  <a:srgbClr val="D4AF5E"/>
                </a:solidFill>
                <a:latin typeface="Jost"/>
              </a:rPr>
              <a:t>VERSE NUMBER - PENDING VERIFICATION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6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69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FOLIO 69 / 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11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0" i="0">
                <a:solidFill>
                  <a:srgbClr val="F4EFE3"/>
                </a:solidFill>
                <a:latin typeface="Playfair Display"/>
              </a:rPr>
              <a:t>The Recurring Question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1">
                <a:solidFill>
                  <a:srgbClr val="D4AF5E"/>
                </a:solidFill>
                <a:latin typeface="Georgia"/>
              </a:rPr>
              <a:t>"Then which of the favours of your Lord will ye deny?"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20440"/>
            <a:ext cx="37947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3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فَبِأَىِّ ءَالَآءِ رَبِّكُمَا تُكَذِّبَانِ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10">
                <a:solidFill>
                  <a:srgbClr val="9AA79B"/>
                </a:solidFill>
                <a:latin typeface="Jost"/>
              </a:rPr>
              <a:t>THE RECURRENT REFRAIN OF THE SURAH</a:t>
            </a:r>
          </a:p>
          <a:p>
            <a:pPr algn="l"/>
            <a:r>
              <a:rPr sz="750" b="0" i="0" spc="110">
                <a:solidFill>
                  <a:srgbClr val="D4AF5E"/>
                </a:solidFill>
                <a:latin typeface="Jost"/>
              </a:rPr>
              <a:t>VERSE NUMBER - PENDING VERIFICATION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6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70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FOLIO 70 / 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11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0" i="0">
                <a:solidFill>
                  <a:srgbClr val="F4EFE3"/>
                </a:solidFill>
                <a:latin typeface="Playfair Display"/>
              </a:rPr>
              <a:t>Two Springs, Continuous Abundance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1">
                <a:solidFill>
                  <a:srgbClr val="D4AF5E"/>
                </a:solidFill>
                <a:latin typeface="Georgia"/>
              </a:rPr>
              <a:t>"In them (each) will be two Springs pouring forth water in continuous abundance."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20440"/>
            <a:ext cx="37947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5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فِيهِمَا عَيْنَانِ نَضَّاخَتَانِ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10">
                <a:solidFill>
                  <a:srgbClr val="9AA79B"/>
                </a:solidFill>
                <a:latin typeface="Jost"/>
              </a:rPr>
              <a:t>SURAH AR-RAHMAN (55)  ·  MEDINAN  ·  JUZ 27  ·  PAGES 531-534</a:t>
            </a:r>
          </a:p>
          <a:p>
            <a:pPr algn="l"/>
            <a:r>
              <a:rPr sz="750" b="0" i="0" spc="110">
                <a:solidFill>
                  <a:srgbClr val="D4AF5E"/>
                </a:solidFill>
                <a:latin typeface="Jost"/>
              </a:rPr>
              <a:t>VERSE 55:66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7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71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FOLIO 71 / 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11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0" i="0">
                <a:solidFill>
                  <a:srgbClr val="F4EFE3"/>
                </a:solidFill>
                <a:latin typeface="Playfair Display"/>
              </a:rPr>
              <a:t>Whom None Has Touched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1">
                <a:solidFill>
                  <a:srgbClr val="D4AF5E"/>
                </a:solidFill>
                <a:latin typeface="Georgia"/>
              </a:rPr>
              <a:t>"Whom no man or Jinn before them has touched."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20440"/>
            <a:ext cx="37947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3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لَمْ يَطْمِثْهُنَّ إِنسٌۭ قَبْلَهُمْ وَلَا جَآنٌّۭ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10">
                <a:solidFill>
                  <a:srgbClr val="9AA79B"/>
                </a:solidFill>
                <a:latin typeface="Jost"/>
              </a:rPr>
              <a:t>SURAH AR-RAHMAN (55)  ·  MEDINAN  ·  JUZ 27  ·  PAGES 531-534</a:t>
            </a:r>
          </a:p>
          <a:p>
            <a:pPr algn="l"/>
            <a:r>
              <a:rPr sz="750" b="0" i="0" spc="110">
                <a:solidFill>
                  <a:srgbClr val="D4AF5E"/>
                </a:solidFill>
                <a:latin typeface="Jost"/>
              </a:rPr>
              <a:t>VERSE 55:74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7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5840" y="1874519"/>
            <a:ext cx="25603" cy="2514600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93852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 spc="300">
                <a:solidFill>
                  <a:srgbClr val="D4AF5E"/>
                </a:solidFill>
                <a:latin typeface="Jost"/>
              </a:rPr>
              <a:t>PART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53312" y="2286000"/>
            <a:ext cx="98755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000" b="0" i="0">
                <a:solidFill>
                  <a:srgbClr val="F4EFE3"/>
                </a:solidFill>
                <a:latin typeface="Playfair Display"/>
              </a:rPr>
              <a:t>Acquisition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703320"/>
            <a:ext cx="8686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9AA79B"/>
                </a:solidFill>
                <a:latin typeface="Georgia"/>
              </a:rPr>
              <a:t>The investment case, the options, and how to begin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ACQUISITION  ·  IV.1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0" i="0">
                <a:solidFill>
                  <a:srgbClr val="241B12"/>
                </a:solidFill>
                <a:latin typeface="Playfair Display"/>
              </a:rPr>
              <a:t>The Investment Value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691640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74519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241B12"/>
                </a:solidFill>
                <a:latin typeface="Georgia"/>
              </a:rPr>
              <a:t>Why a national institution acquires this cycle now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651760"/>
            <a:ext cx="2697480" cy="3017520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2651760"/>
            <a:ext cx="2697480" cy="54864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880360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180">
                <a:solidFill>
                  <a:srgbClr val="D4AF5E"/>
                </a:solidFill>
                <a:latin typeface="Jost"/>
              </a:rPr>
              <a:t>UNREPEATABLE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46120"/>
            <a:ext cx="22860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 i="0">
                <a:solidFill>
                  <a:srgbClr val="9AA79B"/>
                </a:solidFill>
                <a:latin typeface="Georgia"/>
              </a:rPr>
              <a:t>Handmade originals, one artist, one campaign. The cycle cannot be re-run; what is acquired is the only complete set.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2651760"/>
            <a:ext cx="2697480" cy="3017520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7560" y="2651760"/>
            <a:ext cx="2697480" cy="54864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2880360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180">
                <a:solidFill>
                  <a:srgbClr val="D4AF5E"/>
                </a:solidFill>
                <a:latin typeface="Jost"/>
              </a:rPr>
              <a:t>COMPLETE CYCLE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3246120"/>
            <a:ext cx="22860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 i="0">
                <a:solidFill>
                  <a:srgbClr val="9AA79B"/>
                </a:solidFill>
                <a:latin typeface="Georgia"/>
              </a:rPr>
              <a:t>A full surah in one wall-length composition - the institutional form. Single-folio collectors buy into it; museums own it whole.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2651760"/>
            <a:ext cx="2697480" cy="3017520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2651760"/>
            <a:ext cx="2697480" cy="54864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880360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180">
                <a:solidFill>
                  <a:srgbClr val="D4AF5E"/>
                </a:solidFill>
                <a:latin typeface="Jost"/>
              </a:rPr>
              <a:t>ARCHIVAL RECORD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246120"/>
            <a:ext cx="22860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 i="0">
                <a:solidFill>
                  <a:srgbClr val="9AA79B"/>
                </a:solidFill>
                <a:latin typeface="Georgia"/>
              </a:rPr>
              <a:t>4K masters, 1.5x print sets, codex-verified verse record and catalogue numbering make it a permanent acquisition, not a loan dependency.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06840" y="2651760"/>
            <a:ext cx="2697480" cy="3017520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06840" y="2651760"/>
            <a:ext cx="2697480" cy="54864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0" y="2880360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180">
                <a:solidFill>
                  <a:srgbClr val="D4AF5E"/>
                </a:solidFill>
                <a:latin typeface="Jost"/>
              </a:rPr>
              <a:t>DOUBLE AUDIENCE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3246120"/>
            <a:ext cx="22860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 i="0">
                <a:solidFill>
                  <a:srgbClr val="9AA79B"/>
                </a:solidFill>
                <a:latin typeface="Georgia"/>
              </a:rPr>
              <a:t>A devotional theme with a public face: visitors who recite the surah and visitors who don't. The room speaks to both at once.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ACQUISITION  ·  IV.2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0" i="0">
                <a:solidFill>
                  <a:srgbClr val="241B12"/>
                </a:solidFill>
                <a:latin typeface="Playfair Display"/>
              </a:rPr>
              <a:t>Acquisition Options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691640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965960"/>
            <a:ext cx="3657600" cy="3977639"/>
          </a:xfrm>
          <a:prstGeom prst="rect">
            <a:avLst/>
          </a:prstGeom>
          <a:solidFill>
            <a:srgbClr val="F4EFE3"/>
          </a:solidFill>
          <a:ln w="12700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19456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 spc="160">
                <a:solidFill>
                  <a:srgbClr val="B98A2E"/>
                </a:solidFill>
                <a:latin typeface="Jost"/>
              </a:rPr>
              <a:t>THE COMPLETE COLLECTION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560320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241B12"/>
                </a:solidFill>
                <a:latin typeface="Playfair Display"/>
              </a:rPr>
              <a:t>71 folios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291840"/>
            <a:ext cx="31546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1E1A14"/>
                </a:solidFill>
                <a:latin typeface="Georgia"/>
              </a:rPr>
              <a:t>The full cycle for a national home. Preferred option for museum acquisition - one wall, one reading, one collection.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074920"/>
            <a:ext cx="3108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800" b="0" i="0" spc="120">
                <a:solidFill>
                  <a:srgbClr val="6F6A5C"/>
                </a:solidFill>
                <a:latin typeface="Jost"/>
              </a:rPr>
              <a:t>Institutional tier - on application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61688" y="1965960"/>
            <a:ext cx="3657600" cy="3977639"/>
          </a:xfrm>
          <a:prstGeom prst="rect">
            <a:avLst/>
          </a:prstGeom>
          <a:solidFill>
            <a:srgbClr val="F4EFE3"/>
          </a:solidFill>
          <a:ln w="12700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7" y="219456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 spc="160">
                <a:solidFill>
                  <a:srgbClr val="B98A2E"/>
                </a:solidFill>
                <a:latin typeface="Jost"/>
              </a:rPr>
              <a:t>CHAPTER SETS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7" y="2560320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241B12"/>
                </a:solidFill>
                <a:latin typeface="Playfair Display"/>
              </a:rPr>
              <a:t>10 sets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3291840"/>
            <a:ext cx="31546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1E1A14"/>
                </a:solidFill>
                <a:latin typeface="Georgia"/>
              </a:rPr>
              <a:t>The ten movements as curatorial sets, 5-15 folios each. For wings, galleries and touring loans.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7" y="5074920"/>
            <a:ext cx="3108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800" b="0" i="0" spc="120">
                <a:solidFill>
                  <a:srgbClr val="6F6A5C"/>
                </a:solidFill>
                <a:latin typeface="Jost"/>
              </a:rPr>
              <a:t>Curatorial tier - PKR 3,000,000 - 6,000,000 per set (indicative)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0455" y="1965960"/>
            <a:ext cx="3657600" cy="3977639"/>
          </a:xfrm>
          <a:prstGeom prst="rect">
            <a:avLst/>
          </a:prstGeom>
          <a:solidFill>
            <a:srgbClr val="F4EFE3"/>
          </a:solidFill>
          <a:ln w="12700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94776" y="219456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 spc="160">
                <a:solidFill>
                  <a:srgbClr val="B98A2E"/>
                </a:solidFill>
                <a:latin typeface="Jost"/>
              </a:rPr>
              <a:t>SINGLE FOLIOS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94776" y="2560320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241B12"/>
                </a:solidFill>
                <a:latin typeface="Playfair Display"/>
              </a:rPr>
              <a:t>71 works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94776" y="3291840"/>
            <a:ext cx="31546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1E1A14"/>
                </a:solidFill>
                <a:latin typeface="Georgia"/>
              </a:rPr>
              <a:t>Any single verse, one framed original. Collectors favour the refrain panels and the closing blessing (F65).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94776" y="5074920"/>
            <a:ext cx="3108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800" b="0" i="0" spc="120">
                <a:solidFill>
                  <a:srgbClr val="6F6A5C"/>
                </a:solidFill>
                <a:latin typeface="Jost"/>
              </a:rPr>
              <a:t>Collector tier - PKR 400,000 - 800,000 per folio (indicative)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05332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6F6A5C"/>
                </a:solidFill>
                <a:latin typeface="Georgia"/>
              </a:rPr>
              <a:t>Indicative ranges for planning - confirmed by the gallery on application. Provenance record and per-folio condition reports included at every tier.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ACQUISITION  ·  IV.3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0" i="0">
                <a:solidFill>
                  <a:srgbClr val="241B12"/>
                </a:solidFill>
                <a:latin typeface="Playfair Display"/>
              </a:rPr>
              <a:t>Acquisition &amp; Inquiries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691640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920240"/>
            <a:ext cx="576072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 spc="200">
                <a:solidFill>
                  <a:srgbClr val="B98A2E"/>
                </a:solidFill>
                <a:latin typeface="Jost"/>
              </a:rPr>
              <a:t>How to begin</a:t>
            </a:r>
          </a:p>
          <a:p>
            <a:pPr algn="l">
              <a:lnSpc>
                <a:spcPct val="155000"/>
              </a:lnSpc>
              <a:spcAft>
                <a:spcPts val="600"/>
              </a:spcAft>
            </a:pPr>
            <a:r>
              <a:rPr sz="1150" b="0" i="0">
                <a:solidFill>
                  <a:srgbClr val="1E1A14"/>
                </a:solidFill>
                <a:latin typeface="Georgia"/>
              </a:rPr>
              <a:t>1.  Private viewing - any folio or the complete wall in the Lahore studio</a:t>
            </a:r>
          </a:p>
          <a:p>
            <a:pPr algn="l">
              <a:lnSpc>
                <a:spcPct val="155000"/>
              </a:lnSpc>
              <a:spcAft>
                <a:spcPts val="600"/>
              </a:spcAft>
            </a:pPr>
            <a:r>
              <a:rPr sz="1150" b="0" i="0">
                <a:solidFill>
                  <a:srgbClr val="1E1A14"/>
                </a:solidFill>
                <a:latin typeface="Georgia"/>
              </a:rPr>
              <a:t>2.  Application - tier, installation intent, and timeline for the collection</a:t>
            </a:r>
          </a:p>
          <a:p>
            <a:pPr algn="l">
              <a:lnSpc>
                <a:spcPct val="155000"/>
              </a:lnSpc>
              <a:spcAft>
                <a:spcPts val="1200"/>
              </a:spcAft>
            </a:pPr>
            <a:r>
              <a:rPr sz="1150" b="0" i="0">
                <a:solidFill>
                  <a:srgbClr val="1E1A14"/>
                </a:solidFill>
                <a:latin typeface="Georgia"/>
              </a:rPr>
              <a:t>3.  Record - catalogue numbers, condition reports, 4K/1.5x masters and the verified verse record are prepared for the acquiring institution</a:t>
            </a:r>
          </a:p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241B12"/>
                </a:solidFill>
                <a:latin typeface="Georgia"/>
              </a:rPr>
              <a:t>Biya Gallery · Art &amp; Craft · Lahore</a:t>
            </a:r>
          </a:p>
          <a:p>
            <a:pPr algn="l">
              <a:lnSpc>
                <a:spcPct val="140000"/>
              </a:lnSpc>
            </a:pPr>
            <a:r>
              <a:rPr sz="1050" b="0" i="1">
                <a:solidFill>
                  <a:srgbClr val="6F6A5C"/>
                </a:solidFill>
                <a:latin typeface="Georgia"/>
              </a:rPr>
              <a:t>Inquiries through the gallery - original art, Thread Art, poetry and craft</a:t>
            </a:r>
          </a:p>
        </p:txBody>
      </p:sp>
      <p:sp>
        <p:nvSpPr>
          <p:cNvPr id="6" name="Rectangle 5"/>
          <p:cNvSpPr/>
          <p:nvPr/>
        </p:nvSpPr>
        <p:spPr>
          <a:xfrm>
            <a:off x="6720840" y="1920240"/>
            <a:ext cx="4937760" cy="4114800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0" y="2057400"/>
            <a:ext cx="4663440" cy="3840480"/>
          </a:xfrm>
          <a:prstGeom prst="rect">
            <a:avLst/>
          </a:prstGeom>
          <a:noFill/>
          <a:ln w="10160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86600" y="2377440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i="0" spc="250">
                <a:solidFill>
                  <a:srgbClr val="D4AF5E"/>
                </a:solidFill>
                <a:latin typeface="Jost"/>
              </a:rPr>
              <a:t>THE ASK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2834640"/>
            <a:ext cx="43434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1000"/>
              </a:spcAft>
            </a:pPr>
            <a:r>
              <a:rPr sz="1800" b="0" i="0">
                <a:solidFill>
                  <a:srgbClr val="F4EFE3"/>
                </a:solidFill>
                <a:latin typeface="Playfair Display"/>
              </a:rPr>
              <a:t>A national home for 71 originals.</a:t>
            </a:r>
          </a:p>
          <a:p>
            <a:pPr algn="ctr">
              <a:lnSpc>
                <a:spcPct val="150000"/>
              </a:lnSpc>
            </a:pPr>
            <a:r>
              <a:rPr sz="1100" b="0" i="1">
                <a:solidFill>
                  <a:srgbClr val="9AA79B"/>
                </a:solidFill>
                <a:latin typeface="Georgia"/>
              </a:rPr>
              <a:t>Acquired in full, exhibited as one, toured from a permanent wall - the cycle keeps its unity wherever the story goes next.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noFill/>
          <a:ln w="12700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6289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800" b="0" i="0" lang="ar" rtl="1">
                <a:solidFill>
                  <a:srgbClr val="D4AF5E"/>
                </a:solidFill>
                <a:latin typeface="Simplified Arabic"/>
                <a:cs typeface="Simplified Arabic"/>
              </a:rPr>
              <a:t>فَبِأَىِّ ءَالَآءِ رَبِّكُمَا تُكَذِّبَانِ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51760"/>
            <a:ext cx="1036289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400" b="0" i="1">
                <a:solidFill>
                  <a:srgbClr val="F4EFE3"/>
                </a:solidFill>
                <a:latin typeface="Playfair Display"/>
              </a:rPr>
              <a:t>Then which of the favours of your Lord will ye deny?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03320"/>
            <a:ext cx="103628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 spc="220">
                <a:solidFill>
                  <a:srgbClr val="9AA79B"/>
                </a:solidFill>
                <a:latin typeface="Jost"/>
              </a:rPr>
              <a:t>SURAH AR-RAHMAN  55:13  ·  THE REFRAIN THAT CLOSES THE WALL</a:t>
            </a:r>
          </a:p>
        </p:txBody>
      </p:sp>
      <p:sp>
        <p:nvSpPr>
          <p:cNvPr id="7" name="Rectangle 6"/>
          <p:cNvSpPr/>
          <p:nvPr/>
        </p:nvSpPr>
        <p:spPr>
          <a:xfrm>
            <a:off x="5410047" y="4297680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617720"/>
            <a:ext cx="103628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 i="0">
                <a:solidFill>
                  <a:srgbClr val="F4EFE3"/>
                </a:solidFill>
                <a:latin typeface="Georgia"/>
              </a:rPr>
              <a:t>Biya Gallery  ·  Art &amp; Craft  ·  Lahore</a:t>
            </a:r>
          </a:p>
          <a:p>
            <a:pPr algn="ctr"/>
            <a:r>
              <a:rPr sz="1050" b="0" i="1">
                <a:solidFill>
                  <a:srgbClr val="9AA79B"/>
                </a:solidFill>
                <a:latin typeface="Georgia"/>
              </a:rPr>
              <a:t>Original art, Thread Art, poetry and craft - inquiries through the gallery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943600"/>
            <a:ext cx="103628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i="0" spc="250">
                <a:solidFill>
                  <a:srgbClr val="6F6A5C"/>
                </a:solidFill>
                <a:latin typeface="Jost"/>
              </a:rPr>
              <a:t>SEVENTY-ONE FOLIOS  ·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